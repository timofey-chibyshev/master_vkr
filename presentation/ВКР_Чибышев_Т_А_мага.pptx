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35"/>
  </p:notesMasterIdLst>
  <p:sldIdLst>
    <p:sldId id="584" r:id="rId2"/>
    <p:sldId id="634" r:id="rId3"/>
    <p:sldId id="630" r:id="rId4"/>
    <p:sldId id="654" r:id="rId5"/>
    <p:sldId id="663" r:id="rId6"/>
    <p:sldId id="655" r:id="rId7"/>
    <p:sldId id="631" r:id="rId8"/>
    <p:sldId id="652" r:id="rId9"/>
    <p:sldId id="639" r:id="rId10"/>
    <p:sldId id="638" r:id="rId11"/>
    <p:sldId id="657" r:id="rId12"/>
    <p:sldId id="633" r:id="rId13"/>
    <p:sldId id="635" r:id="rId14"/>
    <p:sldId id="667" r:id="rId15"/>
    <p:sldId id="666" r:id="rId16"/>
    <p:sldId id="658" r:id="rId17"/>
    <p:sldId id="659" r:id="rId18"/>
    <p:sldId id="640" r:id="rId19"/>
    <p:sldId id="641" r:id="rId20"/>
    <p:sldId id="662" r:id="rId21"/>
    <p:sldId id="645" r:id="rId22"/>
    <p:sldId id="646" r:id="rId23"/>
    <p:sldId id="647" r:id="rId24"/>
    <p:sldId id="649" r:id="rId25"/>
    <p:sldId id="664" r:id="rId26"/>
    <p:sldId id="650" r:id="rId27"/>
    <p:sldId id="651" r:id="rId28"/>
    <p:sldId id="660" r:id="rId29"/>
    <p:sldId id="661" r:id="rId30"/>
    <p:sldId id="644" r:id="rId31"/>
    <p:sldId id="648" r:id="rId32"/>
    <p:sldId id="665" r:id="rId33"/>
    <p:sldId id="636" r:id="rId3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пользователь Microsoft Office" initials="Office"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Светлый стиль 2 — акцент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80605" autoAdjust="0"/>
  </p:normalViewPr>
  <p:slideViewPr>
    <p:cSldViewPr>
      <p:cViewPr varScale="1">
        <p:scale>
          <a:sx n="63" d="100"/>
          <a:sy n="63" d="100"/>
        </p:scale>
        <p:origin x="1205" y="58"/>
      </p:cViewPr>
      <p:guideLst>
        <p:guide orient="horz" pos="2160"/>
        <p:guide pos="3840"/>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6DAAEE-BF51-48CE-A7DD-F2FDAD4FC420}" type="datetimeFigureOut">
              <a:rPr lang="ru-RU" smtClean="0"/>
              <a:pPr/>
              <a:t>08.06.2026</a:t>
            </a:fld>
            <a:endParaRPr lang="ru-RU"/>
          </a:p>
        </p:txBody>
      </p:sp>
      <p:sp>
        <p:nvSpPr>
          <p:cNvPr id="4" name="Образ слайда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6DAC94-F2BD-4D65-B7EB-B592A69BC432}" type="slidenum">
              <a:rPr lang="ru-RU" smtClean="0"/>
              <a:pPr/>
              <a:t>‹#›</a:t>
            </a:fld>
            <a:endParaRPr lang="ru-RU"/>
          </a:p>
        </p:txBody>
      </p:sp>
    </p:spTree>
    <p:extLst>
      <p:ext uri="{BB962C8B-B14F-4D97-AF65-F5344CB8AC3E}">
        <p14:creationId xmlns:p14="http://schemas.microsoft.com/office/powerpoint/2010/main" val="24094745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dirty="0">
                <a:effectLst/>
                <a:latin typeface="Calibri" panose="020F0502020204030204" pitchFamily="34" charset="0"/>
                <a:ea typeface="Calibri" panose="020F0502020204030204" pitchFamily="34" charset="0"/>
                <a:cs typeface="Times New Roman" panose="02020603050405020304" pitchFamily="18" charset="0"/>
              </a:rPr>
              <a:t>Здравствуйте, уважаемые члены государственной экзаменационной комиссии, слушатели, меня зовут Чибышев Тимофей, я рад представить вашему вниманию свою выпускную квалификационную работу на тему «</a:t>
            </a:r>
            <a:r>
              <a:rPr lang="ru-RU" sz="1800" b="1" dirty="0"/>
              <a:t>Разработка модели глубокого обучения для прогнозирования продуктивности сельскохозяйственных растений по генетическим маркерам</a:t>
            </a:r>
            <a:r>
              <a:rPr lang="ru-RU" sz="1800" dirty="0">
                <a:effectLst/>
                <a:latin typeface="Calibri" panose="020F0502020204030204" pitchFamily="34" charset="0"/>
                <a:ea typeface="Calibri" panose="020F0502020204030204" pitchFamily="34" charset="0"/>
                <a:cs typeface="Times New Roman" panose="02020603050405020304" pitchFamily="18" charset="0"/>
              </a:rPr>
              <a:t>»</a:t>
            </a:r>
            <a:endParaRPr lang="ru-RU" dirty="0"/>
          </a:p>
        </p:txBody>
      </p:sp>
      <p:sp>
        <p:nvSpPr>
          <p:cNvPr id="4" name="Номер слайда 3"/>
          <p:cNvSpPr>
            <a:spLocks noGrp="1"/>
          </p:cNvSpPr>
          <p:nvPr>
            <p:ph type="sldNum" sz="quarter" idx="5"/>
          </p:nvPr>
        </p:nvSpPr>
        <p:spPr/>
        <p:txBody>
          <a:bodyPr/>
          <a:lstStyle/>
          <a:p>
            <a:fld id="{D96DAC94-F2BD-4D65-B7EB-B592A69BC432}" type="slidenum">
              <a:rPr lang="ru-RU" smtClean="0"/>
              <a:pPr/>
              <a:t>1</a:t>
            </a:fld>
            <a:endParaRPr lang="ru-RU"/>
          </a:p>
        </p:txBody>
      </p:sp>
    </p:spTree>
    <p:extLst>
      <p:ext uri="{BB962C8B-B14F-4D97-AF65-F5344CB8AC3E}">
        <p14:creationId xmlns:p14="http://schemas.microsoft.com/office/powerpoint/2010/main" val="2016075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D96DAC94-F2BD-4D65-B7EB-B592A69BC432}" type="slidenum">
              <a:rPr lang="ru-RU" smtClean="0"/>
              <a:pPr/>
              <a:t>2</a:t>
            </a:fld>
            <a:endParaRPr lang="ru-RU"/>
          </a:p>
        </p:txBody>
      </p:sp>
    </p:spTree>
    <p:extLst>
      <p:ext uri="{BB962C8B-B14F-4D97-AF65-F5344CB8AC3E}">
        <p14:creationId xmlns:p14="http://schemas.microsoft.com/office/powerpoint/2010/main" val="1991349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1) Про другие подходы детальнее рассказать </a:t>
            </a:r>
          </a:p>
        </p:txBody>
      </p:sp>
      <p:sp>
        <p:nvSpPr>
          <p:cNvPr id="4" name="Номер слайда 3"/>
          <p:cNvSpPr>
            <a:spLocks noGrp="1"/>
          </p:cNvSpPr>
          <p:nvPr>
            <p:ph type="sldNum" sz="quarter" idx="5"/>
          </p:nvPr>
        </p:nvSpPr>
        <p:spPr/>
        <p:txBody>
          <a:bodyPr/>
          <a:lstStyle/>
          <a:p>
            <a:fld id="{D96DAC94-F2BD-4D65-B7EB-B592A69BC432}" type="slidenum">
              <a:rPr lang="ru-RU" smtClean="0"/>
              <a:pPr/>
              <a:t>3</a:t>
            </a:fld>
            <a:endParaRPr lang="ru-RU"/>
          </a:p>
        </p:txBody>
      </p:sp>
    </p:spTree>
    <p:extLst>
      <p:ext uri="{BB962C8B-B14F-4D97-AF65-F5344CB8AC3E}">
        <p14:creationId xmlns:p14="http://schemas.microsoft.com/office/powerpoint/2010/main" val="18261815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1" kern="1200" dirty="0">
                <a:solidFill>
                  <a:schemeClr val="tx1"/>
                </a:solidFill>
                <a:effectLst/>
                <a:latin typeface="+mn-lt"/>
                <a:ea typeface="+mn-ea"/>
                <a:cs typeface="+mn-cs"/>
              </a:rPr>
              <a:t>«Существующие методы можно разделить на три группы. Классические статистические подходы, такие как </a:t>
            </a:r>
            <a:r>
              <a:rPr lang="ru-RU" sz="1200" b="0" i="1" kern="1200" dirty="0" err="1">
                <a:solidFill>
                  <a:schemeClr val="tx1"/>
                </a:solidFill>
                <a:effectLst/>
                <a:latin typeface="+mn-lt"/>
                <a:ea typeface="+mn-ea"/>
                <a:cs typeface="+mn-cs"/>
              </a:rPr>
              <a:t>rrBLUP</a:t>
            </a:r>
            <a:r>
              <a:rPr lang="ru-RU" sz="1200" b="0" i="1" kern="1200" dirty="0">
                <a:solidFill>
                  <a:schemeClr val="tx1"/>
                </a:solidFill>
                <a:effectLst/>
                <a:latin typeface="+mn-lt"/>
                <a:ea typeface="+mn-ea"/>
                <a:cs typeface="+mn-cs"/>
              </a:rPr>
              <a:t> и GBLUP, хорошо работают, когда SNP больше образцов, но не улавливают сложные нелинейные взаимодействия между генами. Свёрточные сети выявляют локальные паттерны, но не всегда учитывают глобальные взаимосвязи. Трансформеры, благодаря механизму внимания, могут моделировать любые взаимодействия, но требуют адаптации к SNP-данным. Непосредственный предшественник — модель Реутова — использовал свёрточную агрегацию SNP по генам. Моя работа добавляет два ключевых улучшения: механизм внимания на уровне SNP и реконструкционную регуляризацию, что позволяет учитывать вклад отдельных SNP и стабилизировать обучение.»</a:t>
            </a:r>
            <a:endParaRPr lang="ru-RU" dirty="0"/>
          </a:p>
        </p:txBody>
      </p:sp>
      <p:sp>
        <p:nvSpPr>
          <p:cNvPr id="4" name="Номер слайда 3"/>
          <p:cNvSpPr>
            <a:spLocks noGrp="1"/>
          </p:cNvSpPr>
          <p:nvPr>
            <p:ph type="sldNum" sz="quarter" idx="5"/>
          </p:nvPr>
        </p:nvSpPr>
        <p:spPr/>
        <p:txBody>
          <a:bodyPr/>
          <a:lstStyle/>
          <a:p>
            <a:fld id="{D96DAC94-F2BD-4D65-B7EB-B592A69BC432}" type="slidenum">
              <a:rPr lang="ru-RU" smtClean="0"/>
              <a:pPr/>
              <a:t>4</a:t>
            </a:fld>
            <a:endParaRPr lang="ru-RU"/>
          </a:p>
        </p:txBody>
      </p:sp>
    </p:spTree>
    <p:extLst>
      <p:ext uri="{BB962C8B-B14F-4D97-AF65-F5344CB8AC3E}">
        <p14:creationId xmlns:p14="http://schemas.microsoft.com/office/powerpoint/2010/main" val="27326190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1" kern="1200" dirty="0">
                <a:solidFill>
                  <a:schemeClr val="tx1"/>
                </a:solidFill>
                <a:effectLst/>
                <a:latin typeface="+mn-lt"/>
                <a:ea typeface="+mn-ea"/>
                <a:cs typeface="+mn-cs"/>
              </a:rPr>
              <a:t>«Я использовал данные трёх культур с разной плотностью SNP на ген. У нута — 2 SNP на ген, у риса — всего 1.1, а у рапса — 21.3 SNP на ген. Это позволяет проверить, как модели ведут себя при разном объёме информации. Целевые признаки — масса семян, высота, время цветения и содержание масла — ключевые для селекции.» Чем выше плотность SNP на ген, тем больше информации для механизма внимания.</a:t>
            </a:r>
          </a:p>
          <a:p>
            <a:endParaRPr lang="ru-RU" sz="1200" b="0" i="1" kern="1200" dirty="0">
              <a:solidFill>
                <a:schemeClr val="tx1"/>
              </a:solidFill>
              <a:effectLst/>
              <a:latin typeface="+mn-lt"/>
              <a:ea typeface="+mn-ea"/>
              <a:cs typeface="+mn-cs"/>
            </a:endParaRPr>
          </a:p>
          <a:p>
            <a:r>
              <a:rPr lang="ru-RU" dirty="0"/>
              <a:t>Большинство признаков имеют пропуски на уровне 70–80\%, что связано с тем, что не для всех линий были проведены соответствующие биохимические анализы. Исключение составляет время цветения (\</a:t>
            </a:r>
            <a:r>
              <a:rPr lang="ru-RU" dirty="0" err="1"/>
              <a:t>texttt</a:t>
            </a:r>
            <a:r>
              <a:rPr lang="ru-RU" dirty="0"/>
              <a:t>{</a:t>
            </a:r>
            <a:r>
              <a:rPr lang="ru-RU" dirty="0" err="1"/>
              <a:t>FloweringTime</a:t>
            </a:r>
            <a:r>
              <a:rPr lang="ru-RU" dirty="0"/>
              <a:t>}), для которого пропуски составляют лишь 6.6\% (65 из 991 образца). Это делает данный признак наиболее пригодным для обучения и послужило основанием для использования его в качестве основной целевой переменной.</a:t>
            </a:r>
          </a:p>
          <a:p>
            <a:endParaRPr lang="ru-RU" dirty="0"/>
          </a:p>
          <a:p>
            <a:r>
              <a:rPr lang="ru-RU" sz="1200" b="0" i="0" kern="1200" dirty="0">
                <a:solidFill>
                  <a:schemeClr val="tx1"/>
                </a:solidFill>
                <a:effectLst/>
                <a:latin typeface="+mn-lt"/>
                <a:ea typeface="+mn-ea"/>
                <a:cs typeface="+mn-cs"/>
              </a:rPr>
              <a:t>Для каждой культуры я выбрал 2–3 признака, важных с точки зрения селекции. Для нута это масса тысячи семян — прямой показатель урожайности, и высота растения, связанная с устойчивостью к полеганию. Для риса взял аналогичные признаки для кросс-культурного сравнения. Для рапса — время цветения, потому что у этого признака всего 6.6% пропусков, и содержание масла — ключевой показатель качества семян.</a:t>
            </a:r>
          </a:p>
          <a:p>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«Исходные данные состоят из трёх компонентов. Первый — это SNP-файл, где для каждого растения указана последовательность замен. Например, два растения могут отличаться в одной позиции: у одного C, у другого T. Мы кодируем это числом 0, 1 или 2 в зависимости от того, сколько редких аллелей у растения. Второй компонент — файл с фенотипами: масса семян, высота, время цветения. Третий и самый важный — это аннотация, которая связывает каждый SNP с конкретным геном. Без аннотации SNP — это просто набор чисел, и мы не можем интерпретировать результаты на биологическом уровне. Аннотация позволяет группировать SNP в гены, сокращая размерность с миллионов до десятков тысяч, и потом анализировать, какие гены важны.»</a:t>
            </a:r>
            <a:endParaRPr lang="ru-RU" dirty="0"/>
          </a:p>
        </p:txBody>
      </p:sp>
      <p:sp>
        <p:nvSpPr>
          <p:cNvPr id="4" name="Номер слайда 3"/>
          <p:cNvSpPr>
            <a:spLocks noGrp="1"/>
          </p:cNvSpPr>
          <p:nvPr>
            <p:ph type="sldNum" sz="quarter" idx="5"/>
          </p:nvPr>
        </p:nvSpPr>
        <p:spPr/>
        <p:txBody>
          <a:bodyPr/>
          <a:lstStyle/>
          <a:p>
            <a:fld id="{D96DAC94-F2BD-4D65-B7EB-B592A69BC432}" type="slidenum">
              <a:rPr lang="ru-RU" smtClean="0"/>
              <a:pPr/>
              <a:t>6</a:t>
            </a:fld>
            <a:endParaRPr lang="ru-RU"/>
          </a:p>
        </p:txBody>
      </p:sp>
    </p:spTree>
    <p:extLst>
      <p:ext uri="{BB962C8B-B14F-4D97-AF65-F5344CB8AC3E}">
        <p14:creationId xmlns:p14="http://schemas.microsoft.com/office/powerpoint/2010/main" val="2525104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D96DAC94-F2BD-4D65-B7EB-B592A69BC432}" type="slidenum">
              <a:rPr lang="ru-RU" smtClean="0"/>
              <a:pPr/>
              <a:t>8</a:t>
            </a:fld>
            <a:endParaRPr lang="ru-RU"/>
          </a:p>
        </p:txBody>
      </p:sp>
    </p:spTree>
    <p:extLst>
      <p:ext uri="{BB962C8B-B14F-4D97-AF65-F5344CB8AC3E}">
        <p14:creationId xmlns:p14="http://schemas.microsoft.com/office/powerpoint/2010/main" val="32701676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D96DAC94-F2BD-4D65-B7EB-B592A69BC432}" type="slidenum">
              <a:rPr lang="ru-RU" smtClean="0"/>
              <a:pPr/>
              <a:t>11</a:t>
            </a:fld>
            <a:endParaRPr lang="ru-RU"/>
          </a:p>
        </p:txBody>
      </p:sp>
    </p:spTree>
    <p:extLst>
      <p:ext uri="{BB962C8B-B14F-4D97-AF65-F5344CB8AC3E}">
        <p14:creationId xmlns:p14="http://schemas.microsoft.com/office/powerpoint/2010/main" val="19542540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1" kern="1200" dirty="0">
                <a:solidFill>
                  <a:schemeClr val="tx1"/>
                </a:solidFill>
                <a:effectLst/>
                <a:latin typeface="+mn-lt"/>
                <a:ea typeface="+mn-ea"/>
                <a:cs typeface="+mn-cs"/>
              </a:rPr>
              <a:t>Блок реконструкции работает только на обучении. На вход он получает матрицу </a:t>
            </a:r>
            <a:r>
              <a:rPr lang="ru-RU" sz="1200" b="0" i="1" kern="1200" dirty="0" err="1">
                <a:solidFill>
                  <a:schemeClr val="tx1"/>
                </a:solidFill>
                <a:effectLst/>
                <a:latin typeface="+mn-lt"/>
                <a:ea typeface="+mn-ea"/>
                <a:cs typeface="+mn-cs"/>
              </a:rPr>
              <a:t>эмбеддингов</a:t>
            </a:r>
            <a:r>
              <a:rPr lang="ru-RU" sz="1200" b="0" i="1" kern="1200" dirty="0">
                <a:solidFill>
                  <a:schemeClr val="tx1"/>
                </a:solidFill>
                <a:effectLst/>
                <a:latin typeface="+mn-lt"/>
                <a:ea typeface="+mn-ea"/>
                <a:cs typeface="+mn-cs"/>
              </a:rPr>
              <a:t> генов после трансформера — размером 8 на 3000 на 48. </a:t>
            </a:r>
            <a:r>
              <a:rPr lang="ru-RU" sz="1200" b="0" i="1" kern="1200" dirty="0" err="1">
                <a:solidFill>
                  <a:schemeClr val="tx1"/>
                </a:solidFill>
                <a:effectLst/>
                <a:latin typeface="+mn-lt"/>
                <a:ea typeface="+mn-ea"/>
                <a:cs typeface="+mn-cs"/>
              </a:rPr>
              <a:t>Flatten</a:t>
            </a:r>
            <a:r>
              <a:rPr lang="ru-RU" sz="1200" b="0" i="1" kern="1200" dirty="0">
                <a:solidFill>
                  <a:schemeClr val="tx1"/>
                </a:solidFill>
                <a:effectLst/>
                <a:latin typeface="+mn-lt"/>
                <a:ea typeface="+mn-ea"/>
                <a:cs typeface="+mn-cs"/>
              </a:rPr>
              <a:t> разворачивает её в вектор длины 144 000. Первый линейный слой сжимает его до 512 нейронов. </a:t>
            </a:r>
            <a:r>
              <a:rPr lang="ru-RU" sz="1200" b="0" i="1" kern="1200" dirty="0" err="1">
                <a:solidFill>
                  <a:schemeClr val="tx1"/>
                </a:solidFill>
                <a:effectLst/>
                <a:latin typeface="+mn-lt"/>
                <a:ea typeface="+mn-ea"/>
                <a:cs typeface="+mn-cs"/>
              </a:rPr>
              <a:t>ReLU</a:t>
            </a:r>
            <a:r>
              <a:rPr lang="ru-RU" sz="1200" b="0" i="1" kern="1200" dirty="0">
                <a:solidFill>
                  <a:schemeClr val="tx1"/>
                </a:solidFill>
                <a:effectLst/>
                <a:latin typeface="+mn-lt"/>
                <a:ea typeface="+mn-ea"/>
                <a:cs typeface="+mn-cs"/>
              </a:rPr>
              <a:t> добавляет нелинейность. Второй линейный слой восстанавливает вектор SNP — около 63 000 чисел для рапса. Затем мы считаем MSE между восстановленными и исходными SNP. Эта ошибка добавляется к основной функции потерь с убывающим коэффициентом, что стабилизирует обучение и помогает сохранять информацию в </a:t>
            </a:r>
            <a:r>
              <a:rPr lang="ru-RU" sz="1200" b="0" i="1" kern="1200" dirty="0" err="1">
                <a:solidFill>
                  <a:schemeClr val="tx1"/>
                </a:solidFill>
                <a:effectLst/>
                <a:latin typeface="+mn-lt"/>
                <a:ea typeface="+mn-ea"/>
                <a:cs typeface="+mn-cs"/>
              </a:rPr>
              <a:t>эмбеддингах</a:t>
            </a:r>
            <a:r>
              <a:rPr lang="ru-RU" sz="1200" b="0" i="1" kern="1200" dirty="0">
                <a:solidFill>
                  <a:schemeClr val="tx1"/>
                </a:solidFill>
                <a:effectLst/>
                <a:latin typeface="+mn-lt"/>
                <a:ea typeface="+mn-ea"/>
                <a:cs typeface="+mn-cs"/>
              </a:rPr>
              <a:t>.</a:t>
            </a:r>
            <a:endParaRPr lang="ru-RU" dirty="0"/>
          </a:p>
        </p:txBody>
      </p:sp>
      <p:sp>
        <p:nvSpPr>
          <p:cNvPr id="4" name="Номер слайда 3"/>
          <p:cNvSpPr>
            <a:spLocks noGrp="1"/>
          </p:cNvSpPr>
          <p:nvPr>
            <p:ph type="sldNum" sz="quarter" idx="5"/>
          </p:nvPr>
        </p:nvSpPr>
        <p:spPr/>
        <p:txBody>
          <a:bodyPr/>
          <a:lstStyle/>
          <a:p>
            <a:fld id="{D96DAC94-F2BD-4D65-B7EB-B592A69BC432}" type="slidenum">
              <a:rPr lang="ru-RU" smtClean="0"/>
              <a:pPr/>
              <a:t>14</a:t>
            </a:fld>
            <a:endParaRPr lang="ru-RU"/>
          </a:p>
        </p:txBody>
      </p:sp>
    </p:spTree>
    <p:extLst>
      <p:ext uri="{BB962C8B-B14F-4D97-AF65-F5344CB8AC3E}">
        <p14:creationId xmlns:p14="http://schemas.microsoft.com/office/powerpoint/2010/main" val="37042371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1" kern="1200" dirty="0">
                <a:solidFill>
                  <a:schemeClr val="tx1"/>
                </a:solidFill>
                <a:effectLst/>
                <a:latin typeface="+mn-lt"/>
                <a:ea typeface="+mn-ea"/>
                <a:cs typeface="+mn-cs"/>
              </a:rPr>
              <a:t>«Я провёл серию экспериментов. Ключевые — три. В базовом эксперименте со свёрточной агрегацией получил корреляцию 0.91 и 0.78. В эксперименте Е я оптимизировал </a:t>
            </a:r>
            <a:r>
              <a:rPr lang="ru-RU" sz="1200" b="0" i="1" kern="1200" dirty="0" err="1">
                <a:solidFill>
                  <a:schemeClr val="tx1"/>
                </a:solidFill>
                <a:effectLst/>
                <a:latin typeface="+mn-lt"/>
                <a:ea typeface="+mn-ea"/>
                <a:cs typeface="+mn-cs"/>
              </a:rPr>
              <a:t>гиперпараметры</a:t>
            </a:r>
            <a:r>
              <a:rPr lang="ru-RU" sz="1200" b="0" i="1" kern="1200" dirty="0">
                <a:solidFill>
                  <a:schemeClr val="tx1"/>
                </a:solidFill>
                <a:effectLst/>
                <a:latin typeface="+mn-lt"/>
                <a:ea typeface="+mn-ea"/>
                <a:cs typeface="+mn-cs"/>
              </a:rPr>
              <a:t>: заменил MSE на SmoothL1Loss, добавил аугментацию </a:t>
            </a:r>
            <a:r>
              <a:rPr lang="ru-RU" sz="1200" b="0" i="1" kern="1200" dirty="0" err="1">
                <a:solidFill>
                  <a:schemeClr val="tx1"/>
                </a:solidFill>
                <a:effectLst/>
                <a:latin typeface="+mn-lt"/>
                <a:ea typeface="+mn-ea"/>
                <a:cs typeface="+mn-cs"/>
              </a:rPr>
              <a:t>MixUp</a:t>
            </a:r>
            <a:r>
              <a:rPr lang="ru-RU" sz="1200" b="0" i="1" kern="1200" dirty="0">
                <a:solidFill>
                  <a:schemeClr val="tx1"/>
                </a:solidFill>
                <a:effectLst/>
                <a:latin typeface="+mn-lt"/>
                <a:ea typeface="+mn-ea"/>
                <a:cs typeface="+mn-cs"/>
              </a:rPr>
              <a:t> и планировщик скорости. Корреляция выросла до 0.91 и 0.79, но обучение стало нестабильным — видны резкие колебания на графике потерь. В эксперименте D я добавил механизм внимания на уровне SNP, </a:t>
            </a:r>
            <a:r>
              <a:rPr lang="ru-RU" sz="1200" b="0" i="1" kern="1200" dirty="0" err="1">
                <a:solidFill>
                  <a:schemeClr val="tx1"/>
                </a:solidFill>
                <a:effectLst/>
                <a:latin typeface="+mn-lt"/>
                <a:ea typeface="+mn-ea"/>
                <a:cs typeface="+mn-cs"/>
              </a:rPr>
              <a:t>LayerNorm</a:t>
            </a:r>
            <a:r>
              <a:rPr lang="ru-RU" sz="1200" b="0" i="1" kern="1200" dirty="0">
                <a:solidFill>
                  <a:schemeClr val="tx1"/>
                </a:solidFill>
                <a:effectLst/>
                <a:latin typeface="+mn-lt"/>
                <a:ea typeface="+mn-ea"/>
                <a:cs typeface="+mn-cs"/>
              </a:rPr>
              <a:t> и реконструкционную регуляризацию. Корреляция немного снизилась, но зато обучение стало плавным и стабильным. Именно эту архитектуру я выбрал для итоговой модели, потому что в селекции важна не только высокая корреляция, но и стабильность, и сохранение индивидуальных различий между образцами.»</a:t>
            </a:r>
            <a:endParaRPr lang="ru-RU" dirty="0"/>
          </a:p>
        </p:txBody>
      </p:sp>
      <p:sp>
        <p:nvSpPr>
          <p:cNvPr id="4" name="Номер слайда 3"/>
          <p:cNvSpPr>
            <a:spLocks noGrp="1"/>
          </p:cNvSpPr>
          <p:nvPr>
            <p:ph type="sldNum" sz="quarter" idx="5"/>
          </p:nvPr>
        </p:nvSpPr>
        <p:spPr/>
        <p:txBody>
          <a:bodyPr/>
          <a:lstStyle/>
          <a:p>
            <a:fld id="{D96DAC94-F2BD-4D65-B7EB-B592A69BC432}" type="slidenum">
              <a:rPr lang="ru-RU" smtClean="0"/>
              <a:pPr/>
              <a:t>16</a:t>
            </a:fld>
            <a:endParaRPr lang="ru-RU"/>
          </a:p>
        </p:txBody>
      </p:sp>
    </p:spTree>
    <p:extLst>
      <p:ext uri="{BB962C8B-B14F-4D97-AF65-F5344CB8AC3E}">
        <p14:creationId xmlns:p14="http://schemas.microsoft.com/office/powerpoint/2010/main" val="28235927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1" kern="1200" dirty="0">
                <a:solidFill>
                  <a:schemeClr val="tx1"/>
                </a:solidFill>
                <a:effectLst/>
                <a:latin typeface="+mn-lt"/>
                <a:ea typeface="+mn-ea"/>
                <a:cs typeface="+mn-cs"/>
              </a:rPr>
              <a:t>Сравним три архитектуры на данных нута. Базовая модель с усреднением SNP даёт корреляцию 0.91 для массы семян и 0.79 для высоты. При этом она сжимает дисперсию: сохраняет лишь 81% дисперсии по массе семян и 54% по высоте. Когда мы добавили механизм внимания на уровне SNP, корреляция практически не упала — 0.901 и 0.73, зато сохранение дисперсии выросло до на 7 процентов в среднем по каждому признаку. То есть модель с вниманием почти не потеряла в точности, но стала значительно лучше различать образцы. Добавление реконструкционной регуляризации добавило стабильности, но немного снизило корреляцию. Для селекции важно не просто среднее предсказание, а умение различать экстремальные значения — и здесь модифицированные модели имеют явное преимущество.»</a:t>
            </a:r>
            <a:br>
              <a:rPr lang="ru-RU" sz="1200" b="0" i="1" kern="1200" dirty="0">
                <a:solidFill>
                  <a:schemeClr val="tx1"/>
                </a:solidFill>
                <a:effectLst/>
                <a:latin typeface="+mn-lt"/>
                <a:ea typeface="+mn-ea"/>
                <a:cs typeface="+mn-cs"/>
              </a:rPr>
            </a:br>
            <a:br>
              <a:rPr lang="ru-RU" sz="1200" b="0" i="1" kern="1200" dirty="0">
                <a:solidFill>
                  <a:schemeClr val="tx1"/>
                </a:solidFill>
                <a:effectLst/>
                <a:latin typeface="+mn-lt"/>
                <a:ea typeface="+mn-ea"/>
                <a:cs typeface="+mn-cs"/>
              </a:rPr>
            </a:br>
            <a:r>
              <a:rPr lang="ru-RU" sz="1200" b="0" i="1" kern="1200" dirty="0">
                <a:solidFill>
                  <a:schemeClr val="tx1"/>
                </a:solidFill>
                <a:effectLst/>
                <a:latin typeface="+mn-lt"/>
                <a:ea typeface="+mn-ea"/>
                <a:cs typeface="+mn-cs"/>
              </a:rPr>
              <a:t>«Сравнение динамики обучения показывает два ключевых отличия. Первое — стабильность. У базовой модели тестовая ошибка резко колеблется, достигая пиков до 58, особенно на начальных эпохах. У модифицированной модели сходимость плавная и монотонная, без скачков.</a:t>
            </a:r>
            <a:endParaRPr lang="ru-RU" sz="1200" b="0" i="0" kern="1200" dirty="0">
              <a:solidFill>
                <a:schemeClr val="tx1"/>
              </a:solidFill>
              <a:effectLst/>
              <a:latin typeface="+mn-lt"/>
              <a:ea typeface="+mn-ea"/>
              <a:cs typeface="+mn-cs"/>
            </a:endParaRPr>
          </a:p>
          <a:p>
            <a:r>
              <a:rPr lang="ru-RU" sz="1200" b="0" i="1" kern="1200" dirty="0">
                <a:solidFill>
                  <a:schemeClr val="tx1"/>
                </a:solidFill>
                <a:effectLst/>
                <a:latin typeface="+mn-lt"/>
                <a:ea typeface="+mn-ea"/>
                <a:cs typeface="+mn-cs"/>
              </a:rPr>
              <a:t>Второе — качество. Лучшая тестовая ошибка модифицированной модели составила 9.93 против 11.14 у базовой. Это улучшение на 10.8%. При этом финальные значения после 100 эпох также ниже.</a:t>
            </a:r>
            <a:endParaRPr lang="ru-RU" sz="1200" b="0" i="0" kern="1200" dirty="0">
              <a:solidFill>
                <a:schemeClr val="tx1"/>
              </a:solidFill>
              <a:effectLst/>
              <a:latin typeface="+mn-lt"/>
              <a:ea typeface="+mn-ea"/>
              <a:cs typeface="+mn-cs"/>
            </a:endParaRPr>
          </a:p>
          <a:p>
            <a:r>
              <a:rPr lang="ru-RU" sz="1200" b="0" i="1" kern="1200" dirty="0">
                <a:solidFill>
                  <a:schemeClr val="tx1"/>
                </a:solidFill>
                <a:effectLst/>
                <a:latin typeface="+mn-lt"/>
                <a:ea typeface="+mn-ea"/>
                <a:cs typeface="+mn-cs"/>
              </a:rPr>
              <a:t>Таким образом, реконструкционная регуляризация не только стабилизировала обучение, но и позволила модели найти лучшее решение.»</a:t>
            </a:r>
            <a:endParaRPr lang="ru-RU" sz="1200" b="0" i="0" kern="1200" dirty="0">
              <a:solidFill>
                <a:schemeClr val="tx1"/>
              </a:solidFill>
              <a:effectLst/>
              <a:latin typeface="+mn-lt"/>
              <a:ea typeface="+mn-ea"/>
              <a:cs typeface="+mn-cs"/>
            </a:endParaRPr>
          </a:p>
          <a:p>
            <a:endParaRPr lang="ru-RU" dirty="0"/>
          </a:p>
        </p:txBody>
      </p:sp>
      <p:sp>
        <p:nvSpPr>
          <p:cNvPr id="4" name="Номер слайда 3"/>
          <p:cNvSpPr>
            <a:spLocks noGrp="1"/>
          </p:cNvSpPr>
          <p:nvPr>
            <p:ph type="sldNum" sz="quarter" idx="5"/>
          </p:nvPr>
        </p:nvSpPr>
        <p:spPr/>
        <p:txBody>
          <a:bodyPr/>
          <a:lstStyle/>
          <a:p>
            <a:fld id="{D96DAC94-F2BD-4D65-B7EB-B592A69BC432}" type="slidenum">
              <a:rPr lang="ru-RU" smtClean="0"/>
              <a:pPr/>
              <a:t>17</a:t>
            </a:fld>
            <a:endParaRPr lang="ru-RU"/>
          </a:p>
        </p:txBody>
      </p:sp>
    </p:spTree>
    <p:extLst>
      <p:ext uri="{BB962C8B-B14F-4D97-AF65-F5344CB8AC3E}">
        <p14:creationId xmlns:p14="http://schemas.microsoft.com/office/powerpoint/2010/main" val="4105958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dirty="0"/>
              <a:t>Проблема</a:t>
            </a:r>
            <a:r>
              <a:rPr lang="en-US" sz="1200" b="1" dirty="0"/>
              <a:t>:</a:t>
            </a:r>
            <a:endParaRPr lang="ru-RU" sz="1200" b="1" dirty="0"/>
          </a:p>
          <a:p>
            <a:r>
              <a:rPr lang="ru-RU" sz="1200" dirty="0"/>
              <a:t>В геноме рапса 60 768 аннотированных генов</a:t>
            </a:r>
          </a:p>
          <a:p>
            <a:r>
              <a:rPr lang="ru-RU" sz="1200" dirty="0"/>
              <a:t>Если подать их все в трансформер, модель станет слишком большой для обучения</a:t>
            </a:r>
          </a:p>
          <a:p>
            <a:r>
              <a:rPr lang="ru-RU" sz="1200" b="1" dirty="0"/>
              <a:t>Ограничение:</a:t>
            </a:r>
            <a:r>
              <a:rPr lang="ru-RU" sz="1200" dirty="0"/>
              <a:t> доступные вычислительные мощности не позволяют обучить модель на полном наборе генов</a:t>
            </a:r>
          </a:p>
          <a:p>
            <a:r>
              <a:rPr lang="ru-RU" sz="1200" b="1" dirty="0"/>
              <a:t>Решение</a:t>
            </a:r>
            <a:r>
              <a:rPr lang="en-US" sz="1200" b="1" dirty="0"/>
              <a:t>:</a:t>
            </a:r>
            <a:endParaRPr lang="ru-RU" sz="1200" b="1" dirty="0"/>
          </a:p>
          <a:p>
            <a:r>
              <a:rPr lang="ru-RU" sz="1200" dirty="0"/>
              <a:t>Отобрать N наиболее информативных генов (с сохранением биологической структуры)</a:t>
            </a:r>
          </a:p>
          <a:p>
            <a:endParaRPr lang="ru-RU" sz="1200" dirty="0"/>
          </a:p>
          <a:p>
            <a:endParaRPr lang="ru-RU" dirty="0"/>
          </a:p>
        </p:txBody>
      </p:sp>
      <p:sp>
        <p:nvSpPr>
          <p:cNvPr id="4" name="Номер слайда 3"/>
          <p:cNvSpPr>
            <a:spLocks noGrp="1"/>
          </p:cNvSpPr>
          <p:nvPr>
            <p:ph type="sldNum" sz="quarter" idx="5"/>
          </p:nvPr>
        </p:nvSpPr>
        <p:spPr/>
        <p:txBody>
          <a:bodyPr/>
          <a:lstStyle/>
          <a:p>
            <a:fld id="{D96DAC94-F2BD-4D65-B7EB-B592A69BC432}" type="slidenum">
              <a:rPr lang="ru-RU" smtClean="0"/>
              <a:pPr/>
              <a:t>18</a:t>
            </a:fld>
            <a:endParaRPr lang="ru-RU"/>
          </a:p>
        </p:txBody>
      </p:sp>
    </p:spTree>
    <p:extLst>
      <p:ext uri="{BB962C8B-B14F-4D97-AF65-F5344CB8AC3E}">
        <p14:creationId xmlns:p14="http://schemas.microsoft.com/office/powerpoint/2010/main" val="17443059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1" kern="1200" dirty="0">
                <a:solidFill>
                  <a:schemeClr val="tx1"/>
                </a:solidFill>
                <a:effectLst/>
                <a:latin typeface="+mn-lt"/>
                <a:ea typeface="+mn-ea"/>
                <a:cs typeface="+mn-cs"/>
              </a:rPr>
              <a:t>«Для рапса с 60 тысячами генов мы сравнили три стратегии отбора. Взвешенная стратегия, которая отдаёт предпочтение генам с большим числом SNP, дала корреляцию 0.798 для времени цветения. Равномерные стратегии — когда мы отбираем гены равномерно по всему геному или пропорционально длине хромосом — дали корреляцию 0.850. Это на 6.5% выше, при этом требуется на 26% меньше SNP. Вывод: для полигенных признаков, таких как время цветения, важно равномерное покрытие всего генома, а не концентрация на генах с большим числом маркеров.»</a:t>
            </a:r>
            <a:endParaRPr lang="ru-RU" dirty="0"/>
          </a:p>
        </p:txBody>
      </p:sp>
      <p:sp>
        <p:nvSpPr>
          <p:cNvPr id="4" name="Номер слайда 3"/>
          <p:cNvSpPr>
            <a:spLocks noGrp="1"/>
          </p:cNvSpPr>
          <p:nvPr>
            <p:ph type="sldNum" sz="quarter" idx="5"/>
          </p:nvPr>
        </p:nvSpPr>
        <p:spPr/>
        <p:txBody>
          <a:bodyPr/>
          <a:lstStyle/>
          <a:p>
            <a:fld id="{D96DAC94-F2BD-4D65-B7EB-B592A69BC432}" type="slidenum">
              <a:rPr lang="ru-RU" smtClean="0"/>
              <a:pPr/>
              <a:t>19</a:t>
            </a:fld>
            <a:endParaRPr lang="ru-RU"/>
          </a:p>
        </p:txBody>
      </p:sp>
    </p:spTree>
    <p:extLst>
      <p:ext uri="{BB962C8B-B14F-4D97-AF65-F5344CB8AC3E}">
        <p14:creationId xmlns:p14="http://schemas.microsoft.com/office/powerpoint/2010/main" val="16377439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1" kern="1200" dirty="0">
                <a:solidFill>
                  <a:schemeClr val="tx1"/>
                </a:solidFill>
                <a:effectLst/>
                <a:latin typeface="+mn-lt"/>
                <a:ea typeface="+mn-ea"/>
                <a:cs typeface="+mn-cs"/>
              </a:rPr>
              <a:t>На рапсе, где плотность SNP на ген составляет 21.3, механизм внимания показал преимущество по обоим признакам. Для времени цветения корреляция выросла с 0.854 до 0.890 — прирост 3.6%. Для </a:t>
            </a:r>
            <a:r>
              <a:rPr lang="ru-RU" sz="1200" b="0" i="1" kern="1200" dirty="0" err="1">
                <a:solidFill>
                  <a:schemeClr val="tx1"/>
                </a:solidFill>
                <a:effectLst/>
                <a:latin typeface="+mn-lt"/>
                <a:ea typeface="+mn-ea"/>
                <a:cs typeface="+mn-cs"/>
              </a:rPr>
              <a:t>глюкозинолатов</a:t>
            </a:r>
            <a:r>
              <a:rPr lang="ru-RU" sz="1200" b="0" i="1" kern="1200" dirty="0">
                <a:solidFill>
                  <a:schemeClr val="tx1"/>
                </a:solidFill>
                <a:effectLst/>
                <a:latin typeface="+mn-lt"/>
                <a:ea typeface="+mn-ea"/>
                <a:cs typeface="+mn-cs"/>
              </a:rPr>
              <a:t> — с 0.749 до 0.772, прирост 2.3%. При этом модель с вниманием содержит на 25% меньше параметров. Это подтверждает нашу гипотезу: предложенные модификации наиболее эффективны на данных с высокой плотностью SNP на ген.</a:t>
            </a:r>
            <a:endParaRPr lang="ru-RU" dirty="0"/>
          </a:p>
        </p:txBody>
      </p:sp>
      <p:sp>
        <p:nvSpPr>
          <p:cNvPr id="4" name="Номер слайда 3"/>
          <p:cNvSpPr>
            <a:spLocks noGrp="1"/>
          </p:cNvSpPr>
          <p:nvPr>
            <p:ph type="sldNum" sz="quarter" idx="5"/>
          </p:nvPr>
        </p:nvSpPr>
        <p:spPr/>
        <p:txBody>
          <a:bodyPr/>
          <a:lstStyle/>
          <a:p>
            <a:fld id="{D96DAC94-F2BD-4D65-B7EB-B592A69BC432}" type="slidenum">
              <a:rPr lang="ru-RU" smtClean="0"/>
              <a:pPr/>
              <a:t>20</a:t>
            </a:fld>
            <a:endParaRPr lang="ru-RU"/>
          </a:p>
        </p:txBody>
      </p:sp>
    </p:spTree>
    <p:extLst>
      <p:ext uri="{BB962C8B-B14F-4D97-AF65-F5344CB8AC3E}">
        <p14:creationId xmlns:p14="http://schemas.microsoft.com/office/powerpoint/2010/main" val="38351448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1" kern="1200" dirty="0">
                <a:solidFill>
                  <a:schemeClr val="tx1"/>
                </a:solidFill>
                <a:effectLst/>
                <a:latin typeface="+mn-lt"/>
                <a:ea typeface="+mn-ea"/>
                <a:cs typeface="+mn-cs"/>
              </a:rPr>
              <a:t>Для интерпретации модели и выявления значимых взаимодействий между генами мы использовали значения Шепли. Идея в том, чтобы оценить, насколько совместное действие двух генов отличается от суммы их индивидуальных эффектов. Формула парного взаимодействия выглядит так: мы берём случайное подмножество генов S, не содержащее i и j, и смотрим, как меняется предсказание модели при добавлении сначала только i, потом только j, потом обоих вместе. Разность — это вклад взаимодействия.</a:t>
            </a:r>
            <a:endParaRPr lang="ru-RU" sz="1200" b="0" i="0" kern="1200" dirty="0">
              <a:solidFill>
                <a:schemeClr val="tx1"/>
              </a:solidFill>
              <a:effectLst/>
              <a:latin typeface="+mn-lt"/>
              <a:ea typeface="+mn-ea"/>
              <a:cs typeface="+mn-cs"/>
            </a:endParaRPr>
          </a:p>
          <a:p>
            <a:r>
              <a:rPr lang="ru-RU" sz="1200" b="0" i="1" kern="1200" dirty="0">
                <a:solidFill>
                  <a:schemeClr val="tx1"/>
                </a:solidFill>
                <a:effectLst/>
                <a:latin typeface="+mn-lt"/>
                <a:ea typeface="+mn-ea"/>
                <a:cs typeface="+mn-cs"/>
              </a:rPr>
              <a:t>Если φ положительный — это синергия: гены усиливают друг друга. Если отрицательный — антагонизм: подавляют. Если около нуля — взаимодействия нет.</a:t>
            </a:r>
            <a:endParaRPr lang="ru-RU" sz="1200" b="0" i="0" kern="1200" dirty="0">
              <a:solidFill>
                <a:schemeClr val="tx1"/>
              </a:solidFill>
              <a:effectLst/>
              <a:latin typeface="+mn-lt"/>
              <a:ea typeface="+mn-ea"/>
              <a:cs typeface="+mn-cs"/>
            </a:endParaRPr>
          </a:p>
          <a:p>
            <a:r>
              <a:rPr lang="ru-RU" sz="1200" b="0" i="1" kern="1200" dirty="0">
                <a:solidFill>
                  <a:schemeClr val="tx1"/>
                </a:solidFill>
                <a:effectLst/>
                <a:latin typeface="+mn-lt"/>
                <a:ea typeface="+mn-ea"/>
                <a:cs typeface="+mn-cs"/>
              </a:rPr>
              <a:t>Центральность гена — это сумма абсолютных значений всех его взаимодействий. Чем она выше, тем больше ген связан с другими и тем важнее он в сети.</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*Вычислить все попарные взаимодействия для тысяч генов невозможно, поэтому мы сначала отбираем 150 наиболее важных генов по чувствительности градиентов, а затем для каждой пары используем Монте-Карло-сэмплирование — всего 50 случайных подмножеств S вместо полного перебора. Это делает вычисления практически возможными.»</a:t>
            </a:r>
          </a:p>
          <a:p>
            <a:endParaRPr lang="ru-RU" dirty="0"/>
          </a:p>
        </p:txBody>
      </p:sp>
      <p:sp>
        <p:nvSpPr>
          <p:cNvPr id="4" name="Номер слайда 3"/>
          <p:cNvSpPr>
            <a:spLocks noGrp="1"/>
          </p:cNvSpPr>
          <p:nvPr>
            <p:ph type="sldNum" sz="quarter" idx="5"/>
          </p:nvPr>
        </p:nvSpPr>
        <p:spPr/>
        <p:txBody>
          <a:bodyPr/>
          <a:lstStyle/>
          <a:p>
            <a:fld id="{D96DAC94-F2BD-4D65-B7EB-B592A69BC432}" type="slidenum">
              <a:rPr lang="ru-RU" smtClean="0"/>
              <a:pPr/>
              <a:t>21</a:t>
            </a:fld>
            <a:endParaRPr lang="ru-RU"/>
          </a:p>
        </p:txBody>
      </p:sp>
    </p:spTree>
    <p:extLst>
      <p:ext uri="{BB962C8B-B14F-4D97-AF65-F5344CB8AC3E}">
        <p14:creationId xmlns:p14="http://schemas.microsoft.com/office/powerpoint/2010/main" val="808327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1" kern="1200" dirty="0">
                <a:solidFill>
                  <a:schemeClr val="tx1"/>
                </a:solidFill>
                <a:effectLst/>
                <a:latin typeface="+mn-lt"/>
                <a:ea typeface="+mn-ea"/>
                <a:cs typeface="+mn-cs"/>
              </a:rPr>
              <a:t>На рисе для признака высоты растения мы вычислили центральность для 150 наиболее значимых генов. Ген Os01g0125800 показал центральность 0.421 — это значит, что он участвует в наибольшем числе взаимодействий. Он участвует в 7 взаимодействиях — 4 положительных (синергия) и 3 отрицательных (антагонизм). Биологическая аннотация подтверждает его важность: он кодирует белок AIP1, участвующий в перестройке цитоскелета, что влияет на рост растения. Второй ген, Os01g0150000, связан с биосинтезом воска кутикулы и тоже демонстрирует высокую центральность.</a:t>
            </a:r>
            <a:endParaRPr lang="ru-RU" dirty="0"/>
          </a:p>
        </p:txBody>
      </p:sp>
      <p:sp>
        <p:nvSpPr>
          <p:cNvPr id="4" name="Номер слайда 3"/>
          <p:cNvSpPr>
            <a:spLocks noGrp="1"/>
          </p:cNvSpPr>
          <p:nvPr>
            <p:ph type="sldNum" sz="quarter" idx="5"/>
          </p:nvPr>
        </p:nvSpPr>
        <p:spPr/>
        <p:txBody>
          <a:bodyPr/>
          <a:lstStyle/>
          <a:p>
            <a:fld id="{D96DAC94-F2BD-4D65-B7EB-B592A69BC432}" type="slidenum">
              <a:rPr lang="ru-RU" smtClean="0"/>
              <a:pPr/>
              <a:t>22</a:t>
            </a:fld>
            <a:endParaRPr lang="ru-RU"/>
          </a:p>
        </p:txBody>
      </p:sp>
    </p:spTree>
    <p:extLst>
      <p:ext uri="{BB962C8B-B14F-4D97-AF65-F5344CB8AC3E}">
        <p14:creationId xmlns:p14="http://schemas.microsoft.com/office/powerpoint/2010/main" val="1293361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a:solidFill>
                  <a:schemeClr val="tx1"/>
                </a:solidFill>
                <a:effectLst/>
                <a:latin typeface="+mn-lt"/>
                <a:ea typeface="+mn-ea"/>
                <a:cs typeface="+mn-cs"/>
              </a:rPr>
              <a:t>На рапсе для времени цветения ключевым геном-хабом оказался gene-LOC106381653 с центральностью 0.0264. Значения центральности здесь на порядок ниже, чем на рисе. Это говорит о том, что генетическая архитектура времени цветения рапса отличается: признак, вероятно, контролируется большим количеством генов с малыми эффектами, а не несколькими сильными генами-регуляторами.</a:t>
            </a:r>
            <a:endParaRPr lang="ru-RU" dirty="0"/>
          </a:p>
        </p:txBody>
      </p:sp>
      <p:sp>
        <p:nvSpPr>
          <p:cNvPr id="4" name="Номер слайда 3"/>
          <p:cNvSpPr>
            <a:spLocks noGrp="1"/>
          </p:cNvSpPr>
          <p:nvPr>
            <p:ph type="sldNum" sz="quarter" idx="5"/>
          </p:nvPr>
        </p:nvSpPr>
        <p:spPr/>
        <p:txBody>
          <a:bodyPr/>
          <a:lstStyle/>
          <a:p>
            <a:fld id="{D96DAC94-F2BD-4D65-B7EB-B592A69BC432}" type="slidenum">
              <a:rPr lang="ru-RU" smtClean="0"/>
              <a:pPr/>
              <a:t>23</a:t>
            </a:fld>
            <a:endParaRPr lang="ru-RU"/>
          </a:p>
        </p:txBody>
      </p:sp>
    </p:spTree>
    <p:extLst>
      <p:ext uri="{BB962C8B-B14F-4D97-AF65-F5344CB8AC3E}">
        <p14:creationId xmlns:p14="http://schemas.microsoft.com/office/powerpoint/2010/main" val="3779682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1" kern="1200" dirty="0">
                <a:solidFill>
                  <a:schemeClr val="tx1"/>
                </a:solidFill>
                <a:effectLst/>
                <a:latin typeface="+mn-lt"/>
                <a:ea typeface="+mn-ea"/>
                <a:cs typeface="+mn-cs"/>
              </a:rPr>
              <a:t>«Подводя итог, можно выделить семь основных результатов моей работы.</a:t>
            </a:r>
            <a:endParaRPr lang="ru-RU" sz="1200" b="0" i="0" kern="1200" dirty="0">
              <a:solidFill>
                <a:schemeClr val="tx1"/>
              </a:solidFill>
              <a:effectLst/>
              <a:latin typeface="+mn-lt"/>
              <a:ea typeface="+mn-ea"/>
              <a:cs typeface="+mn-cs"/>
            </a:endParaRPr>
          </a:p>
          <a:p>
            <a:r>
              <a:rPr lang="ru-RU" sz="1200" b="0" i="1" kern="1200" dirty="0">
                <a:solidFill>
                  <a:schemeClr val="tx1"/>
                </a:solidFill>
                <a:effectLst/>
                <a:latin typeface="+mn-lt"/>
                <a:ea typeface="+mn-ea"/>
                <a:cs typeface="+mn-cs"/>
              </a:rPr>
              <a:t>Первое: разработана новая архитектура на основе трансформера с механизмом внимания на уровне SNP и реконструкционной регуляризацией. Модель протестирована на трёх культурах — нуте, рисе и рапсе.</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*Второе: механизм внимания доказал свою эффективность. На рапсе с высокой плотностью SNP, 21.3 на ген, корреляция выросла на 3.6% — с 0.854 до 0.890, при этом число параметров сократилось на 25%. На нуте результаты сопоставимы с базовой моделью, на рисе эффективность ограничена из-за низкой плотности. Таким образом, гипотеза подтвердилась — внимание работает при высокой плотности SNP.*</a:t>
            </a:r>
          </a:p>
          <a:p>
            <a:r>
              <a:rPr lang="ru-RU" sz="1200" b="0" i="1" kern="1200" dirty="0">
                <a:solidFill>
                  <a:schemeClr val="tx1"/>
                </a:solidFill>
                <a:effectLst/>
                <a:latin typeface="+mn-lt"/>
                <a:ea typeface="+mn-ea"/>
                <a:cs typeface="+mn-cs"/>
              </a:rPr>
              <a:t>Третье: реконструкционная регуляризация стабилизировала обучение — график потерь стал плавным и монотонным, без резких колебаний.</a:t>
            </a:r>
            <a:endParaRPr lang="ru-RU" sz="1200" b="0" i="0" kern="1200" dirty="0">
              <a:solidFill>
                <a:schemeClr val="tx1"/>
              </a:solidFill>
              <a:effectLst/>
              <a:latin typeface="+mn-lt"/>
              <a:ea typeface="+mn-ea"/>
              <a:cs typeface="+mn-cs"/>
            </a:endParaRPr>
          </a:p>
          <a:p>
            <a:r>
              <a:rPr lang="ru-RU" sz="1200" b="0" i="1" kern="1200" dirty="0">
                <a:solidFill>
                  <a:schemeClr val="tx1"/>
                </a:solidFill>
                <a:effectLst/>
                <a:latin typeface="+mn-lt"/>
                <a:ea typeface="+mn-ea"/>
                <a:cs typeface="+mn-cs"/>
              </a:rPr>
              <a:t>Четвёртое: достигнута высокая точность прогнозирования — 0.881 для массы семян нута и 0.890 для времени цветения рапса.</a:t>
            </a:r>
            <a:endParaRPr lang="ru-RU" sz="1200" b="0" i="0" kern="1200" dirty="0">
              <a:solidFill>
                <a:schemeClr val="tx1"/>
              </a:solidFill>
              <a:effectLst/>
              <a:latin typeface="+mn-lt"/>
              <a:ea typeface="+mn-ea"/>
              <a:cs typeface="+mn-cs"/>
            </a:endParaRPr>
          </a:p>
          <a:p>
            <a:r>
              <a:rPr lang="ru-RU" sz="1200" b="0" i="1" kern="1200" dirty="0">
                <a:solidFill>
                  <a:schemeClr val="tx1"/>
                </a:solidFill>
                <a:effectLst/>
                <a:latin typeface="+mn-lt"/>
                <a:ea typeface="+mn-ea"/>
                <a:cs typeface="+mn-cs"/>
              </a:rPr>
              <a:t>Пятое: аугментация </a:t>
            </a:r>
            <a:r>
              <a:rPr lang="ru-RU" sz="1200" b="0" i="1" kern="1200" dirty="0" err="1">
                <a:solidFill>
                  <a:schemeClr val="tx1"/>
                </a:solidFill>
                <a:effectLst/>
                <a:latin typeface="+mn-lt"/>
                <a:ea typeface="+mn-ea"/>
                <a:cs typeface="+mn-cs"/>
              </a:rPr>
              <a:t>MixUp</a:t>
            </a:r>
            <a:r>
              <a:rPr lang="ru-RU" sz="1200" b="0" i="1" kern="1200" dirty="0">
                <a:solidFill>
                  <a:schemeClr val="tx1"/>
                </a:solidFill>
                <a:effectLst/>
                <a:latin typeface="+mn-lt"/>
                <a:ea typeface="+mn-ea"/>
                <a:cs typeface="+mn-cs"/>
              </a:rPr>
              <a:t> снизила MAPE для </a:t>
            </a:r>
            <a:r>
              <a:rPr lang="ru-RU" sz="1200" b="0" i="1" kern="1200" dirty="0" err="1">
                <a:solidFill>
                  <a:schemeClr val="tx1"/>
                </a:solidFill>
                <a:effectLst/>
                <a:latin typeface="+mn-lt"/>
                <a:ea typeface="+mn-ea"/>
                <a:cs typeface="+mn-cs"/>
              </a:rPr>
              <a:t>глюкозинолатов</a:t>
            </a:r>
            <a:r>
              <a:rPr lang="ru-RU" sz="1200" b="0" i="1" kern="1200" dirty="0">
                <a:solidFill>
                  <a:schemeClr val="tx1"/>
                </a:solidFill>
                <a:effectLst/>
                <a:latin typeface="+mn-lt"/>
                <a:ea typeface="+mn-ea"/>
                <a:cs typeface="+mn-cs"/>
              </a:rPr>
              <a:t> на 9% — с 44.5% до 35.5%, что особенно важно при малом количестве обучающих образцов.</a:t>
            </a:r>
            <a:endParaRPr lang="ru-RU" sz="1200" b="0" i="0" kern="1200" dirty="0">
              <a:solidFill>
                <a:schemeClr val="tx1"/>
              </a:solidFill>
              <a:effectLst/>
              <a:latin typeface="+mn-lt"/>
              <a:ea typeface="+mn-ea"/>
              <a:cs typeface="+mn-cs"/>
            </a:endParaRPr>
          </a:p>
          <a:p>
            <a:r>
              <a:rPr lang="ru-RU" sz="1200" b="0" i="1" kern="1200" dirty="0">
                <a:solidFill>
                  <a:schemeClr val="tx1"/>
                </a:solidFill>
                <a:effectLst/>
                <a:latin typeface="+mn-lt"/>
                <a:ea typeface="+mn-ea"/>
                <a:cs typeface="+mn-cs"/>
              </a:rPr>
              <a:t>Шестое: равномерные стратегии отбора генов показали преимущество над взвешенной — прирост корреляции 6.5% при сокращении числа SNP на 26%.</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*Седьмое: с помощью значений Шепли выявлены гены-«хабы» — для риса это Os01g0125800, для рапса gene-LOC106381653.*</a:t>
            </a:r>
          </a:p>
          <a:p>
            <a:r>
              <a:rPr lang="ru-RU" sz="1200" b="0" i="1" kern="1200" dirty="0">
                <a:solidFill>
                  <a:schemeClr val="tx1"/>
                </a:solidFill>
                <a:effectLst/>
                <a:latin typeface="+mn-lt"/>
                <a:ea typeface="+mn-ea"/>
                <a:cs typeface="+mn-cs"/>
              </a:rPr>
              <a:t>Практическая значимость: модель готова к применению в селекционных программах для идентификации ключевых маркеров и ускоренного отбора перспективных генотипов, особенно в регионах рискованного земледелия.»</a:t>
            </a:r>
            <a:endParaRPr lang="ru-RU" sz="1200" b="0" i="0" kern="1200" dirty="0">
              <a:solidFill>
                <a:schemeClr val="tx1"/>
              </a:solidFill>
              <a:effectLst/>
              <a:latin typeface="+mn-lt"/>
              <a:ea typeface="+mn-ea"/>
              <a:cs typeface="+mn-cs"/>
            </a:endParaRPr>
          </a:p>
          <a:p>
            <a:br>
              <a:rPr lang="ru-RU" dirty="0"/>
            </a:br>
            <a:endParaRPr lang="ru-RU" dirty="0"/>
          </a:p>
        </p:txBody>
      </p:sp>
      <p:sp>
        <p:nvSpPr>
          <p:cNvPr id="4" name="Номер слайда 3"/>
          <p:cNvSpPr>
            <a:spLocks noGrp="1"/>
          </p:cNvSpPr>
          <p:nvPr>
            <p:ph type="sldNum" sz="quarter" idx="5"/>
          </p:nvPr>
        </p:nvSpPr>
        <p:spPr/>
        <p:txBody>
          <a:bodyPr/>
          <a:lstStyle/>
          <a:p>
            <a:fld id="{D96DAC94-F2BD-4D65-B7EB-B592A69BC432}" type="slidenum">
              <a:rPr lang="ru-RU" smtClean="0"/>
              <a:pPr/>
              <a:t>24</a:t>
            </a:fld>
            <a:endParaRPr lang="ru-RU"/>
          </a:p>
        </p:txBody>
      </p:sp>
    </p:spTree>
    <p:extLst>
      <p:ext uri="{BB962C8B-B14F-4D97-AF65-F5344CB8AC3E}">
        <p14:creationId xmlns:p14="http://schemas.microsoft.com/office/powerpoint/2010/main" val="24316045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1" kern="1200" dirty="0">
                <a:solidFill>
                  <a:schemeClr val="tx1"/>
                </a:solidFill>
                <a:effectLst/>
                <a:latin typeface="+mn-lt"/>
                <a:ea typeface="+mn-ea"/>
                <a:cs typeface="+mn-cs"/>
              </a:rPr>
              <a:t>Полученный вектор </a:t>
            </a:r>
            <a:r>
              <a:rPr lang="ru-RU" sz="1200" b="0" i="1" kern="1200" dirty="0" err="1">
                <a:solidFill>
                  <a:schemeClr val="tx1"/>
                </a:solidFill>
                <a:effectLst/>
                <a:latin typeface="+mn-lt"/>
                <a:ea typeface="+mn-ea"/>
                <a:cs typeface="+mn-cs"/>
              </a:rPr>
              <a:t>v_ген</a:t>
            </a:r>
            <a:r>
              <a:rPr lang="ru-RU" sz="1200" b="0" i="1" kern="1200" dirty="0">
                <a:solidFill>
                  <a:schemeClr val="tx1"/>
                </a:solidFill>
                <a:effectLst/>
                <a:latin typeface="+mn-lt"/>
                <a:ea typeface="+mn-ea"/>
                <a:cs typeface="+mn-cs"/>
              </a:rPr>
              <a:t> — </a:t>
            </a:r>
            <a:r>
              <a:rPr lang="ru-RU" sz="1200" b="0" i="1" kern="1200" dirty="0" err="1">
                <a:solidFill>
                  <a:schemeClr val="tx1"/>
                </a:solidFill>
                <a:effectLst/>
                <a:latin typeface="+mn-lt"/>
                <a:ea typeface="+mn-ea"/>
                <a:cs typeface="+mn-cs"/>
              </a:rPr>
              <a:t>эмбеддинг</a:t>
            </a:r>
            <a:r>
              <a:rPr lang="ru-RU" sz="1200" b="0" i="1" kern="1200" dirty="0">
                <a:solidFill>
                  <a:schemeClr val="tx1"/>
                </a:solidFill>
                <a:effectLst/>
                <a:latin typeface="+mn-lt"/>
                <a:ea typeface="+mn-ea"/>
                <a:cs typeface="+mn-cs"/>
              </a:rPr>
              <a:t> гена фиксированной длины d. Такие векторы для всех генов объединяются в матрицу и подаются в трансформер</a:t>
            </a:r>
            <a:endParaRPr lang="ru-RU" dirty="0"/>
          </a:p>
        </p:txBody>
      </p:sp>
      <p:sp>
        <p:nvSpPr>
          <p:cNvPr id="4" name="Номер слайда 3"/>
          <p:cNvSpPr>
            <a:spLocks noGrp="1"/>
          </p:cNvSpPr>
          <p:nvPr>
            <p:ph type="sldNum" sz="quarter" idx="5"/>
          </p:nvPr>
        </p:nvSpPr>
        <p:spPr/>
        <p:txBody>
          <a:bodyPr/>
          <a:lstStyle/>
          <a:p>
            <a:fld id="{D96DAC94-F2BD-4D65-B7EB-B592A69BC432}" type="slidenum">
              <a:rPr lang="ru-RU" smtClean="0"/>
              <a:pPr/>
              <a:t>33</a:t>
            </a:fld>
            <a:endParaRPr lang="ru-RU"/>
          </a:p>
        </p:txBody>
      </p:sp>
    </p:spTree>
    <p:extLst>
      <p:ext uri="{BB962C8B-B14F-4D97-AF65-F5344CB8AC3E}">
        <p14:creationId xmlns:p14="http://schemas.microsoft.com/office/powerpoint/2010/main" val="42755009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8" name="Заголовок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ru-RU"/>
              <a:t>Образец заголовка</a:t>
            </a:r>
            <a:endParaRPr kumimoji="0" lang="en-US"/>
          </a:p>
        </p:txBody>
      </p:sp>
      <p:sp>
        <p:nvSpPr>
          <p:cNvPr id="9" name="Подзаголовок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ru-RU"/>
              <a:t>Образец подзаголовка</a:t>
            </a:r>
            <a:endParaRPr kumimoji="0" lang="en-US"/>
          </a:p>
        </p:txBody>
      </p:sp>
      <p:sp>
        <p:nvSpPr>
          <p:cNvPr id="28" name="Дата 27"/>
          <p:cNvSpPr>
            <a:spLocks noGrp="1"/>
          </p:cNvSpPr>
          <p:nvPr>
            <p:ph type="dt" sz="half" idx="10"/>
          </p:nvPr>
        </p:nvSpPr>
        <p:spPr>
          <a:xfrm>
            <a:off x="8534400" y="6355080"/>
            <a:ext cx="3048000" cy="365760"/>
          </a:xfrm>
        </p:spPr>
        <p:txBody>
          <a:bodyPr/>
          <a:lstStyle>
            <a:lvl1pPr>
              <a:defRPr sz="1400"/>
            </a:lvl1pPr>
          </a:lstStyle>
          <a:p>
            <a:fld id="{C6B2730F-73AE-4811-8EE1-35BCE88D6A5B}" type="datetime1">
              <a:rPr lang="ru-RU" smtClean="0"/>
              <a:pPr/>
              <a:t>08.06.2026</a:t>
            </a:fld>
            <a:endParaRPr lang="ru-RU"/>
          </a:p>
        </p:txBody>
      </p:sp>
      <p:sp>
        <p:nvSpPr>
          <p:cNvPr id="17" name="Нижний колонтитул 16"/>
          <p:cNvSpPr>
            <a:spLocks noGrp="1"/>
          </p:cNvSpPr>
          <p:nvPr>
            <p:ph type="ftr" sz="quarter" idx="11"/>
          </p:nvPr>
        </p:nvSpPr>
        <p:spPr>
          <a:xfrm>
            <a:off x="3864864" y="6355080"/>
            <a:ext cx="4632960" cy="365760"/>
          </a:xfrm>
        </p:spPr>
        <p:txBody>
          <a:bodyPr/>
          <a:lstStyle/>
          <a:p>
            <a:endParaRPr lang="ru-RU"/>
          </a:p>
        </p:txBody>
      </p:sp>
      <p:sp>
        <p:nvSpPr>
          <p:cNvPr id="29" name="Номер слайда 28"/>
          <p:cNvSpPr>
            <a:spLocks noGrp="1"/>
          </p:cNvSpPr>
          <p:nvPr>
            <p:ph type="sldNum" sz="quarter" idx="12"/>
          </p:nvPr>
        </p:nvSpPr>
        <p:spPr>
          <a:xfrm>
            <a:off x="1621536" y="6355080"/>
            <a:ext cx="1625600" cy="365760"/>
          </a:xfrm>
        </p:spPr>
        <p:txBody>
          <a:bodyPr/>
          <a:lstStyle/>
          <a:p>
            <a:fld id="{B19B0651-EE4F-4900-A07F-96A6BFA9D0F0}" type="slidenum">
              <a:rPr lang="ru-RU" smtClean="0"/>
              <a:pPr/>
              <a:t>‹#›</a:t>
            </a:fld>
            <a:endParaRPr lang="ru-RU"/>
          </a:p>
        </p:txBody>
      </p:sp>
      <p:sp>
        <p:nvSpPr>
          <p:cNvPr id="21" name="Прямоугольник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Прямоугольник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Прямоугольник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Прямоугольник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a:t>Образец заголовка</a:t>
            </a:r>
            <a:endParaRPr kumimoji="0" lang="en-US"/>
          </a:p>
        </p:txBody>
      </p:sp>
      <p:sp>
        <p:nvSpPr>
          <p:cNvPr id="4" name="Дата 3"/>
          <p:cNvSpPr>
            <a:spLocks noGrp="1"/>
          </p:cNvSpPr>
          <p:nvPr>
            <p:ph type="dt" sz="half" idx="10"/>
          </p:nvPr>
        </p:nvSpPr>
        <p:spPr/>
        <p:txBody>
          <a:bodyPr/>
          <a:lstStyle/>
          <a:p>
            <a:fld id="{3E4C5A9A-C962-4418-A6ED-D25B39EECFC2}" type="datetime1">
              <a:rPr lang="ru-RU" smtClean="0"/>
              <a:pPr/>
              <a:t>08.06.2026</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B19B0651-EE4F-4900-A07F-96A6BFA9D0F0}" type="slidenum">
              <a:rPr lang="ru-RU" smtClean="0"/>
              <a:pPr/>
              <a:t>‹#›</a:t>
            </a:fld>
            <a:endParaRPr lang="ru-RU" dirty="0"/>
          </a:p>
        </p:txBody>
      </p:sp>
      <p:sp>
        <p:nvSpPr>
          <p:cNvPr id="8" name="Объект 7"/>
          <p:cNvSpPr>
            <a:spLocks noGrp="1"/>
          </p:cNvSpPr>
          <p:nvPr>
            <p:ph sz="quarter" idx="1"/>
          </p:nvPr>
        </p:nvSpPr>
        <p:spPr>
          <a:xfrm>
            <a:off x="609600" y="1219200"/>
            <a:ext cx="10972800" cy="4937760"/>
          </a:xfrm>
        </p:spPr>
        <p:txBody>
          <a:body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pic>
        <p:nvPicPr>
          <p:cNvPr id="9" name="Рисунок 8">
            <a:extLst>
              <a:ext uri="{FF2B5EF4-FFF2-40B4-BE49-F238E27FC236}">
                <a16:creationId xmlns:a16="http://schemas.microsoft.com/office/drawing/2014/main" id="{54B24CA5-2D6F-4360-9072-8E189BC47058}"/>
              </a:ext>
            </a:extLst>
          </p:cNvPr>
          <p:cNvPicPr>
            <a:picLocks noChangeAspect="1"/>
          </p:cNvPicPr>
          <p:nvPr userDrawn="1"/>
        </p:nvPicPr>
        <p:blipFill>
          <a:blip r:embed="rId2"/>
          <a:stretch>
            <a:fillRect/>
          </a:stretch>
        </p:blipFill>
        <p:spPr>
          <a:xfrm>
            <a:off x="9480494" y="6338068"/>
            <a:ext cx="1920213" cy="38404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Ref idx="1001">
        <a:schemeClr val="bg2"/>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ru-RU"/>
              <a:t>Образец заголовка</a:t>
            </a:r>
            <a:endParaRPr kumimoji="0" lang="en-US"/>
          </a:p>
        </p:txBody>
      </p:sp>
      <p:sp>
        <p:nvSpPr>
          <p:cNvPr id="3" name="Текст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ru-RU"/>
              <a:t>Образец текста</a:t>
            </a:r>
          </a:p>
        </p:txBody>
      </p:sp>
      <p:sp>
        <p:nvSpPr>
          <p:cNvPr id="4" name="Дата 3"/>
          <p:cNvSpPr>
            <a:spLocks noGrp="1"/>
          </p:cNvSpPr>
          <p:nvPr>
            <p:ph type="dt" sz="half" idx="10"/>
          </p:nvPr>
        </p:nvSpPr>
        <p:spPr>
          <a:xfrm>
            <a:off x="8534400" y="6355080"/>
            <a:ext cx="3048000" cy="365760"/>
          </a:xfrm>
        </p:spPr>
        <p:txBody>
          <a:bodyPr/>
          <a:lstStyle/>
          <a:p>
            <a:fld id="{3BCE437B-FAC6-4525-9B10-EB0D041FD945}" type="datetime1">
              <a:rPr lang="ru-RU" smtClean="0"/>
              <a:pPr/>
              <a:t>08.06.2026</a:t>
            </a:fld>
            <a:endParaRPr lang="ru-RU"/>
          </a:p>
        </p:txBody>
      </p:sp>
      <p:sp>
        <p:nvSpPr>
          <p:cNvPr id="5" name="Нижний колонтитул 4"/>
          <p:cNvSpPr>
            <a:spLocks noGrp="1"/>
          </p:cNvSpPr>
          <p:nvPr>
            <p:ph type="ftr" sz="quarter" idx="11"/>
          </p:nvPr>
        </p:nvSpPr>
        <p:spPr>
          <a:xfrm>
            <a:off x="3864864" y="6355080"/>
            <a:ext cx="4632960" cy="365760"/>
          </a:xfrm>
        </p:spPr>
        <p:txBody>
          <a:bodyPr/>
          <a:lstStyle/>
          <a:p>
            <a:endParaRPr lang="ru-RU"/>
          </a:p>
        </p:txBody>
      </p:sp>
      <p:sp>
        <p:nvSpPr>
          <p:cNvPr id="6" name="Номер слайда 5"/>
          <p:cNvSpPr>
            <a:spLocks noGrp="1"/>
          </p:cNvSpPr>
          <p:nvPr>
            <p:ph type="sldNum" sz="quarter" idx="12"/>
          </p:nvPr>
        </p:nvSpPr>
        <p:spPr>
          <a:xfrm>
            <a:off x="1426464" y="6355080"/>
            <a:ext cx="2027936" cy="365760"/>
          </a:xfrm>
        </p:spPr>
        <p:txBody>
          <a:bodyPr/>
          <a:lstStyle/>
          <a:p>
            <a:fld id="{B19B0651-EE4F-4900-A07F-96A6BFA9D0F0}" type="slidenum">
              <a:rPr lang="ru-RU" smtClean="0"/>
              <a:pPr/>
              <a:t>‹#›</a:t>
            </a:fld>
            <a:endParaRPr lang="ru-RU"/>
          </a:p>
        </p:txBody>
      </p:sp>
      <p:sp>
        <p:nvSpPr>
          <p:cNvPr id="7" name="Прямоугольник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Прямоугольник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228600"/>
            <a:ext cx="10972800" cy="914400"/>
          </a:xfrm>
        </p:spPr>
        <p:txBody>
          <a:bodyPr/>
          <a:lstStyle/>
          <a:p>
            <a:r>
              <a:rPr kumimoji="0" lang="ru-RU"/>
              <a:t>Образец заголовка</a:t>
            </a:r>
            <a:endParaRPr kumimoji="0" lang="en-US"/>
          </a:p>
        </p:txBody>
      </p:sp>
      <p:sp>
        <p:nvSpPr>
          <p:cNvPr id="5" name="Дата 4"/>
          <p:cNvSpPr>
            <a:spLocks noGrp="1"/>
          </p:cNvSpPr>
          <p:nvPr>
            <p:ph type="dt" sz="half" idx="10"/>
          </p:nvPr>
        </p:nvSpPr>
        <p:spPr/>
        <p:txBody>
          <a:bodyPr/>
          <a:lstStyle/>
          <a:p>
            <a:fld id="{3BFA832C-AAE8-49A2-8A67-6CC9EC0F9684}" type="datetime1">
              <a:rPr lang="ru-RU" smtClean="0"/>
              <a:pPr/>
              <a:t>08.06.2026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19B0651-EE4F-4900-A07F-96A6BFA9D0F0}" type="slidenum">
              <a:rPr lang="ru-RU" smtClean="0"/>
              <a:pPr/>
              <a:t>‹#›</a:t>
            </a:fld>
            <a:endParaRPr lang="ru-RU"/>
          </a:p>
        </p:txBody>
      </p:sp>
      <p:sp>
        <p:nvSpPr>
          <p:cNvPr id="9" name="Объект 8"/>
          <p:cNvSpPr>
            <a:spLocks noGrp="1"/>
          </p:cNvSpPr>
          <p:nvPr>
            <p:ph sz="quarter" idx="1"/>
          </p:nvPr>
        </p:nvSpPr>
        <p:spPr>
          <a:xfrm>
            <a:off x="609600" y="1219200"/>
            <a:ext cx="5388864" cy="4937760"/>
          </a:xfrm>
        </p:spPr>
        <p:txBody>
          <a:body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11" name="Объект 10"/>
          <p:cNvSpPr>
            <a:spLocks noGrp="1"/>
          </p:cNvSpPr>
          <p:nvPr>
            <p:ph sz="quarter" idx="2"/>
          </p:nvPr>
        </p:nvSpPr>
        <p:spPr>
          <a:xfrm>
            <a:off x="6176265" y="1216152"/>
            <a:ext cx="5388864" cy="4937760"/>
          </a:xfrm>
        </p:spPr>
        <p:txBody>
          <a:body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228600"/>
            <a:ext cx="10972800" cy="914400"/>
          </a:xfrm>
        </p:spPr>
        <p:txBody>
          <a:bodyPr anchor="ctr"/>
          <a:lstStyle>
            <a:lvl1pPr>
              <a:defRPr/>
            </a:lvl1pPr>
          </a:lstStyle>
          <a:p>
            <a:r>
              <a:rPr kumimoji="0" lang="ru-RU"/>
              <a:t>Образец заголовка</a:t>
            </a:r>
            <a:endParaRPr kumimoji="0" lang="en-US"/>
          </a:p>
        </p:txBody>
      </p:sp>
      <p:sp>
        <p:nvSpPr>
          <p:cNvPr id="3" name="Текст 2"/>
          <p:cNvSpPr>
            <a:spLocks noGrp="1"/>
          </p:cNvSpPr>
          <p:nvPr>
            <p:ph type="body" idx="1"/>
          </p:nvPr>
        </p:nvSpPr>
        <p:spPr>
          <a:xfrm>
            <a:off x="609602"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ru-RU"/>
              <a:t>Образец текста</a:t>
            </a:r>
          </a:p>
        </p:txBody>
      </p:sp>
      <p:sp>
        <p:nvSpPr>
          <p:cNvPr id="4" name="Текст 3"/>
          <p:cNvSpPr>
            <a:spLocks noGrp="1"/>
          </p:cNvSpPr>
          <p:nvPr>
            <p:ph type="body" sz="half" idx="3"/>
          </p:nvPr>
        </p:nvSpPr>
        <p:spPr>
          <a:xfrm>
            <a:off x="6197604"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ru-RU"/>
              <a:t>Образец текста</a:t>
            </a:r>
          </a:p>
        </p:txBody>
      </p:sp>
      <p:sp>
        <p:nvSpPr>
          <p:cNvPr id="7" name="Дата 6"/>
          <p:cNvSpPr>
            <a:spLocks noGrp="1"/>
          </p:cNvSpPr>
          <p:nvPr>
            <p:ph type="dt" sz="half" idx="10"/>
          </p:nvPr>
        </p:nvSpPr>
        <p:spPr/>
        <p:txBody>
          <a:bodyPr/>
          <a:lstStyle/>
          <a:p>
            <a:fld id="{8200A4AC-B21D-4306-B462-745ED0EA3A31}" type="datetime1">
              <a:rPr lang="ru-RU" smtClean="0"/>
              <a:pPr/>
              <a:t>08.06.2026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B19B0651-EE4F-4900-A07F-96A6BFA9D0F0}" type="slidenum">
              <a:rPr lang="ru-RU" smtClean="0"/>
              <a:pPr/>
              <a:t>‹#›</a:t>
            </a:fld>
            <a:endParaRPr lang="ru-RU"/>
          </a:p>
        </p:txBody>
      </p:sp>
      <p:sp>
        <p:nvSpPr>
          <p:cNvPr id="11" name="Объект 10"/>
          <p:cNvSpPr>
            <a:spLocks noGrp="1"/>
          </p:cNvSpPr>
          <p:nvPr>
            <p:ph sz="quarter" idx="2"/>
          </p:nvPr>
        </p:nvSpPr>
        <p:spPr>
          <a:xfrm>
            <a:off x="609600" y="2133600"/>
            <a:ext cx="5384800" cy="4038600"/>
          </a:xfrm>
        </p:spPr>
        <p:txBody>
          <a:body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13" name="Объект 12"/>
          <p:cNvSpPr>
            <a:spLocks noGrp="1"/>
          </p:cNvSpPr>
          <p:nvPr>
            <p:ph sz="quarter" idx="4"/>
          </p:nvPr>
        </p:nvSpPr>
        <p:spPr>
          <a:xfrm>
            <a:off x="6197600" y="2133600"/>
            <a:ext cx="5384800" cy="4038600"/>
          </a:xfrm>
        </p:spPr>
        <p:txBody>
          <a:body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228600"/>
            <a:ext cx="10972800" cy="914400"/>
          </a:xfrm>
        </p:spPr>
        <p:txBody>
          <a:bodyPr/>
          <a:lstStyle/>
          <a:p>
            <a:r>
              <a:rPr kumimoji="0" lang="ru-RU"/>
              <a:t>Образец заголовка</a:t>
            </a:r>
            <a:endParaRPr kumimoji="0" lang="en-US"/>
          </a:p>
        </p:txBody>
      </p:sp>
      <p:sp>
        <p:nvSpPr>
          <p:cNvPr id="3" name="Дата 2"/>
          <p:cNvSpPr>
            <a:spLocks noGrp="1"/>
          </p:cNvSpPr>
          <p:nvPr>
            <p:ph type="dt" sz="half" idx="10"/>
          </p:nvPr>
        </p:nvSpPr>
        <p:spPr/>
        <p:txBody>
          <a:bodyPr/>
          <a:lstStyle/>
          <a:p>
            <a:fld id="{B0B78BEF-C1CC-4B50-998C-D97B5C5122C2}" type="datetime1">
              <a:rPr lang="ru-RU" smtClean="0"/>
              <a:pPr/>
              <a:t>08.06.2026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B19B0651-EE4F-4900-A07F-96A6BFA9D0F0}" type="slidenum">
              <a:rPr lang="ru-RU" smtClean="0"/>
              <a:pPr/>
              <a:t>‹#›</a:t>
            </a:fld>
            <a:endParaRPr lang="ru-RU"/>
          </a:p>
        </p:txBody>
      </p:sp>
      <p:sp>
        <p:nvSpPr>
          <p:cNvPr id="6" name="Равнобедренный треугольник 5"/>
          <p:cNvSpPr>
            <a:spLocks noChangeAspect="1"/>
          </p:cNvSpPr>
          <p:nvPr/>
        </p:nvSpPr>
        <p:spPr>
          <a:xfrm rot="5400000">
            <a:off x="590610" y="6447422"/>
            <a:ext cx="190849" cy="16042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A44D9998-A1E8-41E7-BB0F-97C553A7BC9F}" type="datetime1">
              <a:rPr lang="ru-RU" smtClean="0"/>
              <a:pPr/>
              <a:t>08.06.2026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B19B0651-EE4F-4900-A07F-96A6BFA9D0F0}" type="slidenum">
              <a:rPr lang="ru-RU" smtClean="0"/>
              <a:pPr/>
              <a:t>‹#›</a:t>
            </a:fld>
            <a:endParaRPr lang="ru-RU"/>
          </a:p>
        </p:txBody>
      </p:sp>
      <p:sp>
        <p:nvSpPr>
          <p:cNvPr id="5" name="Прямая соединительная линия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Равнобедренный треугольник 5"/>
          <p:cNvSpPr>
            <a:spLocks noChangeAspect="1"/>
          </p:cNvSpPr>
          <p:nvPr/>
        </p:nvSpPr>
        <p:spPr>
          <a:xfrm rot="5400000">
            <a:off x="590610" y="6447422"/>
            <a:ext cx="190849" cy="16042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ru-RU"/>
              <a:t>Образец заголовка</a:t>
            </a:r>
            <a:endParaRPr kumimoji="0" lang="en-US"/>
          </a:p>
        </p:txBody>
      </p:sp>
      <p:sp>
        <p:nvSpPr>
          <p:cNvPr id="3" name="Текст 2"/>
          <p:cNvSpPr>
            <a:spLocks noGrp="1"/>
          </p:cNvSpPr>
          <p:nvPr>
            <p:ph type="body" idx="2"/>
          </p:nvPr>
        </p:nvSpPr>
        <p:spPr>
          <a:xfrm>
            <a:off x="8432800" y="1219202"/>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ru-RU"/>
              <a:t>Образец текста</a:t>
            </a:r>
          </a:p>
        </p:txBody>
      </p:sp>
      <p:sp>
        <p:nvSpPr>
          <p:cNvPr id="5" name="Дата 4"/>
          <p:cNvSpPr>
            <a:spLocks noGrp="1"/>
          </p:cNvSpPr>
          <p:nvPr>
            <p:ph type="dt" sz="half" idx="10"/>
          </p:nvPr>
        </p:nvSpPr>
        <p:spPr/>
        <p:txBody>
          <a:bodyPr/>
          <a:lstStyle/>
          <a:p>
            <a:fld id="{F8B9F955-60EF-447E-9AD0-C72BA3EB520A}" type="datetime1">
              <a:rPr lang="ru-RU" smtClean="0"/>
              <a:pPr/>
              <a:t>08.06.2026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19B0651-EE4F-4900-A07F-96A6BFA9D0F0}" type="slidenum">
              <a:rPr lang="ru-RU" smtClean="0"/>
              <a:pPr/>
              <a:t>‹#›</a:t>
            </a:fld>
            <a:endParaRPr lang="ru-RU"/>
          </a:p>
        </p:txBody>
      </p:sp>
      <p:sp>
        <p:nvSpPr>
          <p:cNvPr id="8" name="Прямая соединительная линия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Прямая соединительная линия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Равнобедренный треугольник 8"/>
          <p:cNvSpPr>
            <a:spLocks noChangeAspect="1"/>
          </p:cNvSpPr>
          <p:nvPr/>
        </p:nvSpPr>
        <p:spPr>
          <a:xfrm rot="5400000">
            <a:off x="590610" y="6447422"/>
            <a:ext cx="190849" cy="16042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Объект 11"/>
          <p:cNvSpPr>
            <a:spLocks noGrp="1"/>
          </p:cNvSpPr>
          <p:nvPr>
            <p:ph sz="quarter" idx="1"/>
          </p:nvPr>
        </p:nvSpPr>
        <p:spPr>
          <a:xfrm>
            <a:off x="406400" y="304800"/>
            <a:ext cx="7620000" cy="5715000"/>
          </a:xfrm>
        </p:spPr>
        <p:txBody>
          <a:body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bg>
      <p:bgRef idx="1001">
        <a:schemeClr val="bg2"/>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ru-RU"/>
              <a:t>Образец заголовка</a:t>
            </a:r>
            <a:endParaRPr kumimoji="0" lang="en-US"/>
          </a:p>
        </p:txBody>
      </p:sp>
      <p:sp>
        <p:nvSpPr>
          <p:cNvPr id="3" name="Рисунок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ru-RU"/>
              <a:t>Вставка рисунка</a:t>
            </a:r>
            <a:endParaRPr kumimoji="0" lang="en-US" dirty="0"/>
          </a:p>
        </p:txBody>
      </p:sp>
      <p:sp>
        <p:nvSpPr>
          <p:cNvPr id="4" name="Текст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ru-RU"/>
              <a:t>Образец текста</a:t>
            </a:r>
          </a:p>
        </p:txBody>
      </p:sp>
      <p:sp>
        <p:nvSpPr>
          <p:cNvPr id="5" name="Дата 4"/>
          <p:cNvSpPr>
            <a:spLocks noGrp="1"/>
          </p:cNvSpPr>
          <p:nvPr>
            <p:ph type="dt" sz="half" idx="10"/>
          </p:nvPr>
        </p:nvSpPr>
        <p:spPr/>
        <p:txBody>
          <a:bodyPr/>
          <a:lstStyle/>
          <a:p>
            <a:fld id="{5DC4C5CF-31DE-4CA4-B756-94EB20ADFA57}" type="datetime1">
              <a:rPr lang="ru-RU" smtClean="0"/>
              <a:pPr/>
              <a:t>08.06.2026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19B0651-EE4F-4900-A07F-96A6BFA9D0F0}" type="slidenum">
              <a:rPr lang="ru-RU" smtClean="0"/>
              <a:pPr/>
              <a:t>‹#›</a:t>
            </a:fld>
            <a:endParaRPr lang="ru-RU"/>
          </a:p>
        </p:txBody>
      </p:sp>
      <p:sp>
        <p:nvSpPr>
          <p:cNvPr id="8" name="Прямая соединительная линия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Равнобедренный треугольник 8"/>
          <p:cNvSpPr>
            <a:spLocks noChangeAspect="1"/>
          </p:cNvSpPr>
          <p:nvPr/>
        </p:nvSpPr>
        <p:spPr>
          <a:xfrm rot="5400000">
            <a:off x="590610" y="6447422"/>
            <a:ext cx="190849" cy="16042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Прямоугольник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a:t>Образец заголовка</a:t>
            </a:r>
            <a:endParaRPr kumimoji="0" lang="en-US"/>
          </a:p>
        </p:txBody>
      </p:sp>
      <p:sp>
        <p:nvSpPr>
          <p:cNvPr id="3" name="Вертикальный текст 2"/>
          <p:cNvSpPr>
            <a:spLocks noGrp="1"/>
          </p:cNvSpPr>
          <p:nvPr>
            <p:ph type="body" orient="vert" idx="1"/>
          </p:nvPr>
        </p:nvSpPr>
        <p:spPr/>
        <p:txBody>
          <a:bodyPr vert="eaVer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Дата 3"/>
          <p:cNvSpPr>
            <a:spLocks noGrp="1"/>
          </p:cNvSpPr>
          <p:nvPr>
            <p:ph type="dt" sz="half" idx="10"/>
          </p:nvPr>
        </p:nvSpPr>
        <p:spPr/>
        <p:txBody>
          <a:bodyPr/>
          <a:lstStyle/>
          <a:p>
            <a:fld id="{BB9E82A9-7ECF-4377-8179-E1B065DF923B}" type="datetime1">
              <a:rPr lang="ru-RU" smtClean="0"/>
              <a:pPr/>
              <a:t>08.06.2026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839200" y="274640"/>
            <a:ext cx="2743200" cy="5851525"/>
          </a:xfrm>
        </p:spPr>
        <p:txBody>
          <a:bodyPr vert="eaVert"/>
          <a:lstStyle/>
          <a:p>
            <a:r>
              <a:rPr kumimoji="0" lang="ru-RU"/>
              <a:t>Образец заголовка</a:t>
            </a:r>
            <a:endParaRPr kumimoji="0" lang="en-US"/>
          </a:p>
        </p:txBody>
      </p:sp>
      <p:sp>
        <p:nvSpPr>
          <p:cNvPr id="3" name="Вертикальный текст 2"/>
          <p:cNvSpPr>
            <a:spLocks noGrp="1"/>
          </p:cNvSpPr>
          <p:nvPr>
            <p:ph type="body" orient="vert" idx="1"/>
          </p:nvPr>
        </p:nvSpPr>
        <p:spPr>
          <a:xfrm>
            <a:off x="609600" y="274640"/>
            <a:ext cx="8026400" cy="5851525"/>
          </a:xfrm>
        </p:spPr>
        <p:txBody>
          <a:bodyPr vert="eaVer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Дата 3"/>
          <p:cNvSpPr>
            <a:spLocks noGrp="1"/>
          </p:cNvSpPr>
          <p:nvPr>
            <p:ph type="dt" sz="half" idx="10"/>
          </p:nvPr>
        </p:nvSpPr>
        <p:spPr/>
        <p:txBody>
          <a:bodyPr/>
          <a:lstStyle/>
          <a:p>
            <a:fld id="{66A0A398-2ACF-4B35-B2EC-B0D84337DCE3}" type="datetime1">
              <a:rPr lang="ru-RU" smtClean="0"/>
              <a:pPr/>
              <a:t>08.06.2026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pPr/>
              <a:t>‹#›</a:t>
            </a:fld>
            <a:endParaRPr lang="ru-RU"/>
          </a:p>
        </p:txBody>
      </p:sp>
      <p:sp>
        <p:nvSpPr>
          <p:cNvPr id="7" name="Прямая соединительная линия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Равнобедренный треугольник 7"/>
          <p:cNvSpPr>
            <a:spLocks noChangeAspect="1"/>
          </p:cNvSpPr>
          <p:nvPr/>
        </p:nvSpPr>
        <p:spPr>
          <a:xfrm rot="5400000">
            <a:off x="590610" y="6447422"/>
            <a:ext cx="190849" cy="16042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Прямая соединительная линия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Заголовок 21"/>
          <p:cNvSpPr>
            <a:spLocks noGrp="1"/>
          </p:cNvSpPr>
          <p:nvPr>
            <p:ph type="title"/>
          </p:nvPr>
        </p:nvSpPr>
        <p:spPr>
          <a:xfrm>
            <a:off x="609600" y="152400"/>
            <a:ext cx="10972800" cy="990600"/>
          </a:xfrm>
          <a:prstGeom prst="rect">
            <a:avLst/>
          </a:prstGeom>
        </p:spPr>
        <p:txBody>
          <a:bodyPr vert="horz" anchor="b" anchorCtr="0">
            <a:normAutofit/>
          </a:bodyPr>
          <a:lstStyle/>
          <a:p>
            <a:r>
              <a:rPr kumimoji="0" lang="ru-RU"/>
              <a:t>Образец заголовка</a:t>
            </a:r>
            <a:endParaRPr kumimoji="0" lang="en-US"/>
          </a:p>
        </p:txBody>
      </p:sp>
      <p:sp>
        <p:nvSpPr>
          <p:cNvPr id="13" name="Текст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ru-RU"/>
              <a:t>Образец текста</a:t>
            </a:r>
          </a:p>
          <a:p>
            <a:pPr lvl="1" eaLnBrk="1" latinLnBrk="0" hangingPunct="1"/>
            <a:r>
              <a:rPr kumimoji="0" lang="ru-RU"/>
              <a:t>Второй уровень</a:t>
            </a:r>
          </a:p>
          <a:p>
            <a:pPr lvl="2" eaLnBrk="1" latinLnBrk="0" hangingPunct="1"/>
            <a:r>
              <a:rPr kumimoji="0" lang="ru-RU"/>
              <a:t>Третий уровень</a:t>
            </a:r>
          </a:p>
          <a:p>
            <a:pPr lvl="3" eaLnBrk="1" latinLnBrk="0" hangingPunct="1"/>
            <a:r>
              <a:rPr kumimoji="0" lang="ru-RU"/>
              <a:t>Четвертый уровень</a:t>
            </a:r>
          </a:p>
          <a:p>
            <a:pPr lvl="4" eaLnBrk="1" latinLnBrk="0" hangingPunct="1"/>
            <a:r>
              <a:rPr kumimoji="0" lang="ru-RU"/>
              <a:t>Пятый уровень</a:t>
            </a:r>
            <a:endParaRPr kumimoji="0" lang="en-US"/>
          </a:p>
        </p:txBody>
      </p:sp>
      <p:sp>
        <p:nvSpPr>
          <p:cNvPr id="14" name="Дата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fld id="{92132BF6-819F-46B6-9B9C-E112203438EB}" type="datetime1">
              <a:rPr lang="ru-RU" smtClean="0"/>
              <a:pPr/>
              <a:t>08.06.2026</a:t>
            </a:fld>
            <a:endParaRPr lang="ru-RU"/>
          </a:p>
        </p:txBody>
      </p:sp>
      <p:sp>
        <p:nvSpPr>
          <p:cNvPr id="3" name="Нижний колонтитул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endParaRPr lang="ru-RU"/>
          </a:p>
        </p:txBody>
      </p:sp>
      <p:sp>
        <p:nvSpPr>
          <p:cNvPr id="23" name="Номер слайда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fld id="{B19B0651-EE4F-4900-A07F-96A6BFA9D0F0}" type="slidenum">
              <a:rPr lang="ru-RU" smtClean="0"/>
              <a:pPr/>
              <a:t>‹#›</a:t>
            </a:fld>
            <a:endParaRPr lang="ru-RU"/>
          </a:p>
        </p:txBody>
      </p:sp>
      <p:sp>
        <p:nvSpPr>
          <p:cNvPr id="28" name="Прямая соединительная линия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Прямая соединительная линия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Равнобедренный треугольник 9"/>
          <p:cNvSpPr>
            <a:spLocks noChangeAspect="1"/>
          </p:cNvSpPr>
          <p:nvPr/>
        </p:nvSpPr>
        <p:spPr>
          <a:xfrm rot="5400000">
            <a:off x="590610" y="6447422"/>
            <a:ext cx="190849" cy="16042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2891659" y="3789040"/>
            <a:ext cx="7884861" cy="982960"/>
          </a:xfrm>
        </p:spPr>
        <p:txBody>
          <a:bodyPr>
            <a:noAutofit/>
          </a:bodyPr>
          <a:lstStyle/>
          <a:p>
            <a:pPr algn="l"/>
            <a:r>
              <a:rPr lang="ru-RU" sz="2400" u="sng" dirty="0"/>
              <a:t>Выполнил студент группы 5040102/40201: Чибышев Т.А.</a:t>
            </a:r>
            <a:br>
              <a:rPr lang="en-US" sz="2400" u="sng" dirty="0"/>
            </a:br>
            <a:r>
              <a:rPr lang="ru-RU" sz="2400" dirty="0"/>
              <a:t>Руководитель: к. б. н., доцент Козлов К.Н.</a:t>
            </a:r>
          </a:p>
        </p:txBody>
      </p:sp>
      <p:sp>
        <p:nvSpPr>
          <p:cNvPr id="4" name="Title 4"/>
          <p:cNvSpPr txBox="1">
            <a:spLocks/>
          </p:cNvSpPr>
          <p:nvPr/>
        </p:nvSpPr>
        <p:spPr bwMode="auto">
          <a:xfrm>
            <a:off x="0" y="277814"/>
            <a:ext cx="12192000" cy="1206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Gill Sans MT" charset="0"/>
                <a:cs typeface="Arial" charset="0"/>
              </a:defRPr>
            </a:lvl1pPr>
            <a:lvl2pPr marL="742950" indent="-285750" eaLnBrk="0" hangingPunct="0">
              <a:defRPr>
                <a:solidFill>
                  <a:schemeClr val="tx1"/>
                </a:solidFill>
                <a:latin typeface="Gill Sans MT" charset="0"/>
                <a:cs typeface="Arial" charset="0"/>
              </a:defRPr>
            </a:lvl2pPr>
            <a:lvl3pPr marL="1143000" indent="-228600" eaLnBrk="0" hangingPunct="0">
              <a:defRPr>
                <a:solidFill>
                  <a:schemeClr val="tx1"/>
                </a:solidFill>
                <a:latin typeface="Gill Sans MT" charset="0"/>
                <a:cs typeface="Arial" charset="0"/>
              </a:defRPr>
            </a:lvl3pPr>
            <a:lvl4pPr marL="1600200" indent="-228600" eaLnBrk="0" hangingPunct="0">
              <a:defRPr>
                <a:solidFill>
                  <a:schemeClr val="tx1"/>
                </a:solidFill>
                <a:latin typeface="Gill Sans MT" charset="0"/>
                <a:cs typeface="Arial" charset="0"/>
              </a:defRPr>
            </a:lvl4pPr>
            <a:lvl5pPr marL="2057400" indent="-228600" eaLnBrk="0" hangingPunct="0">
              <a:defRPr>
                <a:solidFill>
                  <a:schemeClr val="tx1"/>
                </a:solidFill>
                <a:latin typeface="Gill Sans MT" charset="0"/>
                <a:cs typeface="Arial" charset="0"/>
              </a:defRPr>
            </a:lvl5pPr>
            <a:lvl6pPr marL="2514600" indent="-228600" eaLnBrk="0" fontAlgn="base" hangingPunct="0">
              <a:spcBef>
                <a:spcPct val="0"/>
              </a:spcBef>
              <a:spcAft>
                <a:spcPct val="0"/>
              </a:spcAft>
              <a:defRPr>
                <a:solidFill>
                  <a:schemeClr val="tx1"/>
                </a:solidFill>
                <a:latin typeface="Gill Sans MT" charset="0"/>
                <a:cs typeface="Arial" charset="0"/>
              </a:defRPr>
            </a:lvl6pPr>
            <a:lvl7pPr marL="2971800" indent="-228600" eaLnBrk="0" fontAlgn="base" hangingPunct="0">
              <a:spcBef>
                <a:spcPct val="0"/>
              </a:spcBef>
              <a:spcAft>
                <a:spcPct val="0"/>
              </a:spcAft>
              <a:defRPr>
                <a:solidFill>
                  <a:schemeClr val="tx1"/>
                </a:solidFill>
                <a:latin typeface="Gill Sans MT" charset="0"/>
                <a:cs typeface="Arial" charset="0"/>
              </a:defRPr>
            </a:lvl7pPr>
            <a:lvl8pPr marL="3429000" indent="-228600" eaLnBrk="0" fontAlgn="base" hangingPunct="0">
              <a:spcBef>
                <a:spcPct val="0"/>
              </a:spcBef>
              <a:spcAft>
                <a:spcPct val="0"/>
              </a:spcAft>
              <a:defRPr>
                <a:solidFill>
                  <a:schemeClr val="tx1"/>
                </a:solidFill>
                <a:latin typeface="Gill Sans MT" charset="0"/>
                <a:cs typeface="Arial" charset="0"/>
              </a:defRPr>
            </a:lvl8pPr>
            <a:lvl9pPr marL="3886200" indent="-228600" eaLnBrk="0" fontAlgn="base" hangingPunct="0">
              <a:spcBef>
                <a:spcPct val="0"/>
              </a:spcBef>
              <a:spcAft>
                <a:spcPct val="0"/>
              </a:spcAft>
              <a:defRPr>
                <a:solidFill>
                  <a:schemeClr val="tx1"/>
                </a:solidFill>
                <a:latin typeface="Gill Sans MT" charset="0"/>
                <a:cs typeface="Arial" charset="0"/>
              </a:defRPr>
            </a:lvl9pPr>
          </a:lstStyle>
          <a:p>
            <a:pPr algn="ctr" eaLnBrk="1" hangingPunct="1"/>
            <a:r>
              <a:rPr lang="ru-RU" sz="2400" dirty="0">
                <a:latin typeface="Bookman Old Style" pitchFamily="18" charset="0"/>
              </a:rPr>
              <a:t>Санкт-Петербургский политехнический университет Петра Великого Физико-Механический Институт</a:t>
            </a:r>
          </a:p>
          <a:p>
            <a:pPr algn="ctr" eaLnBrk="1" hangingPunct="1"/>
            <a:r>
              <a:rPr lang="ru-RU" sz="2400" dirty="0" err="1">
                <a:latin typeface="Bookman Old Style" pitchFamily="18" charset="0"/>
              </a:rPr>
              <a:t>ВШПМиВФ</a:t>
            </a:r>
            <a:endParaRPr lang="ru-RU" sz="2400" dirty="0">
              <a:latin typeface="Bookman Old Style" pitchFamily="18" charset="0"/>
            </a:endParaRPr>
          </a:p>
          <a:p>
            <a:pPr algn="ctr" eaLnBrk="1" hangingPunct="1"/>
            <a:endParaRPr lang="ru-RU" sz="2400" dirty="0">
              <a:latin typeface="Bookman Old Style" pitchFamily="18" charset="0"/>
            </a:endParaRPr>
          </a:p>
          <a:p>
            <a:pPr algn="ctr" eaLnBrk="1" hangingPunct="1"/>
            <a:endParaRPr lang="ru-RU" sz="2400" dirty="0">
              <a:latin typeface="Cambria" pitchFamily="18" charset="0"/>
            </a:endParaRPr>
          </a:p>
        </p:txBody>
      </p:sp>
      <p:sp>
        <p:nvSpPr>
          <p:cNvPr id="5" name="Заголовок 1"/>
          <p:cNvSpPr txBox="1">
            <a:spLocks/>
          </p:cNvSpPr>
          <p:nvPr/>
        </p:nvSpPr>
        <p:spPr bwMode="auto">
          <a:xfrm>
            <a:off x="0" y="687133"/>
            <a:ext cx="12192000" cy="68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Gill Sans MT" charset="0"/>
                <a:cs typeface="Arial" charset="0"/>
              </a:defRPr>
            </a:lvl1pPr>
            <a:lvl2pPr marL="742950" indent="-285750" eaLnBrk="0" hangingPunct="0">
              <a:defRPr>
                <a:solidFill>
                  <a:schemeClr val="tx1"/>
                </a:solidFill>
                <a:latin typeface="Gill Sans MT" charset="0"/>
                <a:cs typeface="Arial" charset="0"/>
              </a:defRPr>
            </a:lvl2pPr>
            <a:lvl3pPr marL="1143000" indent="-228600" eaLnBrk="0" hangingPunct="0">
              <a:defRPr>
                <a:solidFill>
                  <a:schemeClr val="tx1"/>
                </a:solidFill>
                <a:latin typeface="Gill Sans MT" charset="0"/>
                <a:cs typeface="Arial" charset="0"/>
              </a:defRPr>
            </a:lvl3pPr>
            <a:lvl4pPr marL="1600200" indent="-228600" eaLnBrk="0" hangingPunct="0">
              <a:defRPr>
                <a:solidFill>
                  <a:schemeClr val="tx1"/>
                </a:solidFill>
                <a:latin typeface="Gill Sans MT" charset="0"/>
                <a:cs typeface="Arial" charset="0"/>
              </a:defRPr>
            </a:lvl4pPr>
            <a:lvl5pPr marL="2057400" indent="-228600" eaLnBrk="0" hangingPunct="0">
              <a:defRPr>
                <a:solidFill>
                  <a:schemeClr val="tx1"/>
                </a:solidFill>
                <a:latin typeface="Gill Sans MT" charset="0"/>
                <a:cs typeface="Arial" charset="0"/>
              </a:defRPr>
            </a:lvl5pPr>
            <a:lvl6pPr marL="2514600" indent="-228600" eaLnBrk="0" fontAlgn="base" hangingPunct="0">
              <a:spcBef>
                <a:spcPct val="0"/>
              </a:spcBef>
              <a:spcAft>
                <a:spcPct val="0"/>
              </a:spcAft>
              <a:defRPr>
                <a:solidFill>
                  <a:schemeClr val="tx1"/>
                </a:solidFill>
                <a:latin typeface="Gill Sans MT" charset="0"/>
                <a:cs typeface="Arial" charset="0"/>
              </a:defRPr>
            </a:lvl6pPr>
            <a:lvl7pPr marL="2971800" indent="-228600" eaLnBrk="0" fontAlgn="base" hangingPunct="0">
              <a:spcBef>
                <a:spcPct val="0"/>
              </a:spcBef>
              <a:spcAft>
                <a:spcPct val="0"/>
              </a:spcAft>
              <a:defRPr>
                <a:solidFill>
                  <a:schemeClr val="tx1"/>
                </a:solidFill>
                <a:latin typeface="Gill Sans MT" charset="0"/>
                <a:cs typeface="Arial" charset="0"/>
              </a:defRPr>
            </a:lvl7pPr>
            <a:lvl8pPr marL="3429000" indent="-228600" eaLnBrk="0" fontAlgn="base" hangingPunct="0">
              <a:spcBef>
                <a:spcPct val="0"/>
              </a:spcBef>
              <a:spcAft>
                <a:spcPct val="0"/>
              </a:spcAft>
              <a:defRPr>
                <a:solidFill>
                  <a:schemeClr val="tx1"/>
                </a:solidFill>
                <a:latin typeface="Gill Sans MT" charset="0"/>
                <a:cs typeface="Arial" charset="0"/>
              </a:defRPr>
            </a:lvl8pPr>
            <a:lvl9pPr marL="3886200" indent="-228600" eaLnBrk="0" fontAlgn="base" hangingPunct="0">
              <a:spcBef>
                <a:spcPct val="0"/>
              </a:spcBef>
              <a:spcAft>
                <a:spcPct val="0"/>
              </a:spcAft>
              <a:defRPr>
                <a:solidFill>
                  <a:schemeClr val="tx1"/>
                </a:solidFill>
                <a:latin typeface="Gill Sans MT" charset="0"/>
                <a:cs typeface="Arial" charset="0"/>
              </a:defRPr>
            </a:lvl9pPr>
          </a:lstStyle>
          <a:p>
            <a:pPr algn="ctr" eaLnBrk="1" hangingPunct="1">
              <a:lnSpc>
                <a:spcPct val="80000"/>
              </a:lnSpc>
            </a:pPr>
            <a:endParaRPr lang="ru-RU" sz="3600" dirty="0">
              <a:latin typeface="Bookman Old Style" pitchFamily="18" charset="0"/>
            </a:endParaRPr>
          </a:p>
          <a:p>
            <a:pPr algn="ctr" eaLnBrk="1" hangingPunct="1">
              <a:lnSpc>
                <a:spcPct val="80000"/>
              </a:lnSpc>
            </a:pPr>
            <a:endParaRPr lang="en-US" sz="3600" dirty="0">
              <a:latin typeface="Bookman Old Style" pitchFamily="18" charset="0"/>
            </a:endParaRPr>
          </a:p>
          <a:p>
            <a:pPr algn="ctr" eaLnBrk="1" hangingPunct="1">
              <a:lnSpc>
                <a:spcPct val="80000"/>
              </a:lnSpc>
            </a:pPr>
            <a:r>
              <a:rPr lang="ru-RU" sz="3200" b="1" dirty="0"/>
              <a:t>Разработка модели глубокого обучения для прогнозирования продуктивности сельскохозяйственных растений по генетическим маркерам</a:t>
            </a:r>
          </a:p>
          <a:p>
            <a:pPr algn="ctr" eaLnBrk="1" hangingPunct="1">
              <a:lnSpc>
                <a:spcPct val="80000"/>
              </a:lnSpc>
            </a:pPr>
            <a:endParaRPr lang="en-US" sz="3200" dirty="0">
              <a:latin typeface="Bookman Old Style" pitchFamily="18" charset="0"/>
            </a:endParaRPr>
          </a:p>
          <a:p>
            <a:pPr algn="ctr" eaLnBrk="1" hangingPunct="1">
              <a:lnSpc>
                <a:spcPct val="80000"/>
              </a:lnSpc>
            </a:pPr>
            <a:r>
              <a:rPr lang="ru-RU" sz="2400" dirty="0">
                <a:latin typeface="Bookman Old Style" pitchFamily="18" charset="0"/>
              </a:rPr>
              <a:t>Выпускная квалификационная работа</a:t>
            </a:r>
            <a:endParaRPr lang="en-US" sz="2400" dirty="0">
              <a:latin typeface="Bookman Old Style" pitchFamily="18" charset="0"/>
            </a:endParaRPr>
          </a:p>
          <a:p>
            <a:pPr algn="ctr" eaLnBrk="1" hangingPunct="1">
              <a:lnSpc>
                <a:spcPct val="80000"/>
              </a:lnSpc>
            </a:pPr>
            <a:endParaRPr lang="ru-RU" sz="2000" dirty="0">
              <a:latin typeface="Cambria" pitchFamily="18" charset="0"/>
            </a:endParaRPr>
          </a:p>
        </p:txBody>
      </p:sp>
      <p:sp>
        <p:nvSpPr>
          <p:cNvPr id="7" name="Rectangle 5"/>
          <p:cNvSpPr>
            <a:spLocks noChangeArrowheads="1"/>
          </p:cNvSpPr>
          <p:nvPr/>
        </p:nvSpPr>
        <p:spPr bwMode="auto">
          <a:xfrm>
            <a:off x="8381652" y="5229225"/>
            <a:ext cx="11881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ru-RU" dirty="0">
                <a:latin typeface="Bookman Old Style" pitchFamily="18" charset="0"/>
              </a:rPr>
              <a:t>08</a:t>
            </a:r>
            <a:r>
              <a:rPr lang="en-US" dirty="0">
                <a:latin typeface="Bookman Old Style" pitchFamily="18" charset="0"/>
              </a:rPr>
              <a:t>.</a:t>
            </a:r>
            <a:r>
              <a:rPr lang="ru-RU" dirty="0">
                <a:latin typeface="Bookman Old Style" pitchFamily="18" charset="0"/>
              </a:rPr>
              <a:t>06</a:t>
            </a:r>
            <a:r>
              <a:rPr lang="en-US" dirty="0">
                <a:latin typeface="Bookman Old Style" pitchFamily="18" charset="0"/>
              </a:rPr>
              <a:t>.2</a:t>
            </a:r>
            <a:r>
              <a:rPr lang="ru-RU" dirty="0">
                <a:latin typeface="Bookman Old Style" pitchFamily="18" charset="0"/>
              </a:rPr>
              <a:t>6</a:t>
            </a:r>
            <a:endParaRPr lang="ru-RU" dirty="0">
              <a:latin typeface="Cambria" pitchFamily="18" charset="0"/>
            </a:endParaRPr>
          </a:p>
        </p:txBody>
      </p:sp>
      <p:pic>
        <p:nvPicPr>
          <p:cNvPr id="6" name="Рисунок 5">
            <a:extLst>
              <a:ext uri="{FF2B5EF4-FFF2-40B4-BE49-F238E27FC236}">
                <a16:creationId xmlns:a16="http://schemas.microsoft.com/office/drawing/2014/main" id="{E9F5D1E9-A17D-44E0-AF73-693C70AAB6F6}"/>
              </a:ext>
            </a:extLst>
          </p:cNvPr>
          <p:cNvPicPr>
            <a:picLocks noChangeAspect="1"/>
          </p:cNvPicPr>
          <p:nvPr/>
        </p:nvPicPr>
        <p:blipFill>
          <a:blip r:embed="rId3"/>
          <a:stretch>
            <a:fillRect/>
          </a:stretch>
        </p:blipFill>
        <p:spPr>
          <a:xfrm>
            <a:off x="5142058" y="6093296"/>
            <a:ext cx="1996786" cy="532476"/>
          </a:xfrm>
          <a:prstGeom prst="rect">
            <a:avLst/>
          </a:prstGeom>
        </p:spPr>
      </p:pic>
    </p:spTree>
    <p:extLst>
      <p:ext uri="{BB962C8B-B14F-4D97-AF65-F5344CB8AC3E}">
        <p14:creationId xmlns:p14="http://schemas.microsoft.com/office/powerpoint/2010/main" val="3242422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67ADAFC-271B-63E8-3C9B-D3F32E1FB2B8}"/>
              </a:ext>
            </a:extLst>
          </p:cNvPr>
          <p:cNvSpPr>
            <a:spLocks noGrp="1"/>
          </p:cNvSpPr>
          <p:nvPr>
            <p:ph type="title"/>
          </p:nvPr>
        </p:nvSpPr>
        <p:spPr/>
        <p:txBody>
          <a:bodyPr>
            <a:normAutofit fontScale="90000"/>
          </a:bodyPr>
          <a:lstStyle/>
          <a:p>
            <a:r>
              <a:rPr lang="ru-RU" sz="3600" b="1" dirty="0"/>
              <a:t>Базовые понятия генетики</a:t>
            </a:r>
            <a:br>
              <a:rPr lang="ru-RU" b="1" dirty="0"/>
            </a:br>
            <a:endParaRPr lang="ru-RU" dirty="0"/>
          </a:p>
        </p:txBody>
      </p:sp>
      <p:sp>
        <p:nvSpPr>
          <p:cNvPr id="3" name="Номер слайда 2">
            <a:extLst>
              <a:ext uri="{FF2B5EF4-FFF2-40B4-BE49-F238E27FC236}">
                <a16:creationId xmlns:a16="http://schemas.microsoft.com/office/drawing/2014/main" id="{85649950-3F17-6D33-7890-8693E6F3F9E3}"/>
              </a:ext>
            </a:extLst>
          </p:cNvPr>
          <p:cNvSpPr>
            <a:spLocks noGrp="1"/>
          </p:cNvSpPr>
          <p:nvPr>
            <p:ph type="sldNum" sz="quarter" idx="12"/>
          </p:nvPr>
        </p:nvSpPr>
        <p:spPr/>
        <p:txBody>
          <a:bodyPr/>
          <a:lstStyle/>
          <a:p>
            <a:fld id="{B19B0651-EE4F-4900-A07F-96A6BFA9D0F0}" type="slidenum">
              <a:rPr lang="ru-RU" smtClean="0"/>
              <a:pPr/>
              <a:t>2</a:t>
            </a:fld>
            <a:endParaRPr lang="ru-RU" dirty="0"/>
          </a:p>
        </p:txBody>
      </p:sp>
      <p:sp>
        <p:nvSpPr>
          <p:cNvPr id="4" name="Объект 3">
            <a:extLst>
              <a:ext uri="{FF2B5EF4-FFF2-40B4-BE49-F238E27FC236}">
                <a16:creationId xmlns:a16="http://schemas.microsoft.com/office/drawing/2014/main" id="{54CCB94D-1DA0-AC0D-B0D2-1535B94D7D81}"/>
              </a:ext>
            </a:extLst>
          </p:cNvPr>
          <p:cNvSpPr>
            <a:spLocks noGrp="1"/>
          </p:cNvSpPr>
          <p:nvPr>
            <p:ph sz="quarter" idx="1"/>
          </p:nvPr>
        </p:nvSpPr>
        <p:spPr>
          <a:xfrm>
            <a:off x="609600" y="1219200"/>
            <a:ext cx="6350496" cy="3145904"/>
          </a:xfrm>
        </p:spPr>
        <p:txBody>
          <a:bodyPr>
            <a:noAutofit/>
          </a:bodyPr>
          <a:lstStyle/>
          <a:p>
            <a:pPr marL="0" indent="0">
              <a:buNone/>
            </a:pPr>
            <a:r>
              <a:rPr lang="ru-RU" sz="2100" b="1" dirty="0"/>
              <a:t>Что такое ген?</a:t>
            </a:r>
            <a:endParaRPr lang="ru-RU" sz="2100" dirty="0"/>
          </a:p>
          <a:p>
            <a:pPr marL="274320" lvl="1" indent="0">
              <a:buNone/>
            </a:pPr>
            <a:r>
              <a:rPr lang="ru-RU" sz="2100" dirty="0"/>
              <a:t>Участок ДНК, кодирующий белок или РНК. Определяет наследственные признаки.</a:t>
            </a:r>
          </a:p>
          <a:p>
            <a:pPr marL="274320" lvl="1" indent="0">
              <a:buNone/>
            </a:pPr>
            <a:r>
              <a:rPr lang="ru-RU" sz="2100" dirty="0"/>
              <a:t>У растений тысячи генов, расположенных на хромосомах.</a:t>
            </a:r>
          </a:p>
          <a:p>
            <a:pPr marL="0" indent="0">
              <a:buNone/>
            </a:pPr>
            <a:r>
              <a:rPr lang="ru-RU" sz="2100" b="1" dirty="0" err="1"/>
              <a:t>Эпистаз</a:t>
            </a:r>
            <a:r>
              <a:rPr lang="ru-RU" sz="2100" dirty="0"/>
              <a:t> - это взаимодействие генов, когда один ген влияет на проявление другого.</a:t>
            </a:r>
          </a:p>
          <a:p>
            <a:pPr marL="0" indent="0">
              <a:buNone/>
            </a:pPr>
            <a:r>
              <a:rPr lang="ru-RU" sz="2100" b="1" dirty="0"/>
              <a:t>Селекция </a:t>
            </a:r>
            <a:r>
              <a:rPr lang="ru-RU" sz="2100" dirty="0"/>
              <a:t>- это отбор лучших растений для размножения.</a:t>
            </a:r>
          </a:p>
          <a:p>
            <a:endParaRPr lang="ru-RU" sz="2000" dirty="0"/>
          </a:p>
        </p:txBody>
      </p:sp>
      <p:pic>
        <p:nvPicPr>
          <p:cNvPr id="7" name="Объект 5">
            <a:extLst>
              <a:ext uri="{FF2B5EF4-FFF2-40B4-BE49-F238E27FC236}">
                <a16:creationId xmlns:a16="http://schemas.microsoft.com/office/drawing/2014/main" id="{35BC9DDC-6AE9-E0F4-5191-C583CB02BCC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86159" y="1295399"/>
            <a:ext cx="5198473" cy="3330271"/>
          </a:xfrm>
          <a:prstGeom prst="rect">
            <a:avLst/>
          </a:prstGeom>
        </p:spPr>
      </p:pic>
      <p:sp>
        <p:nvSpPr>
          <p:cNvPr id="9" name="TextBox 8">
            <a:extLst>
              <a:ext uri="{FF2B5EF4-FFF2-40B4-BE49-F238E27FC236}">
                <a16:creationId xmlns:a16="http://schemas.microsoft.com/office/drawing/2014/main" id="{595D4B25-70F7-F8A8-5573-4C42C3CF4BDD}"/>
              </a:ext>
            </a:extLst>
          </p:cNvPr>
          <p:cNvSpPr txBox="1"/>
          <p:nvPr/>
        </p:nvSpPr>
        <p:spPr>
          <a:xfrm>
            <a:off x="609600" y="4581128"/>
            <a:ext cx="10686779" cy="1384995"/>
          </a:xfrm>
          <a:prstGeom prst="rect">
            <a:avLst/>
          </a:prstGeom>
          <a:noFill/>
        </p:spPr>
        <p:txBody>
          <a:bodyPr wrap="square">
            <a:spAutoFit/>
          </a:bodyPr>
          <a:lstStyle/>
          <a:p>
            <a:r>
              <a:rPr lang="ru-RU" sz="2100" b="1" dirty="0"/>
              <a:t>Что такое SNP (ОНП — однонуклеотидный полиморфизм)?</a:t>
            </a:r>
            <a:r>
              <a:rPr lang="ru-RU" sz="2100" dirty="0"/>
              <a:t> </a:t>
            </a:r>
          </a:p>
          <a:p>
            <a:r>
              <a:rPr lang="ru-RU" sz="2100" b="1" dirty="0"/>
              <a:t>	SNP (снип)</a:t>
            </a:r>
            <a:r>
              <a:rPr lang="ru-RU" sz="2100" dirty="0"/>
              <a:t> — отличие в ДНК в одной позиции (A, T, G или C). Применяется в качестве генетических маркеров</a:t>
            </a:r>
            <a:br>
              <a:rPr lang="ru-RU" sz="2100" dirty="0"/>
            </a:br>
            <a:r>
              <a:rPr lang="ru-RU" sz="2100" i="1" dirty="0"/>
              <a:t>Пример: у одного растения C, у другого T.</a:t>
            </a:r>
          </a:p>
        </p:txBody>
      </p:sp>
    </p:spTree>
    <p:extLst>
      <p:ext uri="{BB962C8B-B14F-4D97-AF65-F5344CB8AC3E}">
        <p14:creationId xmlns:p14="http://schemas.microsoft.com/office/powerpoint/2010/main" val="2201258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9951A8C-7EE0-8684-B3E3-D9FEBC9B2D05}"/>
              </a:ext>
            </a:extLst>
          </p:cNvPr>
          <p:cNvSpPr>
            <a:spLocks noGrp="1"/>
          </p:cNvSpPr>
          <p:nvPr>
            <p:ph type="title"/>
          </p:nvPr>
        </p:nvSpPr>
        <p:spPr/>
        <p:txBody>
          <a:bodyPr>
            <a:normAutofit fontScale="90000"/>
          </a:bodyPr>
          <a:lstStyle/>
          <a:p>
            <a:r>
              <a:rPr lang="ru-RU" sz="3600" b="1" dirty="0"/>
              <a:t>Актуальность и проблема</a:t>
            </a:r>
            <a:br>
              <a:rPr lang="ru-RU" b="1" dirty="0"/>
            </a:br>
            <a:endParaRPr lang="ru-RU" b="1" dirty="0"/>
          </a:p>
        </p:txBody>
      </p:sp>
      <p:sp>
        <p:nvSpPr>
          <p:cNvPr id="3" name="Номер слайда 2">
            <a:extLst>
              <a:ext uri="{FF2B5EF4-FFF2-40B4-BE49-F238E27FC236}">
                <a16:creationId xmlns:a16="http://schemas.microsoft.com/office/drawing/2014/main" id="{BD97A22C-1889-B125-28D0-BDF62FB39F0B}"/>
              </a:ext>
            </a:extLst>
          </p:cNvPr>
          <p:cNvSpPr>
            <a:spLocks noGrp="1"/>
          </p:cNvSpPr>
          <p:nvPr>
            <p:ph type="sldNum" sz="quarter" idx="12"/>
          </p:nvPr>
        </p:nvSpPr>
        <p:spPr/>
        <p:txBody>
          <a:bodyPr/>
          <a:lstStyle/>
          <a:p>
            <a:fld id="{B19B0651-EE4F-4900-A07F-96A6BFA9D0F0}" type="slidenum">
              <a:rPr lang="ru-RU" smtClean="0"/>
              <a:pPr/>
              <a:t>3</a:t>
            </a:fld>
            <a:endParaRPr lang="ru-RU" dirty="0"/>
          </a:p>
        </p:txBody>
      </p:sp>
      <p:sp>
        <p:nvSpPr>
          <p:cNvPr id="4" name="Объект 3">
            <a:extLst>
              <a:ext uri="{FF2B5EF4-FFF2-40B4-BE49-F238E27FC236}">
                <a16:creationId xmlns:a16="http://schemas.microsoft.com/office/drawing/2014/main" id="{11DA72CE-4C0F-B2B1-4F9E-835CC303A2F6}"/>
              </a:ext>
            </a:extLst>
          </p:cNvPr>
          <p:cNvSpPr>
            <a:spLocks noGrp="1"/>
          </p:cNvSpPr>
          <p:nvPr>
            <p:ph sz="quarter" idx="1"/>
          </p:nvPr>
        </p:nvSpPr>
        <p:spPr/>
        <p:txBody>
          <a:bodyPr/>
          <a:lstStyle/>
          <a:p>
            <a:r>
              <a:rPr lang="ru-RU" sz="2000" b="1" dirty="0"/>
              <a:t>Вызов:</a:t>
            </a:r>
            <a:r>
              <a:rPr lang="ru-RU" sz="2000" dirty="0"/>
              <a:t> Традиционная селекция медленная, статистические методы (GBLUP, </a:t>
            </a:r>
            <a:r>
              <a:rPr lang="ru-RU" sz="2000" dirty="0" err="1"/>
              <a:t>rrBLUP</a:t>
            </a:r>
            <a:r>
              <a:rPr lang="ru-RU" sz="2000" dirty="0"/>
              <a:t>) плохо ловят нелинейные и эпистатические взаимодействия генов. </a:t>
            </a:r>
          </a:p>
          <a:p>
            <a:r>
              <a:rPr lang="ru-RU" sz="2000" b="1" dirty="0"/>
              <a:t>Идея:</a:t>
            </a:r>
            <a:r>
              <a:rPr lang="ru-RU" sz="2000" dirty="0"/>
              <a:t> Трансформеры (механизм внимания) эффективны для сложных зависимостей.</a:t>
            </a:r>
          </a:p>
          <a:p>
            <a:r>
              <a:rPr lang="ru-RU" sz="2000" b="1" dirty="0"/>
              <a:t>Проблема:</a:t>
            </a:r>
            <a:r>
              <a:rPr lang="ru-RU" sz="2000" dirty="0"/>
              <a:t> Не хватает интерпретируемых моделей для разных культур.</a:t>
            </a:r>
          </a:p>
          <a:p>
            <a:endParaRPr lang="ru-RU" dirty="0"/>
          </a:p>
        </p:txBody>
      </p:sp>
      <p:pic>
        <p:nvPicPr>
          <p:cNvPr id="5" name="Рисунок 4">
            <a:extLst>
              <a:ext uri="{FF2B5EF4-FFF2-40B4-BE49-F238E27FC236}">
                <a16:creationId xmlns:a16="http://schemas.microsoft.com/office/drawing/2014/main" id="{69B90908-A897-B374-8ADE-DFD1A7C2DD8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9786" y="2759060"/>
            <a:ext cx="2614153" cy="3485538"/>
          </a:xfrm>
          <a:prstGeom prst="rect">
            <a:avLst/>
          </a:prstGeom>
        </p:spPr>
      </p:pic>
      <p:pic>
        <p:nvPicPr>
          <p:cNvPr id="6" name="Рисунок 5">
            <a:extLst>
              <a:ext uri="{FF2B5EF4-FFF2-40B4-BE49-F238E27FC236}">
                <a16:creationId xmlns:a16="http://schemas.microsoft.com/office/drawing/2014/main" id="{CB4F72CE-1A5E-82F5-0DF2-8CA7C844099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62091" y="2770496"/>
            <a:ext cx="3479597" cy="3479597"/>
          </a:xfrm>
          <a:prstGeom prst="rect">
            <a:avLst/>
          </a:prstGeom>
        </p:spPr>
      </p:pic>
      <p:pic>
        <p:nvPicPr>
          <p:cNvPr id="7" name="Рисунок 6">
            <a:extLst>
              <a:ext uri="{FF2B5EF4-FFF2-40B4-BE49-F238E27FC236}">
                <a16:creationId xmlns:a16="http://schemas.microsoft.com/office/drawing/2014/main" id="{2AE29A95-5E58-EED9-18C3-0EAE339712A1}"/>
              </a:ext>
            </a:extLst>
          </p:cNvPr>
          <p:cNvPicPr>
            <a:picLocks noChangeAspect="1"/>
          </p:cNvPicPr>
          <p:nvPr/>
        </p:nvPicPr>
        <p:blipFill>
          <a:blip r:embed="rId5">
            <a:extLst>
              <a:ext uri="{28A0092B-C50C-407E-A947-70E740481C1C}">
                <a14:useLocalDpi xmlns:a14="http://schemas.microsoft.com/office/drawing/2010/main" val="0"/>
              </a:ext>
            </a:extLst>
          </a:blip>
          <a:srcRect t="-357" r="48564"/>
          <a:stretch>
            <a:fillRect/>
          </a:stretch>
        </p:blipFill>
        <p:spPr>
          <a:xfrm>
            <a:off x="8494961" y="2770496"/>
            <a:ext cx="2707180" cy="3462664"/>
          </a:xfrm>
          <a:prstGeom prst="rect">
            <a:avLst/>
          </a:prstGeom>
        </p:spPr>
      </p:pic>
    </p:spTree>
    <p:extLst>
      <p:ext uri="{BB962C8B-B14F-4D97-AF65-F5344CB8AC3E}">
        <p14:creationId xmlns:p14="http://schemas.microsoft.com/office/powerpoint/2010/main" val="722921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D32706-146A-B6FB-7F85-F7DB82C86A99}"/>
              </a:ext>
            </a:extLst>
          </p:cNvPr>
          <p:cNvSpPr>
            <a:spLocks noGrp="1"/>
          </p:cNvSpPr>
          <p:nvPr>
            <p:ph type="title"/>
          </p:nvPr>
        </p:nvSpPr>
        <p:spPr/>
        <p:txBody>
          <a:bodyPr>
            <a:normAutofit fontScale="90000"/>
          </a:bodyPr>
          <a:lstStyle/>
          <a:p>
            <a:r>
              <a:rPr lang="ru-RU" sz="3600" b="1" dirty="0"/>
              <a:t>Обзор существующих решений</a:t>
            </a:r>
            <a:br>
              <a:rPr lang="ru-RU" b="1" dirty="0"/>
            </a:br>
            <a:endParaRPr lang="ru-RU" dirty="0"/>
          </a:p>
        </p:txBody>
      </p:sp>
      <p:sp>
        <p:nvSpPr>
          <p:cNvPr id="3" name="Номер слайда 2">
            <a:extLst>
              <a:ext uri="{FF2B5EF4-FFF2-40B4-BE49-F238E27FC236}">
                <a16:creationId xmlns:a16="http://schemas.microsoft.com/office/drawing/2014/main" id="{F59DE8FA-78A6-C88F-803B-837D772661FC}"/>
              </a:ext>
            </a:extLst>
          </p:cNvPr>
          <p:cNvSpPr>
            <a:spLocks noGrp="1"/>
          </p:cNvSpPr>
          <p:nvPr>
            <p:ph type="sldNum" sz="quarter" idx="12"/>
          </p:nvPr>
        </p:nvSpPr>
        <p:spPr/>
        <p:txBody>
          <a:bodyPr/>
          <a:lstStyle/>
          <a:p>
            <a:fld id="{B19B0651-EE4F-4900-A07F-96A6BFA9D0F0}" type="slidenum">
              <a:rPr lang="ru-RU" smtClean="0"/>
              <a:pPr/>
              <a:t>4</a:t>
            </a:fld>
            <a:endParaRPr lang="ru-RU" dirty="0"/>
          </a:p>
        </p:txBody>
      </p:sp>
      <p:sp>
        <p:nvSpPr>
          <p:cNvPr id="4" name="Объект 3">
            <a:extLst>
              <a:ext uri="{FF2B5EF4-FFF2-40B4-BE49-F238E27FC236}">
                <a16:creationId xmlns:a16="http://schemas.microsoft.com/office/drawing/2014/main" id="{97E87B2A-44B6-3EE0-9633-A23A0D297E03}"/>
              </a:ext>
            </a:extLst>
          </p:cNvPr>
          <p:cNvSpPr>
            <a:spLocks noGrp="1"/>
          </p:cNvSpPr>
          <p:nvPr>
            <p:ph sz="quarter" idx="1"/>
          </p:nvPr>
        </p:nvSpPr>
        <p:spPr/>
        <p:txBody>
          <a:bodyPr>
            <a:noAutofit/>
          </a:bodyPr>
          <a:lstStyle/>
          <a:p>
            <a:r>
              <a:rPr lang="ru-RU" sz="1400" b="1" dirty="0"/>
              <a:t>Классические статистические методы:</a:t>
            </a:r>
            <a:endParaRPr lang="ru-RU" sz="1400" dirty="0"/>
          </a:p>
          <a:p>
            <a:pPr lvl="1"/>
            <a:r>
              <a:rPr lang="ru-RU" sz="1400" dirty="0" err="1"/>
              <a:t>rrBLUP</a:t>
            </a:r>
            <a:r>
              <a:rPr lang="ru-RU" sz="1400" dirty="0"/>
              <a:t>, GBLUP, байесовские подходы (BGLR)</a:t>
            </a:r>
          </a:p>
          <a:p>
            <a:pPr lvl="1"/>
            <a:r>
              <a:rPr lang="ru-RU" sz="1400" b="1" dirty="0"/>
              <a:t>Преимущество:</a:t>
            </a:r>
            <a:r>
              <a:rPr lang="ru-RU" sz="1400" dirty="0"/>
              <a:t> эффективны при m &gt;&gt; n (SNP больше образцов)</a:t>
            </a:r>
          </a:p>
          <a:p>
            <a:pPr lvl="1"/>
            <a:r>
              <a:rPr lang="ru-RU" sz="1400" b="1" dirty="0"/>
              <a:t>Ограничение:</a:t>
            </a:r>
            <a:r>
              <a:rPr lang="ru-RU" sz="1400" dirty="0"/>
              <a:t> не улавливают нелинейные и эпистатические взаимодействия</a:t>
            </a:r>
          </a:p>
          <a:p>
            <a:r>
              <a:rPr lang="ru-RU" sz="1400" b="1" dirty="0"/>
              <a:t>Методы глубокого обучения (CNN):</a:t>
            </a:r>
            <a:endParaRPr lang="ru-RU" sz="1400" dirty="0"/>
          </a:p>
          <a:p>
            <a:pPr lvl="1"/>
            <a:r>
              <a:rPr lang="ru-RU" sz="1400" dirty="0"/>
              <a:t>Свёрточные сети для выявления локальных паттернов</a:t>
            </a:r>
          </a:p>
          <a:p>
            <a:pPr lvl="1"/>
            <a:r>
              <a:rPr lang="ru-RU" sz="1400" b="1" dirty="0"/>
              <a:t>Пример:</a:t>
            </a:r>
            <a:r>
              <a:rPr lang="ru-RU" sz="1400" dirty="0"/>
              <a:t> прогнозирование признаков нута [</a:t>
            </a:r>
            <a:r>
              <a:rPr lang="ru-RU" sz="1400" dirty="0" err="1"/>
              <a:t>Bankin</a:t>
            </a:r>
            <a:r>
              <a:rPr lang="ru-RU" sz="1400" dirty="0"/>
              <a:t> </a:t>
            </a:r>
            <a:r>
              <a:rPr lang="ru-RU" sz="1400" dirty="0" err="1"/>
              <a:t>et</a:t>
            </a:r>
            <a:r>
              <a:rPr lang="ru-RU" sz="1400" dirty="0"/>
              <a:t> </a:t>
            </a:r>
            <a:r>
              <a:rPr lang="ru-RU" sz="1400" dirty="0" err="1"/>
              <a:t>al</a:t>
            </a:r>
            <a:r>
              <a:rPr lang="ru-RU" sz="1400" dirty="0"/>
              <a:t>., 2024]</a:t>
            </a:r>
          </a:p>
          <a:p>
            <a:pPr lvl="1"/>
            <a:r>
              <a:rPr lang="ru-RU" sz="1400" b="1" dirty="0"/>
              <a:t>Ограничение:</a:t>
            </a:r>
            <a:r>
              <a:rPr lang="ru-RU" sz="1400" dirty="0"/>
              <a:t> не всегда учитывают глобальные взаимосвязи</a:t>
            </a:r>
          </a:p>
          <a:p>
            <a:r>
              <a:rPr lang="ru-RU" sz="1400" b="1" dirty="0" err="1"/>
              <a:t>Трансформерные</a:t>
            </a:r>
            <a:r>
              <a:rPr lang="ru-RU" sz="1400" b="1" dirty="0"/>
              <a:t> архитектуры:</a:t>
            </a:r>
            <a:endParaRPr lang="ru-RU" sz="1400" dirty="0"/>
          </a:p>
          <a:p>
            <a:pPr lvl="1"/>
            <a:r>
              <a:rPr lang="ru-RU" sz="1400" dirty="0"/>
              <a:t>Механизм многоголового внимания для моделирования любых взаимодействий [</a:t>
            </a:r>
            <a:r>
              <a:rPr lang="ru-RU" sz="1400" dirty="0" err="1"/>
              <a:t>Vaswani</a:t>
            </a:r>
            <a:r>
              <a:rPr lang="ru-RU" sz="1400" dirty="0"/>
              <a:t> </a:t>
            </a:r>
            <a:r>
              <a:rPr lang="ru-RU" sz="1400" dirty="0" err="1"/>
              <a:t>et</a:t>
            </a:r>
            <a:r>
              <a:rPr lang="ru-RU" sz="1400" dirty="0"/>
              <a:t> </a:t>
            </a:r>
            <a:r>
              <a:rPr lang="ru-RU" sz="1400" dirty="0" err="1"/>
              <a:t>al</a:t>
            </a:r>
            <a:r>
              <a:rPr lang="ru-RU" sz="1400" dirty="0"/>
              <a:t>., 2017]</a:t>
            </a:r>
          </a:p>
          <a:p>
            <a:pPr lvl="1"/>
            <a:r>
              <a:rPr lang="ru-RU" sz="1400" b="1" dirty="0"/>
              <a:t>Примеры:</a:t>
            </a:r>
            <a:r>
              <a:rPr lang="ru-RU" sz="1400" dirty="0"/>
              <a:t> предсказание устойчивости ячменя к фузариозу [</a:t>
            </a:r>
            <a:r>
              <a:rPr lang="ru-RU" sz="1400" dirty="0" err="1"/>
              <a:t>Jubair</a:t>
            </a:r>
            <a:r>
              <a:rPr lang="ru-RU" sz="1400" dirty="0"/>
              <a:t> </a:t>
            </a:r>
            <a:r>
              <a:rPr lang="ru-RU" sz="1400" dirty="0" err="1"/>
              <a:t>et</a:t>
            </a:r>
            <a:r>
              <a:rPr lang="ru-RU" sz="1400" dirty="0"/>
              <a:t> </a:t>
            </a:r>
            <a:r>
              <a:rPr lang="ru-RU" sz="1400" dirty="0" err="1"/>
              <a:t>al</a:t>
            </a:r>
            <a:r>
              <a:rPr lang="ru-RU" sz="1400" dirty="0"/>
              <a:t>., 2021]</a:t>
            </a:r>
          </a:p>
          <a:p>
            <a:pPr lvl="1"/>
            <a:r>
              <a:rPr lang="ru-RU" sz="1400" b="1" dirty="0"/>
              <a:t>Ограничение:</a:t>
            </a:r>
            <a:r>
              <a:rPr lang="ru-RU" sz="1400" dirty="0"/>
              <a:t> требуют адаптации к SNP-данным (агрегация по генам)</a:t>
            </a:r>
          </a:p>
        </p:txBody>
      </p:sp>
      <p:sp>
        <p:nvSpPr>
          <p:cNvPr id="5" name="Объект 4">
            <a:extLst>
              <a:ext uri="{FF2B5EF4-FFF2-40B4-BE49-F238E27FC236}">
                <a16:creationId xmlns:a16="http://schemas.microsoft.com/office/drawing/2014/main" id="{B3C6F000-779F-548B-A41B-E71EA0D4596F}"/>
              </a:ext>
            </a:extLst>
          </p:cNvPr>
          <p:cNvSpPr>
            <a:spLocks noGrp="1"/>
          </p:cNvSpPr>
          <p:nvPr>
            <p:ph sz="quarter" idx="2"/>
          </p:nvPr>
        </p:nvSpPr>
        <p:spPr/>
        <p:txBody>
          <a:bodyPr>
            <a:normAutofit/>
          </a:bodyPr>
          <a:lstStyle/>
          <a:p>
            <a:r>
              <a:rPr lang="ru-RU" sz="1600" b="1" dirty="0"/>
              <a:t>Предшественник (Реутов, 2025):</a:t>
            </a:r>
            <a:endParaRPr lang="ru-RU" sz="1600" dirty="0"/>
          </a:p>
          <a:p>
            <a:pPr lvl="1"/>
            <a:r>
              <a:rPr lang="ru-RU" sz="1600" dirty="0" err="1"/>
              <a:t>Трансформерная</a:t>
            </a:r>
            <a:r>
              <a:rPr lang="ru-RU" sz="1600" dirty="0"/>
              <a:t> модель для нута (TSW, </a:t>
            </a:r>
            <a:r>
              <a:rPr lang="ru-RU" sz="1600" dirty="0" err="1"/>
              <a:t>Pht</a:t>
            </a:r>
            <a:r>
              <a:rPr lang="ru-RU" sz="1600" dirty="0"/>
              <a:t>, </a:t>
            </a:r>
            <a:r>
              <a:rPr lang="ru-RU" sz="1600" dirty="0" err="1"/>
              <a:t>Bvld</a:t>
            </a:r>
            <a:r>
              <a:rPr lang="ru-RU" sz="1600" dirty="0"/>
              <a:t>)</a:t>
            </a:r>
          </a:p>
          <a:p>
            <a:r>
              <a:rPr lang="ru-RU" sz="1600" b="1" dirty="0"/>
              <a:t>Что сделано:</a:t>
            </a:r>
            <a:r>
              <a:rPr lang="ru-RU" sz="1600" dirty="0"/>
              <a:t> свёрточная агрегация SNP по генам, аугментация </a:t>
            </a:r>
            <a:r>
              <a:rPr lang="ru-RU" sz="1600" dirty="0" err="1"/>
              <a:t>MixUp</a:t>
            </a:r>
            <a:endParaRPr lang="ru-RU" sz="1600" dirty="0"/>
          </a:p>
          <a:p>
            <a:r>
              <a:rPr lang="ru-RU" sz="1600" b="1" dirty="0"/>
              <a:t>Что не решено:</a:t>
            </a:r>
            <a:r>
              <a:rPr lang="ru-RU" sz="1600" dirty="0"/>
              <a:t> нет учёта важности отдельных SNP внутри гена, нет регуляризации скрытых представлений</a:t>
            </a:r>
          </a:p>
          <a:p>
            <a:r>
              <a:rPr lang="ru-RU" sz="1600" b="1" dirty="0"/>
              <a:t>→ Пробелы, которые закрывает моя работа:</a:t>
            </a:r>
            <a:endParaRPr lang="ru-RU" sz="1600" dirty="0"/>
          </a:p>
          <a:p>
            <a:pPr lvl="1"/>
            <a:r>
              <a:rPr lang="ru-RU" sz="1600" dirty="0"/>
              <a:t>Механизм внимания на уровне SNP (адаптивное взвешивание)</a:t>
            </a:r>
          </a:p>
          <a:p>
            <a:pPr lvl="1"/>
            <a:r>
              <a:rPr lang="ru-RU" sz="1600" dirty="0"/>
              <a:t>Реконструкционная регуляризация (стабилизация обучения)</a:t>
            </a:r>
          </a:p>
          <a:p>
            <a:pPr lvl="1"/>
            <a:r>
              <a:rPr lang="ru-RU" sz="1600" dirty="0"/>
              <a:t>Тестирование на трёх культурах с разной плотностью SNP</a:t>
            </a:r>
          </a:p>
          <a:p>
            <a:pPr lvl="1"/>
            <a:r>
              <a:rPr lang="ru-RU" sz="1600" dirty="0"/>
              <a:t>Интерпретация через значения Шепли</a:t>
            </a:r>
          </a:p>
          <a:p>
            <a:endParaRPr lang="ru-RU" dirty="0"/>
          </a:p>
        </p:txBody>
      </p:sp>
    </p:spTree>
    <p:extLst>
      <p:ext uri="{BB962C8B-B14F-4D97-AF65-F5344CB8AC3E}">
        <p14:creationId xmlns:p14="http://schemas.microsoft.com/office/powerpoint/2010/main" val="1721821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EEC2E55-1D26-88E6-F68F-BB6AE70056BC}"/>
              </a:ext>
            </a:extLst>
          </p:cNvPr>
          <p:cNvSpPr>
            <a:spLocks noGrp="1"/>
          </p:cNvSpPr>
          <p:nvPr>
            <p:ph type="title"/>
          </p:nvPr>
        </p:nvSpPr>
        <p:spPr/>
        <p:txBody>
          <a:bodyPr>
            <a:normAutofit fontScale="90000"/>
          </a:bodyPr>
          <a:lstStyle/>
          <a:p>
            <a:r>
              <a:rPr lang="ru-RU" sz="3600" b="1" dirty="0"/>
              <a:t>Цели и задачи</a:t>
            </a:r>
            <a:br>
              <a:rPr lang="ru-RU" dirty="0"/>
            </a:br>
            <a:endParaRPr lang="ru-RU" dirty="0"/>
          </a:p>
        </p:txBody>
      </p:sp>
      <p:sp>
        <p:nvSpPr>
          <p:cNvPr id="3" name="Номер слайда 2">
            <a:extLst>
              <a:ext uri="{FF2B5EF4-FFF2-40B4-BE49-F238E27FC236}">
                <a16:creationId xmlns:a16="http://schemas.microsoft.com/office/drawing/2014/main" id="{C5A1AC43-24E0-67A8-4A9F-D01B3E3E4272}"/>
              </a:ext>
            </a:extLst>
          </p:cNvPr>
          <p:cNvSpPr>
            <a:spLocks noGrp="1"/>
          </p:cNvSpPr>
          <p:nvPr>
            <p:ph type="sldNum" sz="quarter" idx="12"/>
          </p:nvPr>
        </p:nvSpPr>
        <p:spPr/>
        <p:txBody>
          <a:bodyPr/>
          <a:lstStyle/>
          <a:p>
            <a:fld id="{B19B0651-EE4F-4900-A07F-96A6BFA9D0F0}" type="slidenum">
              <a:rPr lang="ru-RU" smtClean="0"/>
              <a:pPr/>
              <a:t>5</a:t>
            </a:fld>
            <a:endParaRPr lang="ru-RU"/>
          </a:p>
        </p:txBody>
      </p:sp>
      <p:sp>
        <p:nvSpPr>
          <p:cNvPr id="6" name="Объект 5">
            <a:extLst>
              <a:ext uri="{FF2B5EF4-FFF2-40B4-BE49-F238E27FC236}">
                <a16:creationId xmlns:a16="http://schemas.microsoft.com/office/drawing/2014/main" id="{0D06D2DF-7A72-A948-E90E-FC5F6CE41ACB}"/>
              </a:ext>
            </a:extLst>
          </p:cNvPr>
          <p:cNvSpPr>
            <a:spLocks noGrp="1"/>
          </p:cNvSpPr>
          <p:nvPr>
            <p:ph sz="quarter" idx="1"/>
          </p:nvPr>
        </p:nvSpPr>
        <p:spPr/>
        <p:txBody>
          <a:bodyPr/>
          <a:lstStyle/>
          <a:p>
            <a:r>
              <a:rPr lang="ru-RU" sz="2400" b="1" dirty="0"/>
              <a:t>Цель:</a:t>
            </a:r>
            <a:r>
              <a:rPr lang="ru-RU" sz="2400" dirty="0"/>
              <a:t> разработать и </a:t>
            </a:r>
            <a:r>
              <a:rPr lang="ru-RU" sz="2400" dirty="0" err="1"/>
              <a:t>программно</a:t>
            </a:r>
            <a:r>
              <a:rPr lang="ru-RU" sz="2400" dirty="0"/>
              <a:t> реализовать модель глубокого обучения для прогнозирования фенотипов по SNP с высокой точностью и возможностью интерпретации.</a:t>
            </a:r>
          </a:p>
          <a:p>
            <a:r>
              <a:rPr lang="ru-RU" sz="2400" b="1" dirty="0"/>
              <a:t>Задачи:</a:t>
            </a:r>
            <a:endParaRPr lang="ru-RU" sz="2400" dirty="0"/>
          </a:p>
          <a:p>
            <a:pPr lvl="1"/>
            <a:r>
              <a:rPr lang="ru-RU" sz="2400" dirty="0"/>
              <a:t>Провести анализ существующих методов.</a:t>
            </a:r>
          </a:p>
          <a:p>
            <a:pPr lvl="1"/>
            <a:r>
              <a:rPr lang="ru-RU" sz="2400" dirty="0"/>
              <a:t>Разработать архитектуру модели.</a:t>
            </a:r>
          </a:p>
          <a:p>
            <a:pPr lvl="1"/>
            <a:r>
              <a:rPr lang="ru-RU" sz="2400" dirty="0"/>
              <a:t>Реализовать программный комплекс.</a:t>
            </a:r>
          </a:p>
          <a:p>
            <a:pPr lvl="1"/>
            <a:r>
              <a:rPr lang="ru-RU" sz="2400" dirty="0"/>
              <a:t>Провести эксперименты.</a:t>
            </a:r>
          </a:p>
          <a:p>
            <a:pPr lvl="1"/>
            <a:r>
              <a:rPr lang="ru-RU" sz="2400" dirty="0"/>
              <a:t>Выполнить интерпретацию через значения Шепли.</a:t>
            </a:r>
          </a:p>
          <a:p>
            <a:endParaRPr lang="ru-RU" dirty="0"/>
          </a:p>
        </p:txBody>
      </p:sp>
    </p:spTree>
    <p:extLst>
      <p:ext uri="{BB962C8B-B14F-4D97-AF65-F5344CB8AC3E}">
        <p14:creationId xmlns:p14="http://schemas.microsoft.com/office/powerpoint/2010/main" val="4013418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D5446091-1A08-161D-19DB-1F1F7E2A51DA}"/>
              </a:ext>
            </a:extLst>
          </p:cNvPr>
          <p:cNvSpPr>
            <a:spLocks noGrp="1"/>
          </p:cNvSpPr>
          <p:nvPr>
            <p:ph type="title"/>
          </p:nvPr>
        </p:nvSpPr>
        <p:spPr/>
        <p:txBody>
          <a:bodyPr>
            <a:normAutofit fontScale="90000"/>
          </a:bodyPr>
          <a:lstStyle/>
          <a:p>
            <a:r>
              <a:rPr lang="ru-RU" sz="3600" b="1" dirty="0"/>
              <a:t>Описание данных</a:t>
            </a:r>
            <a:br>
              <a:rPr lang="ru-RU" b="1" dirty="0"/>
            </a:br>
            <a:endParaRPr lang="ru-RU" b="1" dirty="0"/>
          </a:p>
        </p:txBody>
      </p:sp>
      <p:sp>
        <p:nvSpPr>
          <p:cNvPr id="3" name="Номер слайда 2">
            <a:extLst>
              <a:ext uri="{FF2B5EF4-FFF2-40B4-BE49-F238E27FC236}">
                <a16:creationId xmlns:a16="http://schemas.microsoft.com/office/drawing/2014/main" id="{3F38D210-35DF-FC5E-8D7F-A66B4463B737}"/>
              </a:ext>
            </a:extLst>
          </p:cNvPr>
          <p:cNvSpPr>
            <a:spLocks noGrp="1"/>
          </p:cNvSpPr>
          <p:nvPr>
            <p:ph type="sldNum" sz="quarter" idx="12"/>
          </p:nvPr>
        </p:nvSpPr>
        <p:spPr/>
        <p:txBody>
          <a:bodyPr/>
          <a:lstStyle/>
          <a:p>
            <a:fld id="{B19B0651-EE4F-4900-A07F-96A6BFA9D0F0}" type="slidenum">
              <a:rPr lang="ru-RU" smtClean="0"/>
              <a:pPr/>
              <a:t>6</a:t>
            </a:fld>
            <a:endParaRPr lang="ru-RU"/>
          </a:p>
        </p:txBody>
      </p:sp>
      <p:graphicFrame>
        <p:nvGraphicFramePr>
          <p:cNvPr id="15" name="Таблица 14">
            <a:extLst>
              <a:ext uri="{FF2B5EF4-FFF2-40B4-BE49-F238E27FC236}">
                <a16:creationId xmlns:a16="http://schemas.microsoft.com/office/drawing/2014/main" id="{AD59C74A-3906-456D-DE82-3896850571A6}"/>
              </a:ext>
            </a:extLst>
          </p:cNvPr>
          <p:cNvGraphicFramePr>
            <a:graphicFrameLocks noGrp="1"/>
          </p:cNvGraphicFramePr>
          <p:nvPr>
            <p:extLst>
              <p:ext uri="{D42A27DB-BD31-4B8C-83A1-F6EECF244321}">
                <p14:modId xmlns:p14="http://schemas.microsoft.com/office/powerpoint/2010/main" val="2042717597"/>
              </p:ext>
            </p:extLst>
          </p:nvPr>
        </p:nvGraphicFramePr>
        <p:xfrm>
          <a:off x="578712" y="1218565"/>
          <a:ext cx="6814185" cy="1940560"/>
        </p:xfrm>
        <a:graphic>
          <a:graphicData uri="http://schemas.openxmlformats.org/drawingml/2006/table">
            <a:tbl>
              <a:tblPr firstRow="1" bandRow="1">
                <a:tableStyleId>{5C22544A-7EE6-4342-B048-85BDC9FD1C3A}</a:tableStyleId>
              </a:tblPr>
              <a:tblGrid>
                <a:gridCol w="1378424">
                  <a:extLst>
                    <a:ext uri="{9D8B030D-6E8A-4147-A177-3AD203B41FA5}">
                      <a16:colId xmlns:a16="http://schemas.microsoft.com/office/drawing/2014/main" val="2058907673"/>
                    </a:ext>
                  </a:extLst>
                </a:gridCol>
                <a:gridCol w="1378424">
                  <a:extLst>
                    <a:ext uri="{9D8B030D-6E8A-4147-A177-3AD203B41FA5}">
                      <a16:colId xmlns:a16="http://schemas.microsoft.com/office/drawing/2014/main" val="3695258477"/>
                    </a:ext>
                  </a:extLst>
                </a:gridCol>
                <a:gridCol w="1378424">
                  <a:extLst>
                    <a:ext uri="{9D8B030D-6E8A-4147-A177-3AD203B41FA5}">
                      <a16:colId xmlns:a16="http://schemas.microsoft.com/office/drawing/2014/main" val="4283559882"/>
                    </a:ext>
                  </a:extLst>
                </a:gridCol>
                <a:gridCol w="1378424">
                  <a:extLst>
                    <a:ext uri="{9D8B030D-6E8A-4147-A177-3AD203B41FA5}">
                      <a16:colId xmlns:a16="http://schemas.microsoft.com/office/drawing/2014/main" val="3387187678"/>
                    </a:ext>
                  </a:extLst>
                </a:gridCol>
                <a:gridCol w="1300489">
                  <a:extLst>
                    <a:ext uri="{9D8B030D-6E8A-4147-A177-3AD203B41FA5}">
                      <a16:colId xmlns:a16="http://schemas.microsoft.com/office/drawing/2014/main" val="1947937835"/>
                    </a:ext>
                  </a:extLst>
                </a:gridCol>
              </a:tblGrid>
              <a:tr h="324194">
                <a:tc gridSpan="5">
                  <a:txBody>
                    <a:bodyPr/>
                    <a:lstStyle/>
                    <a:p>
                      <a:pPr algn="ctr"/>
                      <a:r>
                        <a:rPr lang="ru-RU" dirty="0"/>
                        <a:t>Генетические данные</a:t>
                      </a:r>
                    </a:p>
                  </a:txBody>
                  <a:tcPr/>
                </a:tc>
                <a:tc hMerge="1">
                  <a:txBody>
                    <a:bodyPr/>
                    <a:lstStyle/>
                    <a:p>
                      <a:endParaRPr lang="ru-RU"/>
                    </a:p>
                  </a:txBody>
                  <a:tcPr/>
                </a:tc>
                <a:tc hMerge="1">
                  <a:txBody>
                    <a:bodyPr/>
                    <a:lstStyle/>
                    <a:p>
                      <a:endParaRPr lang="ru-RU" dirty="0"/>
                    </a:p>
                  </a:txBody>
                  <a:tcPr/>
                </a:tc>
                <a:tc hMerge="1">
                  <a:txBody>
                    <a:bodyPr/>
                    <a:lstStyle/>
                    <a:p>
                      <a:endParaRPr lang="ru-RU" dirty="0"/>
                    </a:p>
                  </a:txBody>
                  <a:tcPr/>
                </a:tc>
                <a:tc hMerge="1">
                  <a:txBody>
                    <a:bodyPr/>
                    <a:lstStyle/>
                    <a:p>
                      <a:endParaRPr lang="ru-RU" dirty="0"/>
                    </a:p>
                  </a:txBody>
                  <a:tcPr/>
                </a:tc>
                <a:extLst>
                  <a:ext uri="{0D108BD9-81ED-4DB2-BD59-A6C34878D82A}">
                    <a16:rowId xmlns:a16="http://schemas.microsoft.com/office/drawing/2014/main" val="4173232069"/>
                  </a:ext>
                </a:extLst>
              </a:tr>
              <a:tr h="348959">
                <a:tc>
                  <a:txBody>
                    <a:bodyPr/>
                    <a:lstStyle/>
                    <a:p>
                      <a:pPr algn="l">
                        <a:lnSpc>
                          <a:spcPts val="1875"/>
                        </a:lnSpc>
                        <a:buNone/>
                      </a:pPr>
                      <a:r>
                        <a:rPr lang="ru-RU" b="1">
                          <a:effectLst/>
                          <a:latin typeface="quote-cjk-patch"/>
                        </a:rPr>
                        <a:t>Культура</a:t>
                      </a:r>
                    </a:p>
                  </a:txBody>
                  <a:tcPr marR="121920" marT="76200" marB="76200" anchor="ctr"/>
                </a:tc>
                <a:tc>
                  <a:txBody>
                    <a:bodyPr/>
                    <a:lstStyle/>
                    <a:p>
                      <a:pPr algn="l">
                        <a:lnSpc>
                          <a:spcPts val="1875"/>
                        </a:lnSpc>
                        <a:buNone/>
                      </a:pPr>
                      <a:r>
                        <a:rPr lang="ru-RU" b="1">
                          <a:effectLst/>
                          <a:latin typeface="quote-cjk-patch"/>
                        </a:rPr>
                        <a:t>Образцов</a:t>
                      </a:r>
                    </a:p>
                  </a:txBody>
                  <a:tcPr marL="121920" marR="121920" marT="76200" marB="76200" anchor="ctr"/>
                </a:tc>
                <a:tc>
                  <a:txBody>
                    <a:bodyPr/>
                    <a:lstStyle/>
                    <a:p>
                      <a:pPr algn="l">
                        <a:lnSpc>
                          <a:spcPts val="1875"/>
                        </a:lnSpc>
                        <a:buNone/>
                      </a:pPr>
                      <a:r>
                        <a:rPr lang="ru-RU" b="1" dirty="0">
                          <a:effectLst/>
                          <a:latin typeface="quote-cjk-patch"/>
                        </a:rPr>
                        <a:t>SNP</a:t>
                      </a:r>
                    </a:p>
                  </a:txBody>
                  <a:tcPr marL="121920" marR="121920" marT="76200" marB="76200" anchor="ctr"/>
                </a:tc>
                <a:tc>
                  <a:txBody>
                    <a:bodyPr/>
                    <a:lstStyle/>
                    <a:p>
                      <a:pPr algn="l">
                        <a:lnSpc>
                          <a:spcPts val="1875"/>
                        </a:lnSpc>
                        <a:buNone/>
                      </a:pPr>
                      <a:r>
                        <a:rPr lang="ru-RU" b="1" dirty="0">
                          <a:effectLst/>
                          <a:latin typeface="quote-cjk-patch"/>
                        </a:rPr>
                        <a:t>Генов</a:t>
                      </a:r>
                    </a:p>
                  </a:txBody>
                  <a:tcPr marL="121920" marR="121920" marT="76200" marB="76200" anchor="ctr"/>
                </a:tc>
                <a:tc>
                  <a:txBody>
                    <a:bodyPr/>
                    <a:lstStyle/>
                    <a:p>
                      <a:pPr algn="l">
                        <a:lnSpc>
                          <a:spcPts val="1875"/>
                        </a:lnSpc>
                        <a:buNone/>
                      </a:pPr>
                      <a:r>
                        <a:rPr lang="ru-RU" b="1" dirty="0">
                          <a:effectLst/>
                          <a:latin typeface="quote-cjk-patch"/>
                        </a:rPr>
                        <a:t>SNP/ген</a:t>
                      </a:r>
                    </a:p>
                  </a:txBody>
                  <a:tcPr marL="121920" marR="121920" marT="76200" marB="76200" anchor="ctr"/>
                </a:tc>
                <a:extLst>
                  <a:ext uri="{0D108BD9-81ED-4DB2-BD59-A6C34878D82A}">
                    <a16:rowId xmlns:a16="http://schemas.microsoft.com/office/drawing/2014/main" val="57481988"/>
                  </a:ext>
                </a:extLst>
              </a:tr>
              <a:tr h="348959">
                <a:tc>
                  <a:txBody>
                    <a:bodyPr/>
                    <a:lstStyle/>
                    <a:p>
                      <a:pPr>
                        <a:lnSpc>
                          <a:spcPts val="1875"/>
                        </a:lnSpc>
                        <a:buNone/>
                      </a:pPr>
                      <a:r>
                        <a:rPr lang="ru-RU" b="0">
                          <a:effectLst/>
                          <a:latin typeface="quote-cjk-patch"/>
                        </a:rPr>
                        <a:t>Нут</a:t>
                      </a:r>
                    </a:p>
                  </a:txBody>
                  <a:tcPr marR="121920" marT="76200" marB="76200" anchor="ctr"/>
                </a:tc>
                <a:tc>
                  <a:txBody>
                    <a:bodyPr/>
                    <a:lstStyle/>
                    <a:p>
                      <a:pPr>
                        <a:lnSpc>
                          <a:spcPts val="1875"/>
                        </a:lnSpc>
                        <a:buNone/>
                      </a:pPr>
                      <a:r>
                        <a:rPr lang="ru-RU" b="0" dirty="0">
                          <a:effectLst/>
                          <a:latin typeface="quote-cjk-patch"/>
                        </a:rPr>
                        <a:t>553</a:t>
                      </a:r>
                    </a:p>
                  </a:txBody>
                  <a:tcPr marL="121920" marR="121920" marT="76200" marB="76200" anchor="ctr"/>
                </a:tc>
                <a:tc>
                  <a:txBody>
                    <a:bodyPr/>
                    <a:lstStyle/>
                    <a:p>
                      <a:pPr>
                        <a:lnSpc>
                          <a:spcPts val="1875"/>
                        </a:lnSpc>
                        <a:buNone/>
                      </a:pPr>
                      <a:r>
                        <a:rPr lang="ru-RU" b="0">
                          <a:effectLst/>
                          <a:latin typeface="quote-cjk-patch"/>
                        </a:rPr>
                        <a:t>5.8K</a:t>
                      </a:r>
                    </a:p>
                  </a:txBody>
                  <a:tcPr marL="121920" marR="121920" marT="76200" marB="76200" anchor="ctr"/>
                </a:tc>
                <a:tc>
                  <a:txBody>
                    <a:bodyPr/>
                    <a:lstStyle/>
                    <a:p>
                      <a:pPr>
                        <a:lnSpc>
                          <a:spcPts val="1875"/>
                        </a:lnSpc>
                        <a:buNone/>
                      </a:pPr>
                      <a:r>
                        <a:rPr lang="ru-RU" b="0">
                          <a:effectLst/>
                          <a:latin typeface="quote-cjk-patch"/>
                        </a:rPr>
                        <a:t>2.8K</a:t>
                      </a:r>
                    </a:p>
                  </a:txBody>
                  <a:tcPr marL="121920" marR="121920" marT="76200" marB="76200" anchor="ctr"/>
                </a:tc>
                <a:tc>
                  <a:txBody>
                    <a:bodyPr/>
                    <a:lstStyle/>
                    <a:p>
                      <a:pPr>
                        <a:lnSpc>
                          <a:spcPts val="1875"/>
                        </a:lnSpc>
                        <a:buNone/>
                      </a:pPr>
                      <a:r>
                        <a:rPr lang="ru-RU" b="0" dirty="0">
                          <a:effectLst/>
                          <a:latin typeface="quote-cjk-patch"/>
                        </a:rPr>
                        <a:t>2.0</a:t>
                      </a:r>
                    </a:p>
                  </a:txBody>
                  <a:tcPr marL="121920" marR="121920" marT="76200" marB="76200" anchor="ctr"/>
                </a:tc>
                <a:extLst>
                  <a:ext uri="{0D108BD9-81ED-4DB2-BD59-A6C34878D82A}">
                    <a16:rowId xmlns:a16="http://schemas.microsoft.com/office/drawing/2014/main" val="2254856883"/>
                  </a:ext>
                </a:extLst>
              </a:tr>
              <a:tr h="348959">
                <a:tc>
                  <a:txBody>
                    <a:bodyPr/>
                    <a:lstStyle/>
                    <a:p>
                      <a:pPr>
                        <a:lnSpc>
                          <a:spcPts val="1875"/>
                        </a:lnSpc>
                        <a:buNone/>
                      </a:pPr>
                      <a:r>
                        <a:rPr lang="ru-RU" b="0">
                          <a:effectLst/>
                          <a:latin typeface="quote-cjk-patch"/>
                        </a:rPr>
                        <a:t>Рис</a:t>
                      </a:r>
                    </a:p>
                  </a:txBody>
                  <a:tcPr marR="121920" marT="76200" marB="76200" anchor="ctr"/>
                </a:tc>
                <a:tc>
                  <a:txBody>
                    <a:bodyPr/>
                    <a:lstStyle/>
                    <a:p>
                      <a:pPr>
                        <a:lnSpc>
                          <a:spcPts val="1875"/>
                        </a:lnSpc>
                        <a:buNone/>
                      </a:pPr>
                      <a:r>
                        <a:rPr lang="ru-RU" b="0" dirty="0">
                          <a:effectLst/>
                          <a:latin typeface="quote-cjk-patch"/>
                        </a:rPr>
                        <a:t>469</a:t>
                      </a:r>
                    </a:p>
                  </a:txBody>
                  <a:tcPr marL="121920" marR="121920" marT="76200" marB="76200" anchor="ctr"/>
                </a:tc>
                <a:tc>
                  <a:txBody>
                    <a:bodyPr/>
                    <a:lstStyle/>
                    <a:p>
                      <a:pPr>
                        <a:lnSpc>
                          <a:spcPts val="1875"/>
                        </a:lnSpc>
                        <a:buNone/>
                      </a:pPr>
                      <a:r>
                        <a:rPr lang="ru-RU" b="0" dirty="0">
                          <a:effectLst/>
                          <a:latin typeface="quote-cjk-patch"/>
                        </a:rPr>
                        <a:t>1.7K</a:t>
                      </a:r>
                    </a:p>
                  </a:txBody>
                  <a:tcPr marL="121920" marR="121920" marT="76200" marB="76200" anchor="ctr"/>
                </a:tc>
                <a:tc>
                  <a:txBody>
                    <a:bodyPr/>
                    <a:lstStyle/>
                    <a:p>
                      <a:pPr>
                        <a:lnSpc>
                          <a:spcPts val="1875"/>
                        </a:lnSpc>
                        <a:buNone/>
                      </a:pPr>
                      <a:r>
                        <a:rPr lang="ru-RU" b="0">
                          <a:effectLst/>
                          <a:latin typeface="quote-cjk-patch"/>
                        </a:rPr>
                        <a:t>1.6K</a:t>
                      </a:r>
                    </a:p>
                  </a:txBody>
                  <a:tcPr marL="121920" marR="121920" marT="76200" marB="76200" anchor="ctr"/>
                </a:tc>
                <a:tc>
                  <a:txBody>
                    <a:bodyPr/>
                    <a:lstStyle/>
                    <a:p>
                      <a:pPr>
                        <a:lnSpc>
                          <a:spcPts val="1875"/>
                        </a:lnSpc>
                        <a:buNone/>
                      </a:pPr>
                      <a:r>
                        <a:rPr lang="ru-RU" b="0" dirty="0">
                          <a:effectLst/>
                          <a:latin typeface="quote-cjk-patch"/>
                        </a:rPr>
                        <a:t>1.1</a:t>
                      </a:r>
                    </a:p>
                  </a:txBody>
                  <a:tcPr marL="121920" marR="121920" marT="76200" marB="76200" anchor="ctr"/>
                </a:tc>
                <a:extLst>
                  <a:ext uri="{0D108BD9-81ED-4DB2-BD59-A6C34878D82A}">
                    <a16:rowId xmlns:a16="http://schemas.microsoft.com/office/drawing/2014/main" val="1609442155"/>
                  </a:ext>
                </a:extLst>
              </a:tr>
              <a:tr h="348959">
                <a:tc>
                  <a:txBody>
                    <a:bodyPr/>
                    <a:lstStyle/>
                    <a:p>
                      <a:pPr>
                        <a:lnSpc>
                          <a:spcPts val="1875"/>
                        </a:lnSpc>
                        <a:buNone/>
                      </a:pPr>
                      <a:r>
                        <a:rPr lang="ru-RU" b="0">
                          <a:effectLst/>
                          <a:latin typeface="quote-cjk-patch"/>
                        </a:rPr>
                        <a:t>Рапс</a:t>
                      </a:r>
                    </a:p>
                  </a:txBody>
                  <a:tcPr marR="121920" marT="76200" marB="76200" anchor="ctr"/>
                </a:tc>
                <a:tc>
                  <a:txBody>
                    <a:bodyPr/>
                    <a:lstStyle/>
                    <a:p>
                      <a:pPr>
                        <a:lnSpc>
                          <a:spcPts val="1875"/>
                        </a:lnSpc>
                        <a:buNone/>
                      </a:pPr>
                      <a:r>
                        <a:rPr lang="ru-RU" b="0" dirty="0">
                          <a:effectLst/>
                          <a:latin typeface="quote-cjk-patch"/>
                        </a:rPr>
                        <a:t>991</a:t>
                      </a:r>
                    </a:p>
                  </a:txBody>
                  <a:tcPr marL="121920" marR="121920" marT="76200" marB="76200" anchor="ctr"/>
                </a:tc>
                <a:tc>
                  <a:txBody>
                    <a:bodyPr/>
                    <a:lstStyle/>
                    <a:p>
                      <a:pPr>
                        <a:lnSpc>
                          <a:spcPts val="1875"/>
                        </a:lnSpc>
                        <a:buNone/>
                      </a:pPr>
                      <a:r>
                        <a:rPr lang="ru-RU" b="0">
                          <a:effectLst/>
                          <a:latin typeface="quote-cjk-patch"/>
                        </a:rPr>
                        <a:t>1.27M</a:t>
                      </a:r>
                    </a:p>
                  </a:txBody>
                  <a:tcPr marL="121920" marR="121920" marT="76200" marB="76200" anchor="ctr"/>
                </a:tc>
                <a:tc>
                  <a:txBody>
                    <a:bodyPr/>
                    <a:lstStyle/>
                    <a:p>
                      <a:pPr>
                        <a:lnSpc>
                          <a:spcPts val="1875"/>
                        </a:lnSpc>
                        <a:buNone/>
                      </a:pPr>
                      <a:r>
                        <a:rPr lang="ru-RU" b="0" dirty="0">
                          <a:effectLst/>
                          <a:latin typeface="quote-cjk-patch"/>
                        </a:rPr>
                        <a:t>60.8K</a:t>
                      </a:r>
                    </a:p>
                  </a:txBody>
                  <a:tcPr marL="121920" marR="121920" marT="76200" marB="76200" anchor="ctr"/>
                </a:tc>
                <a:tc>
                  <a:txBody>
                    <a:bodyPr/>
                    <a:lstStyle/>
                    <a:p>
                      <a:pPr>
                        <a:lnSpc>
                          <a:spcPts val="1875"/>
                        </a:lnSpc>
                        <a:buNone/>
                      </a:pPr>
                      <a:r>
                        <a:rPr lang="ru-RU" b="0" dirty="0">
                          <a:effectLst/>
                          <a:latin typeface="quote-cjk-patch"/>
                        </a:rPr>
                        <a:t>21.3</a:t>
                      </a:r>
                    </a:p>
                  </a:txBody>
                  <a:tcPr marL="121920" marR="121920" marT="76200" marB="76200" anchor="ctr"/>
                </a:tc>
                <a:extLst>
                  <a:ext uri="{0D108BD9-81ED-4DB2-BD59-A6C34878D82A}">
                    <a16:rowId xmlns:a16="http://schemas.microsoft.com/office/drawing/2014/main" val="1000944878"/>
                  </a:ext>
                </a:extLst>
              </a:tr>
            </a:tbl>
          </a:graphicData>
        </a:graphic>
      </p:graphicFrame>
      <p:graphicFrame>
        <p:nvGraphicFramePr>
          <p:cNvPr id="17" name="Таблица 16">
            <a:extLst>
              <a:ext uri="{FF2B5EF4-FFF2-40B4-BE49-F238E27FC236}">
                <a16:creationId xmlns:a16="http://schemas.microsoft.com/office/drawing/2014/main" id="{A7B68D89-1002-776B-D46E-FAB50E3ABAD8}"/>
              </a:ext>
            </a:extLst>
          </p:cNvPr>
          <p:cNvGraphicFramePr>
            <a:graphicFrameLocks noGrp="1"/>
          </p:cNvGraphicFramePr>
          <p:nvPr>
            <p:extLst>
              <p:ext uri="{D42A27DB-BD31-4B8C-83A1-F6EECF244321}">
                <p14:modId xmlns:p14="http://schemas.microsoft.com/office/powerpoint/2010/main" val="1581811887"/>
              </p:ext>
            </p:extLst>
          </p:nvPr>
        </p:nvGraphicFramePr>
        <p:xfrm>
          <a:off x="578712" y="3196907"/>
          <a:ext cx="7389496" cy="3121660"/>
        </p:xfrm>
        <a:graphic>
          <a:graphicData uri="http://schemas.openxmlformats.org/drawingml/2006/table">
            <a:tbl>
              <a:tblPr firstRow="1" bandRow="1">
                <a:tableStyleId>{5C22544A-7EE6-4342-B048-85BDC9FD1C3A}</a:tableStyleId>
              </a:tblPr>
              <a:tblGrid>
                <a:gridCol w="1340824">
                  <a:extLst>
                    <a:ext uri="{9D8B030D-6E8A-4147-A177-3AD203B41FA5}">
                      <a16:colId xmlns:a16="http://schemas.microsoft.com/office/drawing/2014/main" val="1879057187"/>
                    </a:ext>
                  </a:extLst>
                </a:gridCol>
                <a:gridCol w="2304256">
                  <a:extLst>
                    <a:ext uri="{9D8B030D-6E8A-4147-A177-3AD203B41FA5}">
                      <a16:colId xmlns:a16="http://schemas.microsoft.com/office/drawing/2014/main" val="103775033"/>
                    </a:ext>
                  </a:extLst>
                </a:gridCol>
                <a:gridCol w="1800200">
                  <a:extLst>
                    <a:ext uri="{9D8B030D-6E8A-4147-A177-3AD203B41FA5}">
                      <a16:colId xmlns:a16="http://schemas.microsoft.com/office/drawing/2014/main" val="2850394223"/>
                    </a:ext>
                  </a:extLst>
                </a:gridCol>
                <a:gridCol w="1944216">
                  <a:extLst>
                    <a:ext uri="{9D8B030D-6E8A-4147-A177-3AD203B41FA5}">
                      <a16:colId xmlns:a16="http://schemas.microsoft.com/office/drawing/2014/main" val="797369831"/>
                    </a:ext>
                  </a:extLst>
                </a:gridCol>
              </a:tblGrid>
              <a:tr h="267584">
                <a:tc gridSpan="4">
                  <a:txBody>
                    <a:bodyPr/>
                    <a:lstStyle/>
                    <a:p>
                      <a:pPr algn="ctr"/>
                      <a:r>
                        <a:rPr lang="ru-RU" b="1" dirty="0"/>
                        <a:t>Фенотипические признаки</a:t>
                      </a:r>
                    </a:p>
                  </a:txBody>
                  <a:tcPr/>
                </a:tc>
                <a:tc hMerge="1">
                  <a:txBody>
                    <a:bodyPr/>
                    <a:lstStyle/>
                    <a:p>
                      <a:endParaRPr lang="ru-RU" dirty="0"/>
                    </a:p>
                  </a:txBody>
                  <a:tcPr/>
                </a:tc>
                <a:tc hMerge="1">
                  <a:txBody>
                    <a:bodyPr/>
                    <a:lstStyle/>
                    <a:p>
                      <a:endParaRPr lang="ru-RU" dirty="0"/>
                    </a:p>
                  </a:txBody>
                  <a:tcPr/>
                </a:tc>
                <a:tc hMerge="1">
                  <a:txBody>
                    <a:bodyPr/>
                    <a:lstStyle/>
                    <a:p>
                      <a:endParaRPr lang="ru-RU" dirty="0"/>
                    </a:p>
                  </a:txBody>
                  <a:tcPr/>
                </a:tc>
                <a:extLst>
                  <a:ext uri="{0D108BD9-81ED-4DB2-BD59-A6C34878D82A}">
                    <a16:rowId xmlns:a16="http://schemas.microsoft.com/office/drawing/2014/main" val="1448593749"/>
                  </a:ext>
                </a:extLst>
              </a:tr>
              <a:tr h="288025">
                <a:tc>
                  <a:txBody>
                    <a:bodyPr/>
                    <a:lstStyle/>
                    <a:p>
                      <a:pPr algn="ctr">
                        <a:lnSpc>
                          <a:spcPts val="1875"/>
                        </a:lnSpc>
                        <a:buNone/>
                      </a:pPr>
                      <a:r>
                        <a:rPr lang="ru-RU" b="1">
                          <a:effectLst/>
                          <a:latin typeface="quote-cjk-patch"/>
                        </a:rPr>
                        <a:t>Культура</a:t>
                      </a:r>
                    </a:p>
                  </a:txBody>
                  <a:tcPr marR="121920" marT="76200" marB="76200" anchor="ctr"/>
                </a:tc>
                <a:tc>
                  <a:txBody>
                    <a:bodyPr/>
                    <a:lstStyle/>
                    <a:p>
                      <a:pPr algn="ctr">
                        <a:lnSpc>
                          <a:spcPts val="1875"/>
                        </a:lnSpc>
                        <a:buNone/>
                      </a:pPr>
                      <a:r>
                        <a:rPr lang="ru-RU" b="1" dirty="0">
                          <a:effectLst/>
                          <a:latin typeface="quote-cjk-patch"/>
                        </a:rPr>
                        <a:t>Признак</a:t>
                      </a:r>
                    </a:p>
                  </a:txBody>
                  <a:tcPr marL="121920" marR="121920" marT="76200" marB="76200" anchor="ctr"/>
                </a:tc>
                <a:tc>
                  <a:txBody>
                    <a:bodyPr/>
                    <a:lstStyle/>
                    <a:p>
                      <a:pPr algn="ctr">
                        <a:lnSpc>
                          <a:spcPts val="1875"/>
                        </a:lnSpc>
                        <a:buNone/>
                      </a:pPr>
                      <a:r>
                        <a:rPr lang="ru-RU" b="1" dirty="0">
                          <a:effectLst/>
                          <a:latin typeface="quote-cjk-patch"/>
                        </a:rPr>
                        <a:t>Обозначение</a:t>
                      </a:r>
                    </a:p>
                  </a:txBody>
                  <a:tcPr marL="121920" marR="121920" marT="76200" marB="76200" anchor="ctr"/>
                </a:tc>
                <a:tc>
                  <a:txBody>
                    <a:bodyPr/>
                    <a:lstStyle/>
                    <a:p>
                      <a:pPr algn="ctr">
                        <a:lnSpc>
                          <a:spcPts val="1875"/>
                        </a:lnSpc>
                        <a:buNone/>
                      </a:pPr>
                      <a:r>
                        <a:rPr lang="ru-RU" b="1" dirty="0">
                          <a:effectLst/>
                          <a:latin typeface="quote-cjk-patch"/>
                        </a:rPr>
                        <a:t>Кол-во образцов</a:t>
                      </a:r>
                    </a:p>
                  </a:txBody>
                  <a:tcPr marL="121920" marR="121920" marT="76200" marB="76200" anchor="ctr"/>
                </a:tc>
                <a:extLst>
                  <a:ext uri="{0D108BD9-81ED-4DB2-BD59-A6C34878D82A}">
                    <a16:rowId xmlns:a16="http://schemas.microsoft.com/office/drawing/2014/main" val="1613916962"/>
                  </a:ext>
                </a:extLst>
              </a:tr>
              <a:tr h="288025">
                <a:tc rowSpan="2">
                  <a:txBody>
                    <a:bodyPr/>
                    <a:lstStyle/>
                    <a:p>
                      <a:pPr algn="ctr">
                        <a:lnSpc>
                          <a:spcPct val="250000"/>
                        </a:lnSpc>
                      </a:pPr>
                      <a:r>
                        <a:rPr lang="ru-RU" sz="1800" dirty="0"/>
                        <a:t>Нут</a:t>
                      </a:r>
                    </a:p>
                  </a:txBody>
                  <a:tcPr/>
                </a:tc>
                <a:tc>
                  <a:txBody>
                    <a:bodyPr/>
                    <a:lstStyle/>
                    <a:p>
                      <a:pPr>
                        <a:lnSpc>
                          <a:spcPts val="1875"/>
                        </a:lnSpc>
                        <a:buNone/>
                      </a:pPr>
                      <a:r>
                        <a:rPr lang="ru-RU" sz="1800" b="0" dirty="0">
                          <a:effectLst/>
                          <a:latin typeface="quote-cjk-patch"/>
                        </a:rPr>
                        <a:t>Масса тысячи семян</a:t>
                      </a:r>
                    </a:p>
                  </a:txBody>
                  <a:tcPr marL="121920" marR="121920" marT="76200" marB="76200" anchor="ctr"/>
                </a:tc>
                <a:tc>
                  <a:txBody>
                    <a:bodyPr/>
                    <a:lstStyle/>
                    <a:p>
                      <a:pPr>
                        <a:lnSpc>
                          <a:spcPts val="1875"/>
                        </a:lnSpc>
                        <a:buNone/>
                      </a:pPr>
                      <a:r>
                        <a:rPr lang="ru-RU" sz="1800" b="0" dirty="0">
                          <a:effectLst/>
                          <a:latin typeface="quote-cjk-patch"/>
                        </a:rPr>
                        <a:t>TSW</a:t>
                      </a:r>
                    </a:p>
                  </a:txBody>
                  <a:tcPr marL="121920" marR="121920" marT="76200" marB="76200" anchor="ctr"/>
                </a:tc>
                <a:tc>
                  <a:txBody>
                    <a:bodyPr/>
                    <a:lstStyle/>
                    <a:p>
                      <a:pPr>
                        <a:lnSpc>
                          <a:spcPts val="1875"/>
                        </a:lnSpc>
                        <a:buNone/>
                      </a:pPr>
                      <a:r>
                        <a:rPr lang="ru-RU" sz="1800" b="0" dirty="0">
                          <a:effectLst/>
                          <a:latin typeface="quote-cjk-patch"/>
                        </a:rPr>
                        <a:t>553</a:t>
                      </a:r>
                    </a:p>
                  </a:txBody>
                  <a:tcPr marL="121920" marR="121920" marT="76200" marB="76200" anchor="ctr"/>
                </a:tc>
                <a:extLst>
                  <a:ext uri="{0D108BD9-81ED-4DB2-BD59-A6C34878D82A}">
                    <a16:rowId xmlns:a16="http://schemas.microsoft.com/office/drawing/2014/main" val="64240862"/>
                  </a:ext>
                </a:extLst>
              </a:tr>
              <a:tr h="288025">
                <a:tc vMerge="1">
                  <a:txBody>
                    <a:bodyPr/>
                    <a:lstStyle/>
                    <a:p>
                      <a:endParaRPr lang="ru-RU" dirty="0"/>
                    </a:p>
                  </a:txBody>
                  <a:tcPr/>
                </a:tc>
                <a:tc>
                  <a:txBody>
                    <a:bodyPr/>
                    <a:lstStyle/>
                    <a:p>
                      <a:pPr>
                        <a:lnSpc>
                          <a:spcPts val="1875"/>
                        </a:lnSpc>
                        <a:buNone/>
                      </a:pPr>
                      <a:r>
                        <a:rPr lang="ru-RU" sz="1800" b="0">
                          <a:effectLst/>
                          <a:latin typeface="quote-cjk-patch"/>
                        </a:rPr>
                        <a:t>Высота растения</a:t>
                      </a:r>
                    </a:p>
                  </a:txBody>
                  <a:tcPr marL="121920" marR="121920" marT="76200" marB="76200" anchor="ctr"/>
                </a:tc>
                <a:tc>
                  <a:txBody>
                    <a:bodyPr/>
                    <a:lstStyle/>
                    <a:p>
                      <a:pPr>
                        <a:lnSpc>
                          <a:spcPts val="1875"/>
                        </a:lnSpc>
                        <a:buNone/>
                      </a:pPr>
                      <a:r>
                        <a:rPr lang="ru-RU" sz="1800" b="0">
                          <a:effectLst/>
                          <a:latin typeface="quote-cjk-patch"/>
                        </a:rPr>
                        <a:t>Pht</a:t>
                      </a:r>
                    </a:p>
                  </a:txBody>
                  <a:tcPr marL="121920" marR="121920" marT="76200" marB="76200" anchor="ctr"/>
                </a:tc>
                <a:tc>
                  <a:txBody>
                    <a:bodyPr/>
                    <a:lstStyle/>
                    <a:p>
                      <a:pPr>
                        <a:lnSpc>
                          <a:spcPts val="1875"/>
                        </a:lnSpc>
                        <a:buNone/>
                      </a:pPr>
                      <a:r>
                        <a:rPr lang="ru-RU" sz="1800" b="0" dirty="0">
                          <a:effectLst/>
                          <a:latin typeface="quote-cjk-patch"/>
                        </a:rPr>
                        <a:t>553</a:t>
                      </a:r>
                    </a:p>
                  </a:txBody>
                  <a:tcPr marL="121920" marR="121920" marT="76200" marB="76200" anchor="ctr"/>
                </a:tc>
                <a:extLst>
                  <a:ext uri="{0D108BD9-81ED-4DB2-BD59-A6C34878D82A}">
                    <a16:rowId xmlns:a16="http://schemas.microsoft.com/office/drawing/2014/main" val="2081993423"/>
                  </a:ext>
                </a:extLst>
              </a:tr>
              <a:tr h="288025">
                <a:tc rowSpan="2">
                  <a:txBody>
                    <a:bodyPr/>
                    <a:lstStyle/>
                    <a:p>
                      <a:pPr algn="ctr">
                        <a:lnSpc>
                          <a:spcPct val="200000"/>
                        </a:lnSpc>
                      </a:pPr>
                      <a:r>
                        <a:rPr lang="ru-RU" sz="1800" dirty="0"/>
                        <a:t>Рис</a:t>
                      </a:r>
                    </a:p>
                  </a:txBody>
                  <a:tcPr/>
                </a:tc>
                <a:tc>
                  <a:txBody>
                    <a:bodyPr/>
                    <a:lstStyle/>
                    <a:p>
                      <a:pPr>
                        <a:lnSpc>
                          <a:spcPts val="1875"/>
                        </a:lnSpc>
                        <a:buNone/>
                      </a:pPr>
                      <a:r>
                        <a:rPr lang="ru-RU" sz="1800" b="0">
                          <a:effectLst/>
                          <a:latin typeface="quote-cjk-patch"/>
                        </a:rPr>
                        <a:t>Высота растения</a:t>
                      </a:r>
                    </a:p>
                  </a:txBody>
                  <a:tcPr marL="121920" marR="121920" marT="76200" marB="76200" anchor="ctr"/>
                </a:tc>
                <a:tc>
                  <a:txBody>
                    <a:bodyPr/>
                    <a:lstStyle/>
                    <a:p>
                      <a:pPr>
                        <a:lnSpc>
                          <a:spcPts val="1875"/>
                        </a:lnSpc>
                        <a:buNone/>
                      </a:pPr>
                      <a:r>
                        <a:rPr lang="ru-RU" sz="1800" b="0">
                          <a:effectLst/>
                          <a:latin typeface="quote-cjk-patch"/>
                        </a:rPr>
                        <a:t>Plant height</a:t>
                      </a:r>
                    </a:p>
                  </a:txBody>
                  <a:tcPr marL="121920" marR="121920" marT="76200" marB="76200" anchor="ctr"/>
                </a:tc>
                <a:tc>
                  <a:txBody>
                    <a:bodyPr/>
                    <a:lstStyle/>
                    <a:p>
                      <a:pPr>
                        <a:lnSpc>
                          <a:spcPts val="1875"/>
                        </a:lnSpc>
                        <a:buNone/>
                      </a:pPr>
                      <a:r>
                        <a:rPr lang="ru-RU" sz="1800" b="0" dirty="0">
                          <a:effectLst/>
                          <a:latin typeface="quote-cjk-patch"/>
                        </a:rPr>
                        <a:t>469</a:t>
                      </a:r>
                    </a:p>
                  </a:txBody>
                  <a:tcPr marL="121920" marR="121920" marT="76200" marB="76200" anchor="ctr"/>
                </a:tc>
                <a:extLst>
                  <a:ext uri="{0D108BD9-81ED-4DB2-BD59-A6C34878D82A}">
                    <a16:rowId xmlns:a16="http://schemas.microsoft.com/office/drawing/2014/main" val="2883001473"/>
                  </a:ext>
                </a:extLst>
              </a:tr>
              <a:tr h="288025">
                <a:tc vMerge="1">
                  <a:txBody>
                    <a:bodyPr/>
                    <a:lstStyle/>
                    <a:p>
                      <a:endParaRPr lang="ru-RU" dirty="0"/>
                    </a:p>
                  </a:txBody>
                  <a:tcPr/>
                </a:tc>
                <a:tc>
                  <a:txBody>
                    <a:bodyPr/>
                    <a:lstStyle/>
                    <a:p>
                      <a:pPr>
                        <a:lnSpc>
                          <a:spcPts val="1875"/>
                        </a:lnSpc>
                        <a:buNone/>
                      </a:pPr>
                      <a:r>
                        <a:rPr lang="ru-RU" sz="1800" b="0" dirty="0">
                          <a:effectLst/>
                          <a:latin typeface="quote-cjk-patch"/>
                        </a:rPr>
                        <a:t>Число побегов</a:t>
                      </a:r>
                    </a:p>
                  </a:txBody>
                  <a:tcPr marL="121920" marR="121920" marT="76200" marB="76200" anchor="ctr"/>
                </a:tc>
                <a:tc>
                  <a:txBody>
                    <a:bodyPr/>
                    <a:lstStyle/>
                    <a:p>
                      <a:pPr>
                        <a:lnSpc>
                          <a:spcPts val="1875"/>
                        </a:lnSpc>
                        <a:buNone/>
                      </a:pPr>
                      <a:r>
                        <a:rPr lang="ru-RU" sz="1800" b="0" dirty="0" err="1">
                          <a:effectLst/>
                          <a:latin typeface="quote-cjk-patch"/>
                        </a:rPr>
                        <a:t>Tiller</a:t>
                      </a:r>
                      <a:r>
                        <a:rPr lang="ru-RU" sz="1800" b="0" dirty="0">
                          <a:effectLst/>
                          <a:latin typeface="quote-cjk-patch"/>
                        </a:rPr>
                        <a:t> </a:t>
                      </a:r>
                      <a:r>
                        <a:rPr lang="ru-RU" sz="1800" b="0" dirty="0" err="1">
                          <a:effectLst/>
                          <a:latin typeface="quote-cjk-patch"/>
                        </a:rPr>
                        <a:t>number</a:t>
                      </a:r>
                      <a:endParaRPr lang="ru-RU" sz="1800" b="0" dirty="0">
                        <a:effectLst/>
                        <a:latin typeface="quote-cjk-patch"/>
                      </a:endParaRPr>
                    </a:p>
                  </a:txBody>
                  <a:tcPr marL="121920" marR="121920" marT="76200" marB="76200" anchor="ctr"/>
                </a:tc>
                <a:tc>
                  <a:txBody>
                    <a:bodyPr/>
                    <a:lstStyle/>
                    <a:p>
                      <a:pPr>
                        <a:lnSpc>
                          <a:spcPts val="1875"/>
                        </a:lnSpc>
                        <a:buNone/>
                      </a:pPr>
                      <a:r>
                        <a:rPr lang="ru-RU" sz="1800" b="0" dirty="0">
                          <a:effectLst/>
                          <a:latin typeface="quote-cjk-patch"/>
                        </a:rPr>
                        <a:t>469</a:t>
                      </a:r>
                    </a:p>
                  </a:txBody>
                  <a:tcPr marL="121920" marR="121920" marT="76200" marB="76200" anchor="ctr"/>
                </a:tc>
                <a:extLst>
                  <a:ext uri="{0D108BD9-81ED-4DB2-BD59-A6C34878D82A}">
                    <a16:rowId xmlns:a16="http://schemas.microsoft.com/office/drawing/2014/main" val="3139654612"/>
                  </a:ext>
                </a:extLst>
              </a:tr>
              <a:tr h="288025">
                <a:tc rowSpan="2">
                  <a:txBody>
                    <a:bodyPr/>
                    <a:lstStyle/>
                    <a:p>
                      <a:pPr algn="ctr">
                        <a:lnSpc>
                          <a:spcPct val="250000"/>
                        </a:lnSpc>
                      </a:pPr>
                      <a:r>
                        <a:rPr lang="ru-RU" sz="1800" dirty="0"/>
                        <a:t>Рапс</a:t>
                      </a:r>
                    </a:p>
                  </a:txBody>
                  <a:tcPr/>
                </a:tc>
                <a:tc>
                  <a:txBody>
                    <a:bodyPr/>
                    <a:lstStyle/>
                    <a:p>
                      <a:pPr>
                        <a:lnSpc>
                          <a:spcPts val="1875"/>
                        </a:lnSpc>
                        <a:buNone/>
                      </a:pPr>
                      <a:r>
                        <a:rPr lang="ru-RU" sz="1800" b="0">
                          <a:effectLst/>
                          <a:latin typeface="quote-cjk-patch"/>
                        </a:rPr>
                        <a:t>Время цветения</a:t>
                      </a:r>
                    </a:p>
                  </a:txBody>
                  <a:tcPr marL="121920" marR="121920" marT="76200" marB="76200" anchor="ctr"/>
                </a:tc>
                <a:tc>
                  <a:txBody>
                    <a:bodyPr/>
                    <a:lstStyle/>
                    <a:p>
                      <a:pPr>
                        <a:lnSpc>
                          <a:spcPts val="1875"/>
                        </a:lnSpc>
                        <a:buNone/>
                      </a:pPr>
                      <a:r>
                        <a:rPr lang="ru-RU" sz="1800" b="0">
                          <a:effectLst/>
                          <a:latin typeface="quote-cjk-patch"/>
                        </a:rPr>
                        <a:t>FloweringTime</a:t>
                      </a:r>
                    </a:p>
                  </a:txBody>
                  <a:tcPr marL="121920" marR="121920" marT="76200" marB="76200" anchor="ctr"/>
                </a:tc>
                <a:tc>
                  <a:txBody>
                    <a:bodyPr/>
                    <a:lstStyle/>
                    <a:p>
                      <a:pPr>
                        <a:lnSpc>
                          <a:spcPts val="1875"/>
                        </a:lnSpc>
                        <a:buNone/>
                      </a:pPr>
                      <a:r>
                        <a:rPr lang="ru-RU" sz="1800" b="0" dirty="0">
                          <a:effectLst/>
                          <a:latin typeface="quote-cjk-patch"/>
                        </a:rPr>
                        <a:t>926</a:t>
                      </a:r>
                    </a:p>
                  </a:txBody>
                  <a:tcPr marL="121920" marR="121920" marT="76200" marB="76200" anchor="ctr"/>
                </a:tc>
                <a:extLst>
                  <a:ext uri="{0D108BD9-81ED-4DB2-BD59-A6C34878D82A}">
                    <a16:rowId xmlns:a16="http://schemas.microsoft.com/office/drawing/2014/main" val="2687061758"/>
                  </a:ext>
                </a:extLst>
              </a:tr>
              <a:tr h="288025">
                <a:tc vMerge="1">
                  <a:txBody>
                    <a:bodyPr/>
                    <a:lstStyle/>
                    <a:p>
                      <a:endParaRPr lang="ru-RU" dirty="0"/>
                    </a:p>
                  </a:txBody>
                  <a:tcPr/>
                </a:tc>
                <a:tc>
                  <a:txBody>
                    <a:bodyPr/>
                    <a:lstStyle/>
                    <a:p>
                      <a:pPr>
                        <a:lnSpc>
                          <a:spcPts val="1875"/>
                        </a:lnSpc>
                        <a:buNone/>
                      </a:pPr>
                      <a:r>
                        <a:rPr lang="ru-RU" sz="1800" b="0" dirty="0">
                          <a:effectLst/>
                          <a:latin typeface="quote-cjk-patch"/>
                        </a:rPr>
                        <a:t>Содержание масла</a:t>
                      </a:r>
                    </a:p>
                  </a:txBody>
                  <a:tcPr marL="121920" marR="121920" marT="76200" marB="76200" anchor="ctr"/>
                </a:tc>
                <a:tc>
                  <a:txBody>
                    <a:bodyPr/>
                    <a:lstStyle/>
                    <a:p>
                      <a:pPr>
                        <a:lnSpc>
                          <a:spcPts val="1875"/>
                        </a:lnSpc>
                        <a:buNone/>
                      </a:pPr>
                      <a:r>
                        <a:rPr lang="ru-RU" sz="1800" b="0">
                          <a:effectLst/>
                          <a:latin typeface="quote-cjk-patch"/>
                        </a:rPr>
                        <a:t>OilContent</a:t>
                      </a:r>
                    </a:p>
                  </a:txBody>
                  <a:tcPr marL="121920" marR="121920" marT="76200" marB="76200" anchor="ctr"/>
                </a:tc>
                <a:tc>
                  <a:txBody>
                    <a:bodyPr/>
                    <a:lstStyle/>
                    <a:p>
                      <a:pPr>
                        <a:lnSpc>
                          <a:spcPts val="1875"/>
                        </a:lnSpc>
                        <a:buNone/>
                      </a:pPr>
                      <a:r>
                        <a:rPr lang="ru-RU" sz="1800" b="0" dirty="0">
                          <a:effectLst/>
                          <a:latin typeface="quote-cjk-patch"/>
                        </a:rPr>
                        <a:t>279</a:t>
                      </a:r>
                    </a:p>
                  </a:txBody>
                  <a:tcPr marL="121920" marR="121920" marT="76200" marB="76200" anchor="ctr"/>
                </a:tc>
                <a:extLst>
                  <a:ext uri="{0D108BD9-81ED-4DB2-BD59-A6C34878D82A}">
                    <a16:rowId xmlns:a16="http://schemas.microsoft.com/office/drawing/2014/main" val="2473829545"/>
                  </a:ext>
                </a:extLst>
              </a:tr>
            </a:tbl>
          </a:graphicData>
        </a:graphic>
      </p:graphicFrame>
      <p:sp>
        <p:nvSpPr>
          <p:cNvPr id="19" name="TextBox 18">
            <a:extLst>
              <a:ext uri="{FF2B5EF4-FFF2-40B4-BE49-F238E27FC236}">
                <a16:creationId xmlns:a16="http://schemas.microsoft.com/office/drawing/2014/main" id="{92C2A17C-AECD-FC47-AE8C-47426BA681FA}"/>
              </a:ext>
            </a:extLst>
          </p:cNvPr>
          <p:cNvSpPr txBox="1"/>
          <p:nvPr/>
        </p:nvSpPr>
        <p:spPr>
          <a:xfrm>
            <a:off x="7608168" y="1292790"/>
            <a:ext cx="4464496" cy="1754326"/>
          </a:xfrm>
          <a:prstGeom prst="rect">
            <a:avLst/>
          </a:prstGeom>
          <a:noFill/>
        </p:spPr>
        <p:txBody>
          <a:bodyPr wrap="square">
            <a:spAutoFit/>
          </a:bodyPr>
          <a:lstStyle/>
          <a:p>
            <a:pPr latinLnBrk="1"/>
            <a:r>
              <a:rPr lang="ru-RU" dirty="0"/>
              <a:t>1. SNP-данные (генотипы)</a:t>
            </a:r>
          </a:p>
          <a:p>
            <a:pPr latinLnBrk="1"/>
            <a:r>
              <a:rPr lang="ru-RU" dirty="0"/>
              <a:t>2. Фенотипы</a:t>
            </a:r>
          </a:p>
          <a:p>
            <a:pPr latinLnBrk="1"/>
            <a:r>
              <a:rPr lang="ru-RU" dirty="0"/>
              <a:t>3. Аннотация (SNP → ген)</a:t>
            </a:r>
          </a:p>
          <a:p>
            <a:pPr latinLnBrk="1"/>
            <a:r>
              <a:rPr lang="ru-RU" dirty="0"/>
              <a:t>    Необходима для:</a:t>
            </a:r>
          </a:p>
          <a:p>
            <a:pPr latinLnBrk="1"/>
            <a:r>
              <a:rPr lang="ru-RU" dirty="0"/>
              <a:t>      • группировки SNP по генам</a:t>
            </a:r>
          </a:p>
          <a:p>
            <a:pPr latinLnBrk="1"/>
            <a:r>
              <a:rPr lang="ru-RU" dirty="0"/>
              <a:t>      • интерпретации результатов</a:t>
            </a:r>
            <a:endParaRPr lang="ru-RU" b="0" dirty="0">
              <a:effectLst/>
            </a:endParaRPr>
          </a:p>
        </p:txBody>
      </p:sp>
      <p:sp>
        <p:nvSpPr>
          <p:cNvPr id="23" name="TextBox 22">
            <a:extLst>
              <a:ext uri="{FF2B5EF4-FFF2-40B4-BE49-F238E27FC236}">
                <a16:creationId xmlns:a16="http://schemas.microsoft.com/office/drawing/2014/main" id="{DD91BDB3-C6BE-7F78-BAA4-5CE133F01359}"/>
              </a:ext>
            </a:extLst>
          </p:cNvPr>
          <p:cNvSpPr txBox="1"/>
          <p:nvPr/>
        </p:nvSpPr>
        <p:spPr>
          <a:xfrm>
            <a:off x="8046536" y="3742074"/>
            <a:ext cx="4001129" cy="2031325"/>
          </a:xfrm>
          <a:prstGeom prst="rect">
            <a:avLst/>
          </a:prstGeom>
          <a:noFill/>
        </p:spPr>
        <p:txBody>
          <a:bodyPr wrap="square">
            <a:spAutoFit/>
          </a:bodyPr>
          <a:lstStyle/>
          <a:p>
            <a:r>
              <a:rPr lang="ru-RU" b="1" dirty="0"/>
              <a:t>Ссылки на источники данных</a:t>
            </a:r>
            <a:r>
              <a:rPr lang="ru-RU" dirty="0"/>
              <a:t>:</a:t>
            </a:r>
          </a:p>
          <a:p>
            <a:pPr marL="285750" indent="-285750">
              <a:buFont typeface="Arial" panose="020B0604020202020204" pitchFamily="34" charset="0"/>
              <a:buChar char="•"/>
            </a:pPr>
            <a:r>
              <a:rPr lang="ru-RU" dirty="0"/>
              <a:t>Нут — данные ВИР (</a:t>
            </a:r>
            <a:r>
              <a:rPr lang="ru-RU" dirty="0" err="1"/>
              <a:t>Соколькова</a:t>
            </a:r>
            <a:r>
              <a:rPr lang="ru-RU" dirty="0"/>
              <a:t> и др., 2020)</a:t>
            </a:r>
          </a:p>
          <a:p>
            <a:pPr marL="285750" indent="-285750">
              <a:buFont typeface="Arial" panose="020B0604020202020204" pitchFamily="34" charset="0"/>
              <a:buChar char="•"/>
            </a:pPr>
            <a:r>
              <a:rPr lang="ru-RU" dirty="0"/>
              <a:t>Рис — </a:t>
            </a:r>
            <a:r>
              <a:rPr lang="en-US" dirty="0"/>
              <a:t>Lu et al., 2015 (BMC Genomics)</a:t>
            </a:r>
          </a:p>
          <a:p>
            <a:pPr marL="285750" indent="-285750">
              <a:buFont typeface="Arial" panose="020B0604020202020204" pitchFamily="34" charset="0"/>
              <a:buChar char="•"/>
            </a:pPr>
            <a:r>
              <a:rPr lang="ru-RU" dirty="0"/>
              <a:t>Рапс — </a:t>
            </a:r>
            <a:r>
              <a:rPr lang="en-US" dirty="0" err="1"/>
              <a:t>CropGS</a:t>
            </a:r>
            <a:r>
              <a:rPr lang="en-US" dirty="0"/>
              <a:t>-Hub (Chen et al., 2024; Wu et al., 2019)</a:t>
            </a:r>
            <a:endParaRPr lang="ru-RU" dirty="0"/>
          </a:p>
        </p:txBody>
      </p:sp>
    </p:spTree>
    <p:extLst>
      <p:ext uri="{BB962C8B-B14F-4D97-AF65-F5344CB8AC3E}">
        <p14:creationId xmlns:p14="http://schemas.microsoft.com/office/powerpoint/2010/main" val="2295612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9C1E14-4B79-BA08-7782-DC1D1DE10850}"/>
              </a:ext>
            </a:extLst>
          </p:cNvPr>
          <p:cNvSpPr>
            <a:spLocks noGrp="1"/>
          </p:cNvSpPr>
          <p:nvPr>
            <p:ph type="title"/>
          </p:nvPr>
        </p:nvSpPr>
        <p:spPr>
          <a:xfrm>
            <a:off x="609600" y="135890"/>
            <a:ext cx="10972800" cy="1007110"/>
          </a:xfrm>
        </p:spPr>
        <p:txBody>
          <a:bodyPr>
            <a:normAutofit fontScale="90000"/>
          </a:bodyPr>
          <a:lstStyle/>
          <a:p>
            <a:r>
              <a:rPr lang="ru-RU" sz="3600" b="1"/>
              <a:t>Этапы исследования</a:t>
            </a:r>
            <a:br>
              <a:rPr lang="ru-RU" sz="2900" b="1"/>
            </a:br>
            <a:endParaRPr lang="ru-RU" sz="2900" dirty="0"/>
          </a:p>
        </p:txBody>
      </p:sp>
      <p:sp>
        <p:nvSpPr>
          <p:cNvPr id="3" name="Номер слайда 2">
            <a:extLst>
              <a:ext uri="{FF2B5EF4-FFF2-40B4-BE49-F238E27FC236}">
                <a16:creationId xmlns:a16="http://schemas.microsoft.com/office/drawing/2014/main" id="{0B78E8D8-1439-75D9-8DE1-F50A00E22C48}"/>
              </a:ext>
            </a:extLst>
          </p:cNvPr>
          <p:cNvSpPr>
            <a:spLocks noGrp="1"/>
          </p:cNvSpPr>
          <p:nvPr>
            <p:ph type="sldNum" sz="quarter" idx="12"/>
          </p:nvPr>
        </p:nvSpPr>
        <p:spPr/>
        <p:txBody>
          <a:bodyPr/>
          <a:lstStyle/>
          <a:p>
            <a:fld id="{B19B0651-EE4F-4900-A07F-96A6BFA9D0F0}" type="slidenum">
              <a:rPr lang="ru-RU" smtClean="0"/>
              <a:pPr/>
              <a:t>7</a:t>
            </a:fld>
            <a:endParaRPr lang="ru-RU" dirty="0"/>
          </a:p>
        </p:txBody>
      </p:sp>
      <p:sp>
        <p:nvSpPr>
          <p:cNvPr id="4" name="Объект 3">
            <a:extLst>
              <a:ext uri="{FF2B5EF4-FFF2-40B4-BE49-F238E27FC236}">
                <a16:creationId xmlns:a16="http://schemas.microsoft.com/office/drawing/2014/main" id="{A109C195-1293-AC9D-3509-91314A15858C}"/>
              </a:ext>
            </a:extLst>
          </p:cNvPr>
          <p:cNvSpPr>
            <a:spLocks noGrp="1"/>
          </p:cNvSpPr>
          <p:nvPr>
            <p:ph sz="quarter" idx="1"/>
          </p:nvPr>
        </p:nvSpPr>
        <p:spPr/>
        <p:txBody>
          <a:bodyPr>
            <a:normAutofit/>
          </a:bodyPr>
          <a:lstStyle/>
          <a:p>
            <a:r>
              <a:rPr lang="ru-RU" b="1" dirty="0"/>
              <a:t>Этап 1. Анализ и оптимизация:</a:t>
            </a:r>
            <a:endParaRPr lang="ru-RU" dirty="0"/>
          </a:p>
          <a:p>
            <a:pPr lvl="1"/>
            <a:r>
              <a:rPr lang="ru-RU" dirty="0"/>
              <a:t>Взята базовая модель предшественника (Реутов) для нута.</a:t>
            </a:r>
          </a:p>
          <a:p>
            <a:pPr lvl="1"/>
            <a:r>
              <a:rPr lang="ru-RU" dirty="0"/>
              <a:t>Проведена оптимизация </a:t>
            </a:r>
            <a:r>
              <a:rPr lang="ru-RU" dirty="0" err="1"/>
              <a:t>гиперпараметров</a:t>
            </a:r>
            <a:r>
              <a:rPr lang="ru-RU" dirty="0"/>
              <a:t> (функция потерь </a:t>
            </a:r>
            <a:r>
              <a:rPr lang="ru-RU" dirty="0" err="1"/>
              <a:t>Huber</a:t>
            </a:r>
            <a:r>
              <a:rPr lang="ru-RU" dirty="0"/>
              <a:t>, аугментация </a:t>
            </a:r>
            <a:r>
              <a:rPr lang="ru-RU" dirty="0" err="1"/>
              <a:t>MixUp</a:t>
            </a:r>
            <a:r>
              <a:rPr lang="ru-RU" dirty="0"/>
              <a:t>, планировщик).</a:t>
            </a:r>
          </a:p>
          <a:p>
            <a:r>
              <a:rPr lang="ru-RU" b="1" dirty="0"/>
              <a:t>Этап 2. Расширение:</a:t>
            </a:r>
            <a:endParaRPr lang="ru-RU" dirty="0"/>
          </a:p>
          <a:p>
            <a:pPr lvl="1"/>
            <a:r>
              <a:rPr lang="ru-RU" dirty="0"/>
              <a:t>Протестирована базовая модель на новой культуре (рис).</a:t>
            </a:r>
          </a:p>
          <a:p>
            <a:pPr lvl="1"/>
            <a:r>
              <a:rPr lang="ru-RU" dirty="0"/>
              <a:t>Выявлены ограничения при низкой плотности SNP на ген.</a:t>
            </a:r>
          </a:p>
          <a:p>
            <a:r>
              <a:rPr lang="ru-RU" b="1" dirty="0"/>
              <a:t>Этап 3. Разработка модификаций:</a:t>
            </a:r>
            <a:endParaRPr lang="ru-RU" dirty="0"/>
          </a:p>
          <a:p>
            <a:pPr lvl="1"/>
            <a:r>
              <a:rPr lang="ru-RU" dirty="0"/>
              <a:t>Добавлен механизм внимания на уровне SNP (внутри гена).</a:t>
            </a:r>
          </a:p>
          <a:p>
            <a:pPr lvl="1"/>
            <a:r>
              <a:rPr lang="ru-RU" dirty="0"/>
              <a:t>Добавлен реконструкционный блок (</a:t>
            </a:r>
            <a:r>
              <a:rPr lang="ru-RU" dirty="0" err="1"/>
              <a:t>автокодировщик</a:t>
            </a:r>
            <a:r>
              <a:rPr lang="ru-RU" dirty="0"/>
              <a:t>) для регуляризации.</a:t>
            </a:r>
          </a:p>
          <a:p>
            <a:r>
              <a:rPr lang="ru-RU" b="1" dirty="0"/>
              <a:t>Итог:</a:t>
            </a:r>
            <a:r>
              <a:rPr lang="ru-RU" dirty="0"/>
              <a:t> Модель протестирована на 3 культурах (нут, рис, рапс).</a:t>
            </a:r>
          </a:p>
          <a:p>
            <a:endParaRPr lang="ru-RU" dirty="0"/>
          </a:p>
        </p:txBody>
      </p:sp>
    </p:spTree>
    <p:extLst>
      <p:ext uri="{BB962C8B-B14F-4D97-AF65-F5344CB8AC3E}">
        <p14:creationId xmlns:p14="http://schemas.microsoft.com/office/powerpoint/2010/main" val="501011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A3B2009-CA6D-D79C-2267-2F9E9A5FF20E}"/>
              </a:ext>
            </a:extLst>
          </p:cNvPr>
          <p:cNvSpPr>
            <a:spLocks noGrp="1"/>
          </p:cNvSpPr>
          <p:nvPr>
            <p:ph type="title"/>
          </p:nvPr>
        </p:nvSpPr>
        <p:spPr/>
        <p:txBody>
          <a:bodyPr>
            <a:normAutofit fontScale="90000"/>
          </a:bodyPr>
          <a:lstStyle/>
          <a:p>
            <a:r>
              <a:rPr lang="ru-RU" sz="3600" b="1" dirty="0"/>
              <a:t>Постановка задачи</a:t>
            </a:r>
            <a:br>
              <a:rPr lang="ru-RU" sz="2900" b="1" dirty="0"/>
            </a:br>
            <a:endParaRPr lang="ru-RU" sz="2900" b="1" dirty="0"/>
          </a:p>
        </p:txBody>
      </p:sp>
      <p:sp>
        <p:nvSpPr>
          <p:cNvPr id="3" name="Номер слайда 2">
            <a:extLst>
              <a:ext uri="{FF2B5EF4-FFF2-40B4-BE49-F238E27FC236}">
                <a16:creationId xmlns:a16="http://schemas.microsoft.com/office/drawing/2014/main" id="{8A079739-1C88-4F83-6C50-A1591037552F}"/>
              </a:ext>
            </a:extLst>
          </p:cNvPr>
          <p:cNvSpPr>
            <a:spLocks noGrp="1"/>
          </p:cNvSpPr>
          <p:nvPr>
            <p:ph type="sldNum" sz="quarter" idx="12"/>
          </p:nvPr>
        </p:nvSpPr>
        <p:spPr/>
        <p:txBody>
          <a:bodyPr/>
          <a:lstStyle/>
          <a:p>
            <a:fld id="{B19B0651-EE4F-4900-A07F-96A6BFA9D0F0}" type="slidenum">
              <a:rPr lang="ru-RU" smtClean="0"/>
              <a:pPr/>
              <a:t>8</a:t>
            </a:fld>
            <a:endParaRPr lang="ru-RU" dirty="0"/>
          </a:p>
        </p:txBody>
      </p:sp>
      <mc:AlternateContent xmlns:mc="http://schemas.openxmlformats.org/markup-compatibility/2006" xmlns:a14="http://schemas.microsoft.com/office/drawing/2010/main">
        <mc:Choice Requires="a14">
          <p:sp>
            <p:nvSpPr>
              <p:cNvPr id="4" name="Объект 3">
                <a:extLst>
                  <a:ext uri="{FF2B5EF4-FFF2-40B4-BE49-F238E27FC236}">
                    <a16:creationId xmlns:a16="http://schemas.microsoft.com/office/drawing/2014/main" id="{124141FF-0EA5-AD08-1C61-089445418582}"/>
                  </a:ext>
                </a:extLst>
              </p:cNvPr>
              <p:cNvSpPr>
                <a:spLocks noGrp="1"/>
              </p:cNvSpPr>
              <p:nvPr>
                <p:ph sz="quarter" idx="1"/>
              </p:nvPr>
            </p:nvSpPr>
            <p:spPr>
              <a:xfrm>
                <a:off x="407368" y="1216152"/>
                <a:ext cx="5388864" cy="5140198"/>
              </a:xfrm>
            </p:spPr>
            <p:txBody>
              <a:bodyPr>
                <a:noAutofit/>
              </a:bodyPr>
              <a:lstStyle/>
              <a:p>
                <a:r>
                  <a:rPr lang="ru-RU" sz="2000" b="1" dirty="0"/>
                  <a:t>Генотип</a:t>
                </a:r>
                <a:r>
                  <a:rPr lang="ru-RU" sz="2000" dirty="0"/>
                  <a:t> </a:t>
                </a:r>
                <a14:m>
                  <m:oMath xmlns:m="http://schemas.openxmlformats.org/officeDocument/2006/math">
                    <m:r>
                      <a:rPr lang="ru-RU" sz="2000" i="1">
                        <a:latin typeface="Cambria Math" panose="02040503050406030204" pitchFamily="18" charset="0"/>
                      </a:rPr>
                      <m:t>𝑖</m:t>
                    </m:r>
                  </m:oMath>
                </a14:m>
                <a:r>
                  <a:rPr lang="ru-RU" sz="2000" dirty="0"/>
                  <a:t>-го образца — вектор SNP-маркеров:</a:t>
                </a:r>
              </a:p>
              <a:p>
                <a:pPr marL="0" indent="0">
                  <a:buNone/>
                </a:pPr>
                <a:r>
                  <a:rPr lang="ru-RU" sz="2000" dirty="0"/>
                  <a:t>     	</a:t>
                </a:r>
                <a14:m>
                  <m:oMath xmlns:m="http://schemas.openxmlformats.org/officeDocument/2006/math">
                    <m:sSub>
                      <m:sSubPr>
                        <m:ctrlPr>
                          <a:rPr lang="ru-RU" sz="2000" i="1">
                            <a:latin typeface="Cambria Math" panose="02040503050406030204" pitchFamily="18" charset="0"/>
                          </a:rPr>
                        </m:ctrlPr>
                      </m:sSubPr>
                      <m:e>
                        <m:r>
                          <m:rPr>
                            <m:sty m:val="p"/>
                          </m:rPr>
                          <a:rPr lang="ru-RU" sz="2000" b="0" i="1">
                            <a:latin typeface="Cambria Math" panose="02040503050406030204" pitchFamily="18" charset="0"/>
                          </a:rPr>
                          <m:t>x</m:t>
                        </m:r>
                      </m:e>
                      <m:sub>
                        <m:r>
                          <a:rPr lang="ru-RU" sz="2000" b="0" i="1">
                            <a:latin typeface="Cambria Math" panose="02040503050406030204" pitchFamily="18" charset="0"/>
                          </a:rPr>
                          <m:t>𝑖</m:t>
                        </m:r>
                      </m:sub>
                    </m:sSub>
                    <m:r>
                      <a:rPr lang="ru-RU" sz="2000">
                        <a:latin typeface="Cambria Math" panose="02040503050406030204" pitchFamily="18" charset="0"/>
                      </a:rPr>
                      <m:t>=</m:t>
                    </m:r>
                    <m:sSup>
                      <m:sSupPr>
                        <m:ctrlPr>
                          <a:rPr lang="ru-RU" sz="2000" b="0" i="1" smtClean="0">
                            <a:latin typeface="Cambria Math" panose="02040503050406030204" pitchFamily="18" charset="0"/>
                          </a:rPr>
                        </m:ctrlPr>
                      </m:sSupPr>
                      <m:e>
                        <m:r>
                          <a:rPr lang="ru-RU" sz="2000">
                            <a:latin typeface="Cambria Math" panose="02040503050406030204" pitchFamily="18" charset="0"/>
                          </a:rPr>
                          <m:t>(</m:t>
                        </m:r>
                        <m:sSub>
                          <m:sSubPr>
                            <m:ctrlPr>
                              <a:rPr lang="ru-RU" sz="2000" i="1">
                                <a:latin typeface="Cambria Math" panose="02040503050406030204" pitchFamily="18" charset="0"/>
                              </a:rPr>
                            </m:ctrlPr>
                          </m:sSubPr>
                          <m:e>
                            <m:r>
                              <a:rPr lang="ru-RU" sz="2000" i="1">
                                <a:latin typeface="Cambria Math" panose="02040503050406030204" pitchFamily="18" charset="0"/>
                              </a:rPr>
                              <m:t>𝑥</m:t>
                            </m:r>
                          </m:e>
                          <m:sub>
                            <m:r>
                              <a:rPr lang="ru-RU" sz="2000" i="1">
                                <a:latin typeface="Cambria Math" panose="02040503050406030204" pitchFamily="18" charset="0"/>
                              </a:rPr>
                              <m:t>𝑖</m:t>
                            </m:r>
                            <m:r>
                              <a:rPr lang="ru-RU" sz="2000">
                                <a:latin typeface="Cambria Math" panose="02040503050406030204" pitchFamily="18" charset="0"/>
                              </a:rPr>
                              <m:t>1</m:t>
                            </m:r>
                          </m:sub>
                        </m:sSub>
                        <m:r>
                          <a:rPr lang="en-US" sz="2000" i="1">
                            <a:latin typeface="Cambria Math" panose="02040503050406030204" pitchFamily="18" charset="0"/>
                          </a:rPr>
                          <m:t>,</m:t>
                        </m:r>
                        <m:sSub>
                          <m:sSubPr>
                            <m:ctrlPr>
                              <a:rPr lang="ru-RU" sz="2000" i="1">
                                <a:latin typeface="Cambria Math" panose="02040503050406030204" pitchFamily="18" charset="0"/>
                              </a:rPr>
                            </m:ctrlPr>
                          </m:sSubPr>
                          <m:e>
                            <m:r>
                              <a:rPr lang="ru-RU" sz="2000" i="1">
                                <a:latin typeface="Cambria Math" panose="02040503050406030204" pitchFamily="18" charset="0"/>
                              </a:rPr>
                              <m:t>𝑥</m:t>
                            </m:r>
                          </m:e>
                          <m:sub>
                            <m:r>
                              <a:rPr lang="ru-RU" sz="2000" i="1">
                                <a:latin typeface="Cambria Math" panose="02040503050406030204" pitchFamily="18" charset="0"/>
                              </a:rPr>
                              <m:t>𝑖</m:t>
                            </m:r>
                            <m:r>
                              <a:rPr lang="en-US" sz="2000">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 </m:t>
                        </m:r>
                        <m:sSub>
                          <m:sSubPr>
                            <m:ctrlPr>
                              <a:rPr lang="ru-RU" sz="2000" i="1">
                                <a:latin typeface="Cambria Math" panose="02040503050406030204" pitchFamily="18" charset="0"/>
                              </a:rPr>
                            </m:ctrlPr>
                          </m:sSubPr>
                          <m:e>
                            <m:r>
                              <a:rPr lang="ru-RU" sz="2000" i="1">
                                <a:latin typeface="Cambria Math" panose="02040503050406030204" pitchFamily="18" charset="0"/>
                              </a:rPr>
                              <m:t>𝑥</m:t>
                            </m:r>
                          </m:e>
                          <m:sub>
                            <m:r>
                              <a:rPr lang="ru-RU" sz="2000" i="1">
                                <a:latin typeface="Cambria Math" panose="02040503050406030204" pitchFamily="18" charset="0"/>
                              </a:rPr>
                              <m:t>𝑖</m:t>
                            </m:r>
                            <m:r>
                              <m:rPr>
                                <m:sty m:val="p"/>
                              </m:rPr>
                              <a:rPr lang="en-US" sz="2000" b="0" i="0" smtClean="0">
                                <a:latin typeface="Cambria Math" panose="02040503050406030204" pitchFamily="18" charset="0"/>
                              </a:rPr>
                              <m:t>m</m:t>
                            </m:r>
                          </m:sub>
                        </m:sSub>
                        <m:r>
                          <a:rPr lang="ru-RU" sz="2000">
                            <a:latin typeface="Cambria Math" panose="02040503050406030204" pitchFamily="18" charset="0"/>
                          </a:rPr>
                          <m:t>)</m:t>
                        </m:r>
                      </m:e>
                      <m:sup>
                        <m:r>
                          <a:rPr lang="en-US" sz="2000" b="0" i="1" smtClean="0">
                            <a:latin typeface="Cambria Math" panose="02040503050406030204" pitchFamily="18" charset="0"/>
                          </a:rPr>
                          <m:t>𝑇</m:t>
                        </m:r>
                      </m:sup>
                    </m:sSup>
                    <m:r>
                      <a:rPr lang="ru-RU" sz="2000">
                        <a:latin typeface="Cambria Math" panose="02040503050406030204" pitchFamily="18" charset="0"/>
                      </a:rPr>
                      <m:t>, </m:t>
                    </m:r>
                    <m:sSub>
                      <m:sSubPr>
                        <m:ctrlPr>
                          <a:rPr lang="ru-RU" sz="2000" i="1">
                            <a:latin typeface="Cambria Math" panose="02040503050406030204" pitchFamily="18" charset="0"/>
                          </a:rPr>
                        </m:ctrlPr>
                      </m:sSubPr>
                      <m:e>
                        <m:r>
                          <a:rPr lang="ru-RU" sz="2000" i="1">
                            <a:latin typeface="Cambria Math" panose="02040503050406030204" pitchFamily="18" charset="0"/>
                          </a:rPr>
                          <m:t>𝑥</m:t>
                        </m:r>
                      </m:e>
                      <m:sub>
                        <m:r>
                          <a:rPr lang="ru-RU" sz="2000" i="1">
                            <a:latin typeface="Cambria Math" panose="02040503050406030204" pitchFamily="18" charset="0"/>
                          </a:rPr>
                          <m:t>𝑖𝑗</m:t>
                        </m:r>
                      </m:sub>
                    </m:sSub>
                    <m:r>
                      <a:rPr lang="ru-RU" sz="2000">
                        <a:latin typeface="Cambria Math" panose="02040503050406030204" pitchFamily="18" charset="0"/>
                      </a:rPr>
                      <m:t>∈</m:t>
                    </m:r>
                    <m:r>
                      <a:rPr lang="en-US" sz="2000" b="0" i="0" smtClean="0">
                        <a:latin typeface="Cambria Math" panose="02040503050406030204" pitchFamily="18" charset="0"/>
                      </a:rPr>
                      <m:t>{0,1,2}</m:t>
                    </m:r>
                  </m:oMath>
                </a14:m>
                <a:r>
                  <a:rPr lang="ru-RU" sz="2000" b="0" dirty="0"/>
                  <a:t>,</a:t>
                </a:r>
              </a:p>
              <a:p>
                <a:pPr marL="0" indent="0">
                  <a:buNone/>
                </a:pPr>
                <a:r>
                  <a:rPr lang="ru-RU" sz="2000" dirty="0"/>
                  <a:t>     где</a:t>
                </a:r>
              </a:p>
              <a:p>
                <a:pPr lvl="1"/>
                <a:r>
                  <a:rPr lang="ru-RU" sz="1700" dirty="0"/>
                  <a:t>0 = более частый вариант (оба аллеля частые)</a:t>
                </a:r>
              </a:p>
              <a:p>
                <a:pPr lvl="1"/>
                <a:r>
                  <a:rPr lang="ru-RU" sz="1700" dirty="0"/>
                  <a:t>1 = смешанный вариант (один частый, один редкий)</a:t>
                </a:r>
              </a:p>
              <a:p>
                <a:pPr lvl="1"/>
                <a:r>
                  <a:rPr lang="ru-RU" sz="1700" dirty="0"/>
                  <a:t>2 = более редкий вариант (оба аллеля редкие)</a:t>
                </a:r>
              </a:p>
              <a:p>
                <a:pPr lvl="1"/>
                <a:r>
                  <a:rPr lang="en-US" sz="1700" dirty="0"/>
                  <a:t>m</a:t>
                </a:r>
                <a:r>
                  <a:rPr lang="ru-RU" sz="1700" dirty="0"/>
                  <a:t> </a:t>
                </a:r>
                <a:r>
                  <a:rPr lang="en-US" sz="1700" dirty="0"/>
                  <a:t>-</a:t>
                </a:r>
                <a:r>
                  <a:rPr lang="ru-RU" sz="1700" dirty="0"/>
                  <a:t> количество снипов</a:t>
                </a:r>
              </a:p>
              <a:p>
                <a:r>
                  <a:rPr lang="ru-RU" sz="2000" b="1" dirty="0"/>
                  <a:t>Фенотип</a:t>
                </a:r>
                <a:r>
                  <a:rPr lang="ru-RU" sz="2000" dirty="0"/>
                  <a:t> </a:t>
                </a:r>
                <a14:m>
                  <m:oMath xmlns:m="http://schemas.openxmlformats.org/officeDocument/2006/math">
                    <m:r>
                      <a:rPr lang="ru-RU" sz="2000" i="1">
                        <a:latin typeface="Cambria Math" panose="02040503050406030204" pitchFamily="18" charset="0"/>
                      </a:rPr>
                      <m:t>𝑖</m:t>
                    </m:r>
                  </m:oMath>
                </a14:m>
                <a:r>
                  <a:rPr lang="ru-RU" sz="2000" dirty="0"/>
                  <a:t>-го образца — вектор целевых признаков:</a:t>
                </a:r>
              </a:p>
              <a:p>
                <a:pPr marL="0" indent="0">
                  <a:buNone/>
                </a:pPr>
                <a14:m>
                  <m:oMathPara xmlns:m="http://schemas.openxmlformats.org/officeDocument/2006/math">
                    <m:oMathParaPr>
                      <m:jc m:val="centerGroup"/>
                    </m:oMathParaPr>
                    <m:oMath xmlns:m="http://schemas.openxmlformats.org/officeDocument/2006/math">
                      <m:sSub>
                        <m:sSubPr>
                          <m:ctrlPr>
                            <a:rPr lang="ru-RU" sz="2000" b="1" i="1">
                              <a:latin typeface="Cambria Math" panose="02040503050406030204" pitchFamily="18" charset="0"/>
                            </a:rPr>
                          </m:ctrlPr>
                        </m:sSubPr>
                        <m:e>
                          <m:r>
                            <m:rPr>
                              <m:sty m:val="p"/>
                            </m:rPr>
                            <a:rPr lang="ru-RU" sz="2000" b="0" i="1">
                              <a:latin typeface="Cambria Math" panose="02040503050406030204" pitchFamily="18" charset="0"/>
                            </a:rPr>
                            <m:t>y</m:t>
                          </m:r>
                        </m:e>
                        <m:sub>
                          <m:r>
                            <a:rPr lang="ru-RU" sz="2000" i="1">
                              <a:latin typeface="Cambria Math" panose="02040503050406030204" pitchFamily="18" charset="0"/>
                            </a:rPr>
                            <m:t>𝑖</m:t>
                          </m:r>
                        </m:sub>
                      </m:sSub>
                      <m:r>
                        <a:rPr lang="ru-RU" sz="2000">
                          <a:latin typeface="Cambria Math" panose="02040503050406030204" pitchFamily="18" charset="0"/>
                        </a:rPr>
                        <m:t>=</m:t>
                      </m:r>
                      <m:sSup>
                        <m:sSupPr>
                          <m:ctrlPr>
                            <a:rPr lang="ru-RU" sz="2000" i="1">
                              <a:latin typeface="Cambria Math" panose="02040503050406030204" pitchFamily="18" charset="0"/>
                            </a:rPr>
                          </m:ctrlPr>
                        </m:sSupPr>
                        <m:e>
                          <m:r>
                            <a:rPr lang="ru-RU" sz="2000" i="1">
                              <a:latin typeface="Cambria Math" panose="02040503050406030204" pitchFamily="18" charset="0"/>
                            </a:rPr>
                            <m:t>(</m:t>
                          </m:r>
                          <m:sSub>
                            <m:sSubPr>
                              <m:ctrlPr>
                                <a:rPr lang="ru-RU" sz="2000" i="1">
                                  <a:latin typeface="Cambria Math" panose="02040503050406030204" pitchFamily="18" charset="0"/>
                                </a:rPr>
                              </m:ctrlPr>
                            </m:sSubPr>
                            <m:e>
                              <m:r>
                                <a:rPr lang="ru-RU" sz="2000" i="1">
                                  <a:latin typeface="Cambria Math" panose="02040503050406030204" pitchFamily="18" charset="0"/>
                                </a:rPr>
                                <m:t>𝑦</m:t>
                              </m:r>
                            </m:e>
                            <m:sub>
                              <m:r>
                                <a:rPr lang="ru-RU" sz="2000" i="1">
                                  <a:latin typeface="Cambria Math" panose="02040503050406030204" pitchFamily="18" charset="0"/>
                                </a:rPr>
                                <m:t>𝑖</m:t>
                              </m:r>
                              <m:r>
                                <a:rPr lang="ru-RU" sz="2000">
                                  <a:latin typeface="Cambria Math" panose="02040503050406030204" pitchFamily="18" charset="0"/>
                                </a:rPr>
                                <m:t>1</m:t>
                              </m:r>
                            </m:sub>
                          </m:sSub>
                          <m:r>
                            <a:rPr lang="en-US" sz="2000" i="1">
                              <a:latin typeface="Cambria Math" panose="02040503050406030204" pitchFamily="18" charset="0"/>
                            </a:rPr>
                            <m:t>,</m:t>
                          </m:r>
                          <m:sSub>
                            <m:sSubPr>
                              <m:ctrlPr>
                                <a:rPr lang="ru-RU" sz="2000" i="1">
                                  <a:latin typeface="Cambria Math" panose="02040503050406030204" pitchFamily="18" charset="0"/>
                                </a:rPr>
                              </m:ctrlPr>
                            </m:sSubPr>
                            <m:e>
                              <m:r>
                                <a:rPr lang="ru-RU" sz="2000" i="1">
                                  <a:latin typeface="Cambria Math" panose="02040503050406030204" pitchFamily="18" charset="0"/>
                                </a:rPr>
                                <m:t>𝑦</m:t>
                              </m:r>
                            </m:e>
                            <m:sub>
                              <m:r>
                                <a:rPr lang="ru-RU" sz="2000" i="1">
                                  <a:latin typeface="Cambria Math" panose="02040503050406030204" pitchFamily="18" charset="0"/>
                                </a:rPr>
                                <m:t>𝑖</m:t>
                              </m:r>
                              <m:r>
                                <a:rPr lang="en-US" sz="2000">
                                  <a:latin typeface="Cambria Math" panose="02040503050406030204" pitchFamily="18" charset="0"/>
                                </a:rPr>
                                <m:t>2</m:t>
                              </m:r>
                            </m:sub>
                          </m:sSub>
                          <m:r>
                            <a:rPr lang="en-US" sz="2000" i="1">
                              <a:latin typeface="Cambria Math" panose="02040503050406030204" pitchFamily="18" charset="0"/>
                            </a:rPr>
                            <m:t>,…,</m:t>
                          </m:r>
                          <m:sSub>
                            <m:sSubPr>
                              <m:ctrlPr>
                                <a:rPr lang="ru-RU" sz="2000" i="1">
                                  <a:latin typeface="Cambria Math" panose="02040503050406030204" pitchFamily="18" charset="0"/>
                                </a:rPr>
                              </m:ctrlPr>
                            </m:sSubPr>
                            <m:e>
                              <m:r>
                                <a:rPr lang="ru-RU" sz="2000" i="1">
                                  <a:latin typeface="Cambria Math" panose="02040503050406030204" pitchFamily="18" charset="0"/>
                                </a:rPr>
                                <m:t>𝑦</m:t>
                              </m:r>
                            </m:e>
                            <m:sub>
                              <m:r>
                                <a:rPr lang="ru-RU" sz="2000" i="1">
                                  <a:latin typeface="Cambria Math" panose="02040503050406030204" pitchFamily="18" charset="0"/>
                                </a:rPr>
                                <m:t>𝑖</m:t>
                              </m:r>
                              <m:r>
                                <m:rPr>
                                  <m:sty m:val="p"/>
                                </m:rPr>
                                <a:rPr lang="en-US" sz="2000">
                                  <a:latin typeface="Cambria Math" panose="02040503050406030204" pitchFamily="18" charset="0"/>
                                </a:rPr>
                                <m:t>k</m:t>
                              </m:r>
                            </m:sub>
                          </m:sSub>
                          <m:r>
                            <a:rPr lang="ru-RU" sz="2000" i="1">
                              <a:latin typeface="Cambria Math" panose="02040503050406030204" pitchFamily="18" charset="0"/>
                            </a:rPr>
                            <m:t>)</m:t>
                          </m:r>
                        </m:e>
                        <m:sup>
                          <m:r>
                            <a:rPr lang="en-US" sz="2000" i="1">
                              <a:latin typeface="Cambria Math" panose="02040503050406030204" pitchFamily="18" charset="0"/>
                            </a:rPr>
                            <m:t>𝑇</m:t>
                          </m:r>
                        </m:sup>
                      </m:sSup>
                      <m:r>
                        <a:rPr lang="ru-RU" sz="2000">
                          <a:latin typeface="Cambria Math" panose="02040503050406030204" pitchFamily="18" charset="0"/>
                        </a:rPr>
                        <m:t>∈</m:t>
                      </m:r>
                      <m:sSup>
                        <m:sSupPr>
                          <m:ctrlPr>
                            <a:rPr lang="ru-RU" sz="2000" i="1">
                              <a:latin typeface="Cambria Math" panose="02040503050406030204" pitchFamily="18" charset="0"/>
                            </a:rPr>
                          </m:ctrlPr>
                        </m:sSupPr>
                        <m:e>
                          <m:r>
                            <a:rPr lang="ru-RU" sz="2000">
                              <a:latin typeface="Cambria Math" panose="02040503050406030204" pitchFamily="18" charset="0"/>
                            </a:rPr>
                            <m:t>ℝ</m:t>
                          </m:r>
                        </m:e>
                        <m:sup>
                          <m:r>
                            <a:rPr lang="ru-RU" sz="2000" i="1">
                              <a:latin typeface="Cambria Math" panose="02040503050406030204" pitchFamily="18" charset="0"/>
                            </a:rPr>
                            <m:t>𝑘</m:t>
                          </m:r>
                        </m:sup>
                      </m:sSup>
                      <m:r>
                        <a:rPr lang="ru-RU" sz="2000" b="0" i="0" smtClean="0">
                          <a:latin typeface="Cambria Math" panose="02040503050406030204" pitchFamily="18" charset="0"/>
                        </a:rPr>
                        <m:t>,</m:t>
                      </m:r>
                    </m:oMath>
                  </m:oMathPara>
                </a14:m>
                <a:endParaRPr lang="ru-RU" sz="2000" b="0" dirty="0"/>
              </a:p>
              <a:p>
                <a:pPr marL="0" indent="0">
                  <a:buNone/>
                </a:pPr>
                <a:r>
                  <a:rPr lang="ru-RU" sz="2000" dirty="0"/>
                  <a:t>	где </a:t>
                </a:r>
                <a:r>
                  <a:rPr lang="en-US" sz="2000" dirty="0"/>
                  <a:t>k – </a:t>
                </a:r>
                <a:r>
                  <a:rPr lang="ru-RU" sz="2000" dirty="0"/>
                  <a:t>количество прогнозируемых признаков </a:t>
                </a:r>
              </a:p>
            </p:txBody>
          </p:sp>
        </mc:Choice>
        <mc:Fallback xmlns="">
          <p:sp>
            <p:nvSpPr>
              <p:cNvPr id="4" name="Объект 3">
                <a:extLst>
                  <a:ext uri="{FF2B5EF4-FFF2-40B4-BE49-F238E27FC236}">
                    <a16:creationId xmlns:a16="http://schemas.microsoft.com/office/drawing/2014/main" id="{124141FF-0EA5-AD08-1C61-089445418582}"/>
                  </a:ext>
                </a:extLst>
              </p:cNvPr>
              <p:cNvSpPr>
                <a:spLocks noGrp="1" noRot="1" noChangeAspect="1" noMove="1" noResize="1" noEditPoints="1" noAdjustHandles="1" noChangeArrowheads="1" noChangeShapeType="1" noTextEdit="1"/>
              </p:cNvSpPr>
              <p:nvPr>
                <p:ph sz="quarter" idx="1"/>
              </p:nvPr>
            </p:nvSpPr>
            <p:spPr>
              <a:xfrm>
                <a:off x="407368" y="1216152"/>
                <a:ext cx="5388864" cy="5140198"/>
              </a:xfrm>
              <a:blipFill>
                <a:blip r:embed="rId3"/>
                <a:stretch>
                  <a:fillRect l="-1244" t="-712"/>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9" name="Объект 18">
                <a:extLst>
                  <a:ext uri="{FF2B5EF4-FFF2-40B4-BE49-F238E27FC236}">
                    <a16:creationId xmlns:a16="http://schemas.microsoft.com/office/drawing/2014/main" id="{51384F80-3074-EDA5-150E-4B7A5CB817E1}"/>
                  </a:ext>
                </a:extLst>
              </p:cNvPr>
              <p:cNvSpPr>
                <a:spLocks noGrp="1"/>
              </p:cNvSpPr>
              <p:nvPr>
                <p:ph sz="quarter" idx="2"/>
              </p:nvPr>
            </p:nvSpPr>
            <p:spPr>
              <a:xfrm>
                <a:off x="6023992" y="1237488"/>
                <a:ext cx="5760640" cy="4937760"/>
              </a:xfrm>
            </p:spPr>
            <p:txBody>
              <a:bodyPr>
                <a:normAutofit/>
              </a:bodyPr>
              <a:lstStyle/>
              <a:p>
                <a:r>
                  <a:rPr lang="ru-RU" sz="2000" b="1" dirty="0"/>
                  <a:t>Задача:  </a:t>
                </a:r>
                <a:r>
                  <a:rPr lang="ru-RU" sz="2000" dirty="0"/>
                  <a:t>Построить  модель    </a:t>
                </a:r>
              </a:p>
              <a:p>
                <a:pPr marL="0" indent="0">
                  <a:buNone/>
                </a:pPr>
                <a:r>
                  <a:rPr lang="ru-RU" sz="2000" dirty="0"/>
                  <a:t>    </a:t>
                </a:r>
                <a14:m>
                  <m:oMath xmlns:m="http://schemas.openxmlformats.org/officeDocument/2006/math">
                    <m:sSub>
                      <m:sSubPr>
                        <m:ctrlPr>
                          <a:rPr lang="ru-RU" sz="2000" i="1">
                            <a:latin typeface="Cambria Math" panose="02040503050406030204" pitchFamily="18" charset="0"/>
                          </a:rPr>
                        </m:ctrlPr>
                      </m:sSubPr>
                      <m:e>
                        <m:r>
                          <a:rPr lang="ru-RU" sz="2000" i="1">
                            <a:latin typeface="Cambria Math" panose="02040503050406030204" pitchFamily="18" charset="0"/>
                          </a:rPr>
                          <m:t>𝑓</m:t>
                        </m:r>
                      </m:e>
                      <m:sub>
                        <m:r>
                          <a:rPr lang="ru-RU" sz="2000" i="1">
                            <a:latin typeface="Cambria Math" panose="02040503050406030204" pitchFamily="18" charset="0"/>
                          </a:rPr>
                          <m:t>𝜃</m:t>
                        </m:r>
                      </m:sub>
                    </m:sSub>
                    <m:r>
                      <a:rPr lang="ru-RU" sz="2000">
                        <a:latin typeface="Cambria Math" panose="02040503050406030204" pitchFamily="18" charset="0"/>
                      </a:rPr>
                      <m:t>:</m:t>
                    </m:r>
                    <m:r>
                      <a:rPr lang="ru-RU" sz="2000">
                        <a:latin typeface="Cambria Math" panose="02040503050406030204" pitchFamily="18" charset="0"/>
                      </a:rPr>
                      <m:t>𝒳</m:t>
                    </m:r>
                    <m:r>
                      <a:rPr lang="ru-RU" sz="2000">
                        <a:latin typeface="Cambria Math" panose="02040503050406030204" pitchFamily="18" charset="0"/>
                      </a:rPr>
                      <m:t>→</m:t>
                    </m:r>
                    <m:sSup>
                      <m:sSupPr>
                        <m:ctrlPr>
                          <a:rPr lang="ru-RU" sz="2000" i="1">
                            <a:latin typeface="Cambria Math" panose="02040503050406030204" pitchFamily="18" charset="0"/>
                          </a:rPr>
                        </m:ctrlPr>
                      </m:sSupPr>
                      <m:e>
                        <m:r>
                          <a:rPr lang="ru-RU" sz="2000">
                            <a:latin typeface="Cambria Math" panose="02040503050406030204" pitchFamily="18" charset="0"/>
                          </a:rPr>
                          <m:t>ℝ</m:t>
                        </m:r>
                      </m:e>
                      <m:sup>
                        <m:r>
                          <a:rPr lang="ru-RU" sz="2000" i="1">
                            <a:latin typeface="Cambria Math" panose="02040503050406030204" pitchFamily="18" charset="0"/>
                          </a:rPr>
                          <m:t>𝑘</m:t>
                        </m:r>
                      </m:sup>
                    </m:sSup>
                  </m:oMath>
                </a14:m>
                <a:r>
                  <a:rPr lang="ru-RU" sz="2000" dirty="0"/>
                  <a:t>, минимизирующую ошибку:</a:t>
                </a:r>
              </a:p>
              <a:p>
                <a:pPr marL="0" indent="0">
                  <a:buNone/>
                </a:pPr>
                <a14:m>
                  <m:oMathPara xmlns:m="http://schemas.openxmlformats.org/officeDocument/2006/math">
                    <m:oMathParaPr>
                      <m:jc m:val="centerGroup"/>
                    </m:oMathParaPr>
                    <m:oMath xmlns:m="http://schemas.openxmlformats.org/officeDocument/2006/math">
                      <m:r>
                        <a:rPr lang="ru-RU" sz="2000">
                          <a:latin typeface="Cambria Math" panose="02040503050406030204" pitchFamily="18" charset="0"/>
                        </a:rPr>
                        <m:t>ℒ</m:t>
                      </m:r>
                      <m:d>
                        <m:dPr>
                          <m:ctrlPr>
                            <a:rPr lang="ru-RU" sz="2000" i="1">
                              <a:latin typeface="Cambria Math" panose="02040503050406030204" pitchFamily="18" charset="0"/>
                            </a:rPr>
                          </m:ctrlPr>
                        </m:dPr>
                        <m:e>
                          <m:r>
                            <a:rPr lang="ru-RU" sz="2000" i="1">
                              <a:latin typeface="Cambria Math" panose="02040503050406030204" pitchFamily="18" charset="0"/>
                            </a:rPr>
                            <m:t>𝜃</m:t>
                          </m:r>
                        </m:e>
                      </m:d>
                      <m:r>
                        <a:rPr lang="ru-RU" sz="2000">
                          <a:latin typeface="Cambria Math" panose="02040503050406030204" pitchFamily="18" charset="0"/>
                        </a:rPr>
                        <m:t>=</m:t>
                      </m:r>
                      <m:f>
                        <m:fPr>
                          <m:ctrlPr>
                            <a:rPr lang="ru-RU" sz="2000" i="1">
                              <a:latin typeface="Cambria Math" panose="02040503050406030204" pitchFamily="18" charset="0"/>
                            </a:rPr>
                          </m:ctrlPr>
                        </m:fPr>
                        <m:num>
                          <m:r>
                            <a:rPr lang="ru-RU" sz="2000">
                              <a:latin typeface="Cambria Math" panose="02040503050406030204" pitchFamily="18" charset="0"/>
                            </a:rPr>
                            <m:t>1</m:t>
                          </m:r>
                        </m:num>
                        <m:den>
                          <m:r>
                            <a:rPr lang="ru-RU" sz="2000" i="1">
                              <a:latin typeface="Cambria Math" panose="02040503050406030204" pitchFamily="18" charset="0"/>
                            </a:rPr>
                            <m:t>𝑛</m:t>
                          </m:r>
                        </m:den>
                      </m:f>
                      <m:nary>
                        <m:naryPr>
                          <m:chr m:val="∑"/>
                          <m:grow m:val="on"/>
                          <m:ctrlPr>
                            <a:rPr lang="ru-RU" sz="2000" i="1">
                              <a:latin typeface="Cambria Math" panose="02040503050406030204" pitchFamily="18" charset="0"/>
                            </a:rPr>
                          </m:ctrlPr>
                        </m:naryPr>
                        <m:sub>
                          <m:r>
                            <a:rPr lang="ru-RU" sz="2000" i="1">
                              <a:latin typeface="Cambria Math" panose="02040503050406030204" pitchFamily="18" charset="0"/>
                            </a:rPr>
                            <m:t>𝑖</m:t>
                          </m:r>
                          <m:r>
                            <a:rPr lang="ru-RU" sz="2000">
                              <a:latin typeface="Cambria Math" panose="02040503050406030204" pitchFamily="18" charset="0"/>
                            </a:rPr>
                            <m:t>=1</m:t>
                          </m:r>
                        </m:sub>
                        <m:sup>
                          <m:r>
                            <a:rPr lang="ru-RU" sz="2000" i="1">
                              <a:latin typeface="Cambria Math" panose="02040503050406030204" pitchFamily="18" charset="0"/>
                            </a:rPr>
                            <m:t>𝑛</m:t>
                          </m:r>
                        </m:sup>
                        <m:e>
                          <m:r>
                            <a:rPr lang="ru-RU" sz="2000">
                              <a:latin typeface="Cambria Math" panose="02040503050406030204" pitchFamily="18" charset="0"/>
                            </a:rPr>
                            <m:t>ℓ</m:t>
                          </m:r>
                        </m:e>
                      </m:nary>
                      <m:r>
                        <a:rPr lang="ru-RU" sz="2000" b="0" i="1" smtClean="0">
                          <a:latin typeface="Cambria Math" panose="02040503050406030204" pitchFamily="18" charset="0"/>
                        </a:rPr>
                        <m:t>(</m:t>
                      </m:r>
                      <m:sSub>
                        <m:sSubPr>
                          <m:ctrlPr>
                            <a:rPr lang="ru-RU" sz="2000" i="1">
                              <a:latin typeface="Cambria Math" panose="02040503050406030204" pitchFamily="18" charset="0"/>
                            </a:rPr>
                          </m:ctrlPr>
                        </m:sSubPr>
                        <m:e>
                          <m:r>
                            <a:rPr lang="ru-RU" sz="2000" i="1">
                              <a:latin typeface="Cambria Math" panose="02040503050406030204" pitchFamily="18" charset="0"/>
                            </a:rPr>
                            <m:t>𝑓</m:t>
                          </m:r>
                        </m:e>
                        <m:sub>
                          <m:r>
                            <a:rPr lang="ru-RU" sz="2000" i="1">
                              <a:latin typeface="Cambria Math" panose="02040503050406030204" pitchFamily="18" charset="0"/>
                            </a:rPr>
                            <m:t>𝜃</m:t>
                          </m:r>
                        </m:sub>
                      </m:sSub>
                      <m:d>
                        <m:dPr>
                          <m:ctrlPr>
                            <a:rPr lang="ru-RU" sz="2000" b="0" i="1" smtClean="0">
                              <a:latin typeface="Cambria Math" panose="02040503050406030204" pitchFamily="18" charset="0"/>
                            </a:rPr>
                          </m:ctrlPr>
                        </m:dPr>
                        <m:e>
                          <m:sSub>
                            <m:sSubPr>
                              <m:ctrlPr>
                                <a:rPr lang="ru-RU" sz="2000" i="1">
                                  <a:latin typeface="Cambria Math" panose="02040503050406030204" pitchFamily="18" charset="0"/>
                                </a:rPr>
                              </m:ctrlPr>
                            </m:sSubPr>
                            <m:e>
                              <m:r>
                                <a:rPr lang="ru-RU" sz="2000" b="1">
                                  <a:latin typeface="Cambria Math" panose="02040503050406030204" pitchFamily="18" charset="0"/>
                                </a:rPr>
                                <m:t>𝐱</m:t>
                              </m:r>
                            </m:e>
                            <m:sub>
                              <m:r>
                                <a:rPr lang="ru-RU" sz="2000" i="1">
                                  <a:latin typeface="Cambria Math" panose="02040503050406030204" pitchFamily="18" charset="0"/>
                                </a:rPr>
                                <m:t>𝑖</m:t>
                              </m:r>
                            </m:sub>
                          </m:sSub>
                        </m:e>
                      </m:d>
                      <m:r>
                        <a:rPr lang="en-US" sz="2000" b="0" i="1" smtClean="0">
                          <a:latin typeface="Cambria Math" panose="02040503050406030204" pitchFamily="18" charset="0"/>
                        </a:rPr>
                        <m:t>,</m:t>
                      </m:r>
                      <m:sSub>
                        <m:sSubPr>
                          <m:ctrlPr>
                            <a:rPr lang="ru-RU" sz="2000" i="1">
                              <a:latin typeface="Cambria Math" panose="02040503050406030204" pitchFamily="18" charset="0"/>
                            </a:rPr>
                          </m:ctrlPr>
                        </m:sSubPr>
                        <m:e>
                          <m:r>
                            <a:rPr lang="ru-RU" sz="2000" b="1">
                              <a:latin typeface="Cambria Math" panose="02040503050406030204" pitchFamily="18" charset="0"/>
                            </a:rPr>
                            <m:t>𝐲</m:t>
                          </m:r>
                        </m:e>
                        <m:sub>
                          <m:r>
                            <a:rPr lang="ru-RU" sz="2000" i="1">
                              <a:latin typeface="Cambria Math" panose="02040503050406030204" pitchFamily="18" charset="0"/>
                            </a:rPr>
                            <m:t>𝑖</m:t>
                          </m:r>
                        </m:sub>
                      </m:sSub>
                      <m:r>
                        <a:rPr lang="ru-RU" sz="2000" b="0" i="1" smtClean="0">
                          <a:latin typeface="Cambria Math" panose="02040503050406030204" pitchFamily="18" charset="0"/>
                        </a:rPr>
                        <m:t>)</m:t>
                      </m:r>
                      <m:r>
                        <a:rPr lang="ru-RU" sz="2000" i="1" smtClean="0">
                          <a:latin typeface="Cambria Math" panose="02040503050406030204" pitchFamily="18" charset="0"/>
                        </a:rPr>
                        <m:t> </m:t>
                      </m:r>
                      <m:r>
                        <a:rPr lang="en-US" sz="2000" b="0" i="0" smtClean="0">
                          <a:latin typeface="Cambria Math" panose="02040503050406030204" pitchFamily="18" charset="0"/>
                        </a:rPr>
                        <m:t>→</m:t>
                      </m:r>
                      <m:sSub>
                        <m:sSubPr>
                          <m:ctrlPr>
                            <a:rPr lang="ru-RU" sz="2000" b="0" i="1" smtClean="0">
                              <a:latin typeface="Cambria Math" panose="02040503050406030204" pitchFamily="18" charset="0"/>
                            </a:rPr>
                          </m:ctrlPr>
                        </m:sSubPr>
                        <m:e>
                          <m:r>
                            <a:rPr lang="en-US" sz="2000" b="0" i="1" smtClean="0">
                              <a:latin typeface="Cambria Math" panose="02040503050406030204" pitchFamily="18" charset="0"/>
                            </a:rPr>
                            <m:t>𝑚𝑖𝑛</m:t>
                          </m:r>
                        </m:e>
                        <m:sub>
                          <m:r>
                            <a:rPr lang="ru-RU" sz="2000" i="1">
                              <a:latin typeface="Cambria Math" panose="02040503050406030204" pitchFamily="18" charset="0"/>
                            </a:rPr>
                            <m:t>𝜃</m:t>
                          </m:r>
                        </m:sub>
                      </m:sSub>
                    </m:oMath>
                  </m:oMathPara>
                </a14:m>
                <a:endParaRPr lang="ru-RU" sz="2000" b="0" dirty="0"/>
              </a:p>
              <a:p>
                <a:pPr marL="0" indent="0">
                  <a:buNone/>
                </a:pPr>
                <a:r>
                  <a:rPr lang="ru-RU" sz="2000" dirty="0"/>
                  <a:t>	</a:t>
                </a:r>
                <a14:m>
                  <m:oMath xmlns:m="http://schemas.openxmlformats.org/officeDocument/2006/math">
                    <m:r>
                      <a:rPr lang="ru-RU" sz="2000">
                        <a:latin typeface="Cambria Math" panose="02040503050406030204" pitchFamily="18" charset="0"/>
                      </a:rPr>
                      <m:t>ℓ</m:t>
                    </m:r>
                  </m:oMath>
                </a14:m>
                <a:r>
                  <a:rPr lang="ru-RU" sz="2000" dirty="0"/>
                  <a:t> —</a:t>
                </a:r>
                <a:r>
                  <a:rPr lang="en-US" sz="2000" dirty="0"/>
                  <a:t> </a:t>
                </a:r>
                <a:r>
                  <a:rPr lang="ru-RU" sz="2000" dirty="0"/>
                  <a:t>функция потерь </a:t>
                </a:r>
              </a:p>
              <a:p>
                <a:r>
                  <a:rPr lang="ru-RU" sz="2000" dirty="0"/>
                  <a:t>В данной работе ℓ = </a:t>
                </a:r>
                <a:r>
                  <a:rPr lang="ru-RU" sz="2000" dirty="0" err="1"/>
                  <a:t>HuberLoss</a:t>
                </a:r>
                <a:r>
                  <a:rPr lang="ru-RU" sz="2000" dirty="0"/>
                  <a:t>.</a:t>
                </a:r>
              </a:p>
              <a:p>
                <a:r>
                  <a:rPr lang="ru-RU" sz="2000" dirty="0"/>
                  <a:t>Формула</a:t>
                </a:r>
                <a:r>
                  <a:rPr lang="en-US" sz="2000" dirty="0"/>
                  <a:t>:</a:t>
                </a:r>
                <a:endParaRPr lang="ru-RU" sz="2000" dirty="0"/>
              </a:p>
              <a:p>
                <a:pPr marL="0" indent="0">
                  <a:buNone/>
                </a:pPr>
                <a14:m>
                  <m:oMathPara xmlns:m="http://schemas.openxmlformats.org/officeDocument/2006/math">
                    <m:oMathParaPr>
                      <m:jc m:val="centerGroup"/>
                    </m:oMathParaPr>
                    <m:oMath xmlns:m="http://schemas.openxmlformats.org/officeDocument/2006/math">
                      <m:sSub>
                        <m:sSubPr>
                          <m:ctrlPr>
                            <a:rPr lang="ru-RU" sz="2000" i="1">
                              <a:latin typeface="Cambria Math" panose="02040503050406030204" pitchFamily="18" charset="0"/>
                            </a:rPr>
                          </m:ctrlPr>
                        </m:sSubPr>
                        <m:e>
                          <m:r>
                            <a:rPr lang="ru-RU" sz="2000" i="1">
                              <a:latin typeface="Cambria Math" panose="02040503050406030204" pitchFamily="18" charset="0"/>
                            </a:rPr>
                            <m:t>𝐿</m:t>
                          </m:r>
                        </m:e>
                        <m:sub>
                          <m:r>
                            <a:rPr lang="ru-RU" sz="2000" i="1">
                              <a:latin typeface="Cambria Math" panose="02040503050406030204" pitchFamily="18" charset="0"/>
                            </a:rPr>
                            <m:t>𝛿</m:t>
                          </m:r>
                        </m:sub>
                      </m:sSub>
                      <m:d>
                        <m:dPr>
                          <m:sepChr m:val=","/>
                          <m:ctrlPr>
                            <a:rPr lang="ru-RU" sz="2000" i="1">
                              <a:latin typeface="Cambria Math" panose="02040503050406030204" pitchFamily="18" charset="0"/>
                            </a:rPr>
                          </m:ctrlPr>
                        </m:dPr>
                        <m:e>
                          <m:r>
                            <a:rPr lang="ru-RU" sz="2000" i="1">
                              <a:latin typeface="Cambria Math" panose="02040503050406030204" pitchFamily="18" charset="0"/>
                            </a:rPr>
                            <m:t>𝑦</m:t>
                          </m:r>
                        </m:e>
                        <m:e>
                          <m:acc>
                            <m:accPr>
                              <m:chr m:val="̂"/>
                              <m:ctrlPr>
                                <a:rPr lang="ru-RU" sz="2000" i="1">
                                  <a:latin typeface="Cambria Math" panose="02040503050406030204" pitchFamily="18" charset="0"/>
                                </a:rPr>
                              </m:ctrlPr>
                            </m:accPr>
                            <m:e>
                              <m:r>
                                <a:rPr lang="ru-RU" sz="2000" i="1">
                                  <a:latin typeface="Cambria Math" panose="02040503050406030204" pitchFamily="18" charset="0"/>
                                </a:rPr>
                                <m:t>𝑦</m:t>
                              </m:r>
                            </m:e>
                          </m:acc>
                        </m:e>
                      </m:d>
                      <m:r>
                        <a:rPr lang="ru-RU" sz="2000">
                          <a:latin typeface="Cambria Math" panose="02040503050406030204" pitchFamily="18" charset="0"/>
                        </a:rPr>
                        <m:t>=</m:t>
                      </m:r>
                      <m:d>
                        <m:dPr>
                          <m:begChr m:val="{"/>
                          <m:endChr m:val=""/>
                          <m:ctrlPr>
                            <a:rPr lang="ru-RU" sz="2000" i="1">
                              <a:latin typeface="Cambria Math" panose="02040503050406030204" pitchFamily="18" charset="0"/>
                            </a:rPr>
                          </m:ctrlPr>
                        </m:dPr>
                        <m:e>
                          <m:m>
                            <m:mPr>
                              <m:plcHide m:val="on"/>
                              <m:mcs>
                                <m:mc>
                                  <m:mcPr>
                                    <m:count m:val="2"/>
                                    <m:mcJc m:val="center"/>
                                  </m:mcPr>
                                </m:mc>
                              </m:mcs>
                              <m:ctrlPr>
                                <a:rPr lang="ru-RU" sz="2000" i="1">
                                  <a:latin typeface="Cambria Math" panose="02040503050406030204" pitchFamily="18" charset="0"/>
                                </a:rPr>
                              </m:ctrlPr>
                            </m:mPr>
                            <m:mr>
                              <m:e>
                                <m:f>
                                  <m:fPr>
                                    <m:ctrlPr>
                                      <a:rPr lang="ru-RU" sz="2000" i="1">
                                        <a:latin typeface="Cambria Math" panose="02040503050406030204" pitchFamily="18" charset="0"/>
                                      </a:rPr>
                                    </m:ctrlPr>
                                  </m:fPr>
                                  <m:num>
                                    <m:r>
                                      <a:rPr lang="ru-RU" sz="2000">
                                        <a:latin typeface="Cambria Math" panose="02040503050406030204" pitchFamily="18" charset="0"/>
                                      </a:rPr>
                                      <m:t>1</m:t>
                                    </m:r>
                                  </m:num>
                                  <m:den>
                                    <m:r>
                                      <a:rPr lang="ru-RU" sz="2000">
                                        <a:latin typeface="Cambria Math" panose="02040503050406030204" pitchFamily="18" charset="0"/>
                                      </a:rPr>
                                      <m:t>2</m:t>
                                    </m:r>
                                  </m:den>
                                </m:f>
                                <m:sSup>
                                  <m:sSupPr>
                                    <m:ctrlPr>
                                      <a:rPr lang="ru-RU" sz="2000" i="1">
                                        <a:latin typeface="Cambria Math" panose="02040503050406030204" pitchFamily="18" charset="0"/>
                                      </a:rPr>
                                    </m:ctrlPr>
                                  </m:sSupPr>
                                  <m:e>
                                    <m:d>
                                      <m:dPr>
                                        <m:ctrlPr>
                                          <a:rPr lang="ru-RU" sz="2000" i="1">
                                            <a:latin typeface="Cambria Math" panose="02040503050406030204" pitchFamily="18" charset="0"/>
                                          </a:rPr>
                                        </m:ctrlPr>
                                      </m:dPr>
                                      <m:e>
                                        <m:r>
                                          <a:rPr lang="ru-RU" sz="2000" i="1">
                                            <a:latin typeface="Cambria Math" panose="02040503050406030204" pitchFamily="18" charset="0"/>
                                          </a:rPr>
                                          <m:t>𝑦</m:t>
                                        </m:r>
                                        <m:r>
                                          <a:rPr lang="ru-RU" sz="2000">
                                            <a:latin typeface="Cambria Math" panose="02040503050406030204" pitchFamily="18" charset="0"/>
                                          </a:rPr>
                                          <m:t>−</m:t>
                                        </m:r>
                                        <m:acc>
                                          <m:accPr>
                                            <m:chr m:val="̂"/>
                                            <m:ctrlPr>
                                              <a:rPr lang="ru-RU" sz="2000" i="1">
                                                <a:latin typeface="Cambria Math" panose="02040503050406030204" pitchFamily="18" charset="0"/>
                                              </a:rPr>
                                            </m:ctrlPr>
                                          </m:accPr>
                                          <m:e>
                                            <m:r>
                                              <a:rPr lang="ru-RU" sz="2000" i="1">
                                                <a:latin typeface="Cambria Math" panose="02040503050406030204" pitchFamily="18" charset="0"/>
                                              </a:rPr>
                                              <m:t>𝑦</m:t>
                                            </m:r>
                                          </m:e>
                                        </m:acc>
                                      </m:e>
                                    </m:d>
                                  </m:e>
                                  <m:sup>
                                    <m:r>
                                      <a:rPr lang="ru-RU" sz="2000">
                                        <a:latin typeface="Cambria Math" panose="02040503050406030204" pitchFamily="18" charset="0"/>
                                      </a:rPr>
                                      <m:t>2</m:t>
                                    </m:r>
                                  </m:sup>
                                </m:sSup>
                                <m:r>
                                  <a:rPr lang="ru-RU" sz="2000">
                                    <a:latin typeface="Cambria Math" panose="02040503050406030204" pitchFamily="18" charset="0"/>
                                  </a:rPr>
                                  <m:t>,</m:t>
                                </m:r>
                              </m:e>
                              <m:e>
                                <m:r>
                                  <a:rPr lang="ru-RU" sz="2000">
                                    <a:latin typeface="Cambria Math" panose="02040503050406030204" pitchFamily="18" charset="0"/>
                                  </a:rPr>
                                  <m:t>∣</m:t>
                                </m:r>
                                <m:r>
                                  <a:rPr lang="ru-RU" sz="2000" i="1">
                                    <a:latin typeface="Cambria Math" panose="02040503050406030204" pitchFamily="18" charset="0"/>
                                  </a:rPr>
                                  <m:t>𝑦</m:t>
                                </m:r>
                                <m:r>
                                  <a:rPr lang="ru-RU" sz="2000">
                                    <a:latin typeface="Cambria Math" panose="02040503050406030204" pitchFamily="18" charset="0"/>
                                  </a:rPr>
                                  <m:t>−</m:t>
                                </m:r>
                                <m:acc>
                                  <m:accPr>
                                    <m:chr m:val="̂"/>
                                    <m:ctrlPr>
                                      <a:rPr lang="ru-RU" sz="2000" i="1">
                                        <a:latin typeface="Cambria Math" panose="02040503050406030204" pitchFamily="18" charset="0"/>
                                      </a:rPr>
                                    </m:ctrlPr>
                                  </m:accPr>
                                  <m:e>
                                    <m:r>
                                      <a:rPr lang="ru-RU" sz="2000" i="1">
                                        <a:latin typeface="Cambria Math" panose="02040503050406030204" pitchFamily="18" charset="0"/>
                                      </a:rPr>
                                      <m:t>𝑦</m:t>
                                    </m:r>
                                  </m:e>
                                </m:acc>
                                <m:r>
                                  <a:rPr lang="ru-RU" sz="2000">
                                    <a:latin typeface="Cambria Math" panose="02040503050406030204" pitchFamily="18" charset="0"/>
                                  </a:rPr>
                                  <m:t>∣&lt;</m:t>
                                </m:r>
                                <m:r>
                                  <a:rPr lang="ru-RU" sz="2000" i="1">
                                    <a:latin typeface="Cambria Math" panose="02040503050406030204" pitchFamily="18" charset="0"/>
                                  </a:rPr>
                                  <m:t>𝛿</m:t>
                                </m:r>
                              </m:e>
                            </m:mr>
                            <m:mr>
                              <m:e>
                                <m:r>
                                  <a:rPr lang="ru-RU" sz="2000" i="1">
                                    <a:latin typeface="Cambria Math" panose="02040503050406030204" pitchFamily="18" charset="0"/>
                                  </a:rPr>
                                  <m:t>𝛿</m:t>
                                </m:r>
                                <m:r>
                                  <a:rPr lang="ru-RU" sz="2000">
                                    <a:latin typeface="Cambria Math" panose="02040503050406030204" pitchFamily="18" charset="0"/>
                                  </a:rPr>
                                  <m:t>⋅∣</m:t>
                                </m:r>
                                <m:r>
                                  <a:rPr lang="ru-RU" sz="2000" i="1">
                                    <a:latin typeface="Cambria Math" panose="02040503050406030204" pitchFamily="18" charset="0"/>
                                  </a:rPr>
                                  <m:t>𝑦</m:t>
                                </m:r>
                                <m:r>
                                  <a:rPr lang="ru-RU" sz="2000">
                                    <a:latin typeface="Cambria Math" panose="02040503050406030204" pitchFamily="18" charset="0"/>
                                  </a:rPr>
                                  <m:t>−</m:t>
                                </m:r>
                                <m:acc>
                                  <m:accPr>
                                    <m:chr m:val="̂"/>
                                    <m:ctrlPr>
                                      <a:rPr lang="ru-RU" sz="2000" i="1">
                                        <a:latin typeface="Cambria Math" panose="02040503050406030204" pitchFamily="18" charset="0"/>
                                      </a:rPr>
                                    </m:ctrlPr>
                                  </m:accPr>
                                  <m:e>
                                    <m:r>
                                      <a:rPr lang="ru-RU" sz="2000" i="1">
                                        <a:latin typeface="Cambria Math" panose="02040503050406030204" pitchFamily="18" charset="0"/>
                                      </a:rPr>
                                      <m:t>𝑦</m:t>
                                    </m:r>
                                  </m:e>
                                </m:acc>
                                <m:r>
                                  <a:rPr lang="ru-RU" sz="2000">
                                    <a:latin typeface="Cambria Math" panose="02040503050406030204" pitchFamily="18" charset="0"/>
                                  </a:rPr>
                                  <m:t>∣−</m:t>
                                </m:r>
                                <m:f>
                                  <m:fPr>
                                    <m:ctrlPr>
                                      <a:rPr lang="ru-RU" sz="2000" i="1">
                                        <a:latin typeface="Cambria Math" panose="02040503050406030204" pitchFamily="18" charset="0"/>
                                      </a:rPr>
                                    </m:ctrlPr>
                                  </m:fPr>
                                  <m:num>
                                    <m:r>
                                      <a:rPr lang="ru-RU" sz="2000">
                                        <a:latin typeface="Cambria Math" panose="02040503050406030204" pitchFamily="18" charset="0"/>
                                      </a:rPr>
                                      <m:t>1</m:t>
                                    </m:r>
                                  </m:num>
                                  <m:den>
                                    <m:r>
                                      <a:rPr lang="ru-RU" sz="2000">
                                        <a:latin typeface="Cambria Math" panose="02040503050406030204" pitchFamily="18" charset="0"/>
                                      </a:rPr>
                                      <m:t>2</m:t>
                                    </m:r>
                                  </m:den>
                                </m:f>
                                <m:sSup>
                                  <m:sSupPr>
                                    <m:ctrlPr>
                                      <a:rPr lang="ru-RU" sz="2000" i="1">
                                        <a:latin typeface="Cambria Math" panose="02040503050406030204" pitchFamily="18" charset="0"/>
                                      </a:rPr>
                                    </m:ctrlPr>
                                  </m:sSupPr>
                                  <m:e>
                                    <m:r>
                                      <a:rPr lang="ru-RU" sz="2000" i="1">
                                        <a:latin typeface="Cambria Math" panose="02040503050406030204" pitchFamily="18" charset="0"/>
                                      </a:rPr>
                                      <m:t>𝛿</m:t>
                                    </m:r>
                                  </m:e>
                                  <m:sup>
                                    <m:r>
                                      <a:rPr lang="ru-RU" sz="2000">
                                        <a:latin typeface="Cambria Math" panose="02040503050406030204" pitchFamily="18" charset="0"/>
                                      </a:rPr>
                                      <m:t>2</m:t>
                                    </m:r>
                                  </m:sup>
                                </m:sSup>
                                <m:r>
                                  <a:rPr lang="ru-RU" sz="2000">
                                    <a:latin typeface="Cambria Math" panose="02040503050406030204" pitchFamily="18" charset="0"/>
                                  </a:rPr>
                                  <m:t>,</m:t>
                                </m:r>
                              </m:e>
                              <m:e>
                                <m:r>
                                  <m:rPr>
                                    <m:nor/>
                                  </m:rPr>
                                  <a:rPr lang="ru-RU" sz="2000" i="1"/>
                                  <m:t>иначе</m:t>
                                </m:r>
                              </m:e>
                            </m:mr>
                          </m:m>
                        </m:e>
                      </m:d>
                    </m:oMath>
                  </m:oMathPara>
                </a14:m>
                <a:endParaRPr lang="ru-RU" sz="2000" dirty="0"/>
              </a:p>
              <a:p>
                <a:pPr marL="0" indent="0">
                  <a:buNone/>
                </a:pPr>
                <a:r>
                  <a:rPr lang="en-US" sz="2000" dirty="0"/>
                  <a:t>       </a:t>
                </a:r>
                <a:r>
                  <a:rPr lang="ru-RU" sz="2000" dirty="0"/>
                  <a:t>где </a:t>
                </a:r>
                <a14:m>
                  <m:oMath xmlns:m="http://schemas.openxmlformats.org/officeDocument/2006/math">
                    <m:r>
                      <a:rPr lang="ru-RU" sz="2000" i="1">
                        <a:latin typeface="Cambria Math" panose="02040503050406030204" pitchFamily="18" charset="0"/>
                      </a:rPr>
                      <m:t>𝛿</m:t>
                    </m:r>
                  </m:oMath>
                </a14:m>
                <a:r>
                  <a:rPr lang="ru-RU" sz="2000" dirty="0"/>
                  <a:t> — пороговый параметр (в моей работе </a:t>
                </a:r>
                <a14:m>
                  <m:oMath xmlns:m="http://schemas.openxmlformats.org/officeDocument/2006/math">
                    <m:r>
                      <a:rPr lang="ru-RU" sz="2000" i="1">
                        <a:latin typeface="Cambria Math" panose="02040503050406030204" pitchFamily="18" charset="0"/>
                      </a:rPr>
                      <m:t>𝛿</m:t>
                    </m:r>
                    <m:r>
                      <a:rPr lang="ru-RU" sz="2000">
                        <a:latin typeface="Cambria Math" panose="02040503050406030204" pitchFamily="18" charset="0"/>
                      </a:rPr>
                      <m:t>=1.0</m:t>
                    </m:r>
                  </m:oMath>
                </a14:m>
                <a:r>
                  <a:rPr lang="ru-RU" sz="2000" dirty="0"/>
                  <a:t>)</a:t>
                </a:r>
              </a:p>
              <a:p>
                <a:endParaRPr lang="ru-RU" sz="2000" dirty="0"/>
              </a:p>
            </p:txBody>
          </p:sp>
        </mc:Choice>
        <mc:Fallback xmlns="">
          <p:sp>
            <p:nvSpPr>
              <p:cNvPr id="19" name="Объект 18">
                <a:extLst>
                  <a:ext uri="{FF2B5EF4-FFF2-40B4-BE49-F238E27FC236}">
                    <a16:creationId xmlns:a16="http://schemas.microsoft.com/office/drawing/2014/main" id="{51384F80-3074-EDA5-150E-4B7A5CB817E1}"/>
                  </a:ext>
                </a:extLst>
              </p:cNvPr>
              <p:cNvSpPr>
                <a:spLocks noGrp="1" noRot="1" noChangeAspect="1" noMove="1" noResize="1" noEditPoints="1" noAdjustHandles="1" noChangeArrowheads="1" noChangeShapeType="1" noTextEdit="1"/>
              </p:cNvSpPr>
              <p:nvPr>
                <p:ph sz="quarter" idx="2"/>
              </p:nvPr>
            </p:nvSpPr>
            <p:spPr>
              <a:xfrm>
                <a:off x="6023992" y="1237488"/>
                <a:ext cx="5760640" cy="4937760"/>
              </a:xfrm>
              <a:blipFill>
                <a:blip r:embed="rId4"/>
                <a:stretch>
                  <a:fillRect l="-1058" t="-617"/>
                </a:stretch>
              </a:blipFill>
            </p:spPr>
            <p:txBody>
              <a:bodyPr/>
              <a:lstStyle/>
              <a:p>
                <a:r>
                  <a:rPr lang="ru-RU">
                    <a:noFill/>
                  </a:rPr>
                  <a:t> </a:t>
                </a:r>
              </a:p>
            </p:txBody>
          </p:sp>
        </mc:Fallback>
      </mc:AlternateContent>
    </p:spTree>
    <p:extLst>
      <p:ext uri="{BB962C8B-B14F-4D97-AF65-F5344CB8AC3E}">
        <p14:creationId xmlns:p14="http://schemas.microsoft.com/office/powerpoint/2010/main" val="3232319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199D234-C5EB-06C4-6BCA-D68375A696A0}"/>
              </a:ext>
            </a:extLst>
          </p:cNvPr>
          <p:cNvSpPr>
            <a:spLocks noGrp="1"/>
          </p:cNvSpPr>
          <p:nvPr>
            <p:ph type="title"/>
          </p:nvPr>
        </p:nvSpPr>
        <p:spPr/>
        <p:txBody>
          <a:bodyPr>
            <a:normAutofit fontScale="90000"/>
          </a:bodyPr>
          <a:lstStyle/>
          <a:p>
            <a:r>
              <a:rPr lang="ru-RU" b="1" dirty="0"/>
              <a:t>Модификации</a:t>
            </a:r>
            <a:br>
              <a:rPr lang="ru-RU" b="1" dirty="0"/>
            </a:br>
            <a:endParaRPr lang="ru-RU" b="1" dirty="0"/>
          </a:p>
        </p:txBody>
      </p:sp>
      <p:sp>
        <p:nvSpPr>
          <p:cNvPr id="3" name="Номер слайда 2">
            <a:extLst>
              <a:ext uri="{FF2B5EF4-FFF2-40B4-BE49-F238E27FC236}">
                <a16:creationId xmlns:a16="http://schemas.microsoft.com/office/drawing/2014/main" id="{04AD449D-3900-C590-2430-0A7B8DDDEC0F}"/>
              </a:ext>
            </a:extLst>
          </p:cNvPr>
          <p:cNvSpPr>
            <a:spLocks noGrp="1"/>
          </p:cNvSpPr>
          <p:nvPr>
            <p:ph type="sldNum" sz="quarter" idx="12"/>
          </p:nvPr>
        </p:nvSpPr>
        <p:spPr/>
        <p:txBody>
          <a:bodyPr/>
          <a:lstStyle/>
          <a:p>
            <a:fld id="{B19B0651-EE4F-4900-A07F-96A6BFA9D0F0}" type="slidenum">
              <a:rPr lang="ru-RU" smtClean="0"/>
              <a:pPr/>
              <a:t>9</a:t>
            </a:fld>
            <a:endParaRPr lang="ru-RU" dirty="0"/>
          </a:p>
        </p:txBody>
      </p:sp>
      <p:sp>
        <p:nvSpPr>
          <p:cNvPr id="5" name="Объект 4">
            <a:extLst>
              <a:ext uri="{FF2B5EF4-FFF2-40B4-BE49-F238E27FC236}">
                <a16:creationId xmlns:a16="http://schemas.microsoft.com/office/drawing/2014/main" id="{782DAB9E-749A-3B41-5579-9633F61D2854}"/>
              </a:ext>
            </a:extLst>
          </p:cNvPr>
          <p:cNvSpPr>
            <a:spLocks noGrp="1"/>
          </p:cNvSpPr>
          <p:nvPr>
            <p:ph sz="quarter" idx="1"/>
          </p:nvPr>
        </p:nvSpPr>
        <p:spPr>
          <a:xfrm>
            <a:off x="609600" y="1219200"/>
            <a:ext cx="5388864" cy="2569840"/>
          </a:xfrm>
        </p:spPr>
        <p:txBody>
          <a:bodyPr/>
          <a:lstStyle/>
          <a:p>
            <a:r>
              <a:rPr lang="ru-RU" b="1" dirty="0"/>
              <a:t>Проблема:</a:t>
            </a:r>
            <a:r>
              <a:rPr lang="ru-RU" dirty="0"/>
              <a:t> свёртка усредняет SNP внутри гена — все SNP одинаково важны.</a:t>
            </a:r>
          </a:p>
          <a:p>
            <a:r>
              <a:rPr lang="ru-RU" b="1" dirty="0"/>
              <a:t>Решение:</a:t>
            </a:r>
            <a:r>
              <a:rPr lang="ru-RU" dirty="0"/>
              <a:t> механизм внимания — модель сама учит веса SNP.</a:t>
            </a:r>
          </a:p>
          <a:p>
            <a:endParaRPr lang="ru-RU" dirty="0"/>
          </a:p>
        </p:txBody>
      </p:sp>
      <p:sp>
        <p:nvSpPr>
          <p:cNvPr id="6" name="Объект 5">
            <a:extLst>
              <a:ext uri="{FF2B5EF4-FFF2-40B4-BE49-F238E27FC236}">
                <a16:creationId xmlns:a16="http://schemas.microsoft.com/office/drawing/2014/main" id="{F639F340-E29B-9BEA-CBFF-8930D3158552}"/>
              </a:ext>
            </a:extLst>
          </p:cNvPr>
          <p:cNvSpPr>
            <a:spLocks noGrp="1"/>
          </p:cNvSpPr>
          <p:nvPr>
            <p:ph sz="quarter" idx="2"/>
          </p:nvPr>
        </p:nvSpPr>
        <p:spPr>
          <a:xfrm>
            <a:off x="6176265" y="1216152"/>
            <a:ext cx="5388864" cy="2572888"/>
          </a:xfrm>
        </p:spPr>
        <p:txBody>
          <a:bodyPr/>
          <a:lstStyle/>
          <a:p>
            <a:r>
              <a:rPr lang="ru-RU" b="1" dirty="0"/>
              <a:t>Проблема:</a:t>
            </a:r>
            <a:r>
              <a:rPr lang="ru-RU" dirty="0"/>
              <a:t> трансформер может терять информацию о генах.</a:t>
            </a:r>
          </a:p>
          <a:p>
            <a:r>
              <a:rPr lang="ru-RU" b="1" dirty="0"/>
              <a:t>Решение:</a:t>
            </a:r>
            <a:r>
              <a:rPr lang="ru-RU" dirty="0"/>
              <a:t> дополнительная задача — восстановить исходные SNP по </a:t>
            </a:r>
            <a:r>
              <a:rPr lang="ru-RU" dirty="0" err="1"/>
              <a:t>эмбеддингам</a:t>
            </a:r>
            <a:r>
              <a:rPr lang="ru-RU" dirty="0"/>
              <a:t> генов.</a:t>
            </a:r>
          </a:p>
          <a:p>
            <a:endParaRPr lang="ru-RU" dirty="0"/>
          </a:p>
        </p:txBody>
      </p:sp>
      <p:sp>
        <p:nvSpPr>
          <p:cNvPr id="10" name="TextBox 9">
            <a:extLst>
              <a:ext uri="{FF2B5EF4-FFF2-40B4-BE49-F238E27FC236}">
                <a16:creationId xmlns:a16="http://schemas.microsoft.com/office/drawing/2014/main" id="{2335F03D-C50F-0360-BF9C-FD18958E790D}"/>
              </a:ext>
            </a:extLst>
          </p:cNvPr>
          <p:cNvSpPr txBox="1"/>
          <p:nvPr/>
        </p:nvSpPr>
        <p:spPr>
          <a:xfrm>
            <a:off x="695399" y="4509120"/>
            <a:ext cx="10869729" cy="1292662"/>
          </a:xfrm>
          <a:prstGeom prst="rect">
            <a:avLst/>
          </a:prstGeom>
          <a:noFill/>
        </p:spPr>
        <p:txBody>
          <a:bodyPr wrap="square">
            <a:spAutoFit/>
          </a:bodyPr>
          <a:lstStyle/>
          <a:p>
            <a:r>
              <a:rPr lang="ru-RU" sz="2600" b="1" dirty="0"/>
              <a:t>Гипотеза</a:t>
            </a:r>
            <a:r>
              <a:rPr lang="en-US" sz="2600" b="1" dirty="0"/>
              <a:t>:</a:t>
            </a:r>
            <a:r>
              <a:rPr lang="ru-RU" sz="2600" dirty="0"/>
              <a:t> процесс обучения стабилизируется, качество прогнозирования улучшится за счет продвинутого механизма агрегации значений ОНП </a:t>
            </a:r>
            <a:endParaRPr lang="ru-RU" sz="2600" b="1" dirty="0"/>
          </a:p>
        </p:txBody>
      </p:sp>
    </p:spTree>
    <p:extLst>
      <p:ext uri="{BB962C8B-B14F-4D97-AF65-F5344CB8AC3E}">
        <p14:creationId xmlns:p14="http://schemas.microsoft.com/office/powerpoint/2010/main" val="20313883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AFD2F8C-4B52-CC80-A049-C184D02CE452}"/>
              </a:ext>
            </a:extLst>
          </p:cNvPr>
          <p:cNvSpPr>
            <a:spLocks noGrp="1"/>
          </p:cNvSpPr>
          <p:nvPr>
            <p:ph type="title"/>
          </p:nvPr>
        </p:nvSpPr>
        <p:spPr>
          <a:xfrm>
            <a:off x="477086" y="135890"/>
            <a:ext cx="4478288" cy="990600"/>
          </a:xfrm>
        </p:spPr>
        <p:txBody>
          <a:bodyPr>
            <a:normAutofit fontScale="90000"/>
          </a:bodyPr>
          <a:lstStyle/>
          <a:p>
            <a:r>
              <a:rPr lang="ru-RU" b="1" dirty="0"/>
              <a:t>Архитектура модели</a:t>
            </a:r>
            <a:br>
              <a:rPr lang="ru-RU" b="1" dirty="0"/>
            </a:br>
            <a:endParaRPr lang="ru-RU" dirty="0"/>
          </a:p>
        </p:txBody>
      </p:sp>
      <p:sp>
        <p:nvSpPr>
          <p:cNvPr id="3" name="Номер слайда 2">
            <a:extLst>
              <a:ext uri="{FF2B5EF4-FFF2-40B4-BE49-F238E27FC236}">
                <a16:creationId xmlns:a16="http://schemas.microsoft.com/office/drawing/2014/main" id="{FF064CFB-64FD-1C1B-CD34-93DAB263D95A}"/>
              </a:ext>
            </a:extLst>
          </p:cNvPr>
          <p:cNvSpPr>
            <a:spLocks noGrp="1"/>
          </p:cNvSpPr>
          <p:nvPr>
            <p:ph type="sldNum" sz="quarter" idx="12"/>
          </p:nvPr>
        </p:nvSpPr>
        <p:spPr/>
        <p:txBody>
          <a:bodyPr/>
          <a:lstStyle/>
          <a:p>
            <a:fld id="{B19B0651-EE4F-4900-A07F-96A6BFA9D0F0}" type="slidenum">
              <a:rPr lang="ru-RU" smtClean="0"/>
              <a:pPr/>
              <a:t>10</a:t>
            </a:fld>
            <a:endParaRPr lang="ru-RU" dirty="0"/>
          </a:p>
        </p:txBody>
      </p:sp>
      <mc:AlternateContent xmlns:mc="http://schemas.openxmlformats.org/markup-compatibility/2006">
        <mc:Choice xmlns:a14="http://schemas.microsoft.com/office/drawing/2010/main" Requires="a14">
          <p:graphicFrame>
            <p:nvGraphicFramePr>
              <p:cNvPr id="7" name="Объект 7">
                <a:extLst>
                  <a:ext uri="{FF2B5EF4-FFF2-40B4-BE49-F238E27FC236}">
                    <a16:creationId xmlns:a16="http://schemas.microsoft.com/office/drawing/2014/main" id="{9806C2C5-AE79-7D34-2F2B-2F5469D57B2C}"/>
                  </a:ext>
                </a:extLst>
              </p:cNvPr>
              <p:cNvGraphicFramePr>
                <a:graphicFrameLocks/>
              </p:cNvGraphicFramePr>
              <p:nvPr>
                <p:extLst>
                  <p:ext uri="{D42A27DB-BD31-4B8C-83A1-F6EECF244321}">
                    <p14:modId xmlns:p14="http://schemas.microsoft.com/office/powerpoint/2010/main" val="3558918795"/>
                  </p:ext>
                </p:extLst>
              </p:nvPr>
            </p:nvGraphicFramePr>
            <p:xfrm>
              <a:off x="477086" y="1224609"/>
              <a:ext cx="8721171" cy="2933700"/>
            </p:xfrm>
            <a:graphic>
              <a:graphicData uri="http://schemas.openxmlformats.org/drawingml/2006/table">
                <a:tbl>
                  <a:tblPr firstRow="1" bandRow="1">
                    <a:tableStyleId>{5C22544A-7EE6-4342-B048-85BDC9FD1C3A}</a:tableStyleId>
                  </a:tblPr>
                  <a:tblGrid>
                    <a:gridCol w="2379769">
                      <a:extLst>
                        <a:ext uri="{9D8B030D-6E8A-4147-A177-3AD203B41FA5}">
                          <a16:colId xmlns:a16="http://schemas.microsoft.com/office/drawing/2014/main" val="4042541222"/>
                        </a:ext>
                      </a:extLst>
                    </a:gridCol>
                    <a:gridCol w="3851566">
                      <a:extLst>
                        <a:ext uri="{9D8B030D-6E8A-4147-A177-3AD203B41FA5}">
                          <a16:colId xmlns:a16="http://schemas.microsoft.com/office/drawing/2014/main" val="3588120153"/>
                        </a:ext>
                      </a:extLst>
                    </a:gridCol>
                    <a:gridCol w="2489836">
                      <a:extLst>
                        <a:ext uri="{9D8B030D-6E8A-4147-A177-3AD203B41FA5}">
                          <a16:colId xmlns:a16="http://schemas.microsoft.com/office/drawing/2014/main" val="3875894071"/>
                        </a:ext>
                      </a:extLst>
                    </a:gridCol>
                  </a:tblGrid>
                  <a:tr h="260581">
                    <a:tc>
                      <a:txBody>
                        <a:bodyPr/>
                        <a:lstStyle/>
                        <a:p>
                          <a:pPr algn="l">
                            <a:lnSpc>
                              <a:spcPts val="1875"/>
                            </a:lnSpc>
                            <a:buNone/>
                          </a:pPr>
                          <a:r>
                            <a:rPr lang="ru-RU" b="0" dirty="0">
                              <a:effectLst/>
                              <a:latin typeface="+mn-lt"/>
                            </a:rPr>
                            <a:t>Блок</a:t>
                          </a:r>
                        </a:p>
                      </a:txBody>
                      <a:tcPr marR="121920" marT="76200" marB="76200" anchor="ctr"/>
                    </a:tc>
                    <a:tc>
                      <a:txBody>
                        <a:bodyPr/>
                        <a:lstStyle/>
                        <a:p>
                          <a:pPr algn="l">
                            <a:lnSpc>
                              <a:spcPts val="1875"/>
                            </a:lnSpc>
                            <a:buNone/>
                          </a:pPr>
                          <a:r>
                            <a:rPr lang="ru-RU" b="0" dirty="0">
                              <a:effectLst/>
                              <a:latin typeface="+mn-lt"/>
                            </a:rPr>
                            <a:t>Что делает</a:t>
                          </a:r>
                        </a:p>
                      </a:txBody>
                      <a:tcPr marL="121920" marR="121920" marT="76200" marB="76200" anchor="ctr"/>
                    </a:tc>
                    <a:tc>
                      <a:txBody>
                        <a:bodyPr/>
                        <a:lstStyle/>
                        <a:p>
                          <a:pPr algn="l">
                            <a:lnSpc>
                              <a:spcPts val="1875"/>
                            </a:lnSpc>
                            <a:buNone/>
                          </a:pPr>
                          <a:r>
                            <a:rPr lang="ru-RU" b="0" dirty="0">
                              <a:effectLst/>
                              <a:latin typeface="+mn-lt"/>
                            </a:rPr>
                            <a:t>Выход</a:t>
                          </a:r>
                        </a:p>
                      </a:txBody>
                      <a:tcPr marL="121920" marR="121920" marT="76200" marB="76200" anchor="ctr"/>
                    </a:tc>
                    <a:extLst>
                      <a:ext uri="{0D108BD9-81ED-4DB2-BD59-A6C34878D82A}">
                        <a16:rowId xmlns:a16="http://schemas.microsoft.com/office/drawing/2014/main" val="1760263930"/>
                      </a:ext>
                    </a:extLst>
                  </a:tr>
                  <a:tr h="420293">
                    <a:tc>
                      <a:txBody>
                        <a:bodyPr/>
                        <a:lstStyle/>
                        <a:p>
                          <a:pPr>
                            <a:lnSpc>
                              <a:spcPts val="1875"/>
                            </a:lnSpc>
                            <a:buNone/>
                          </a:pPr>
                          <a:r>
                            <a:rPr lang="ru-RU" b="0">
                              <a:effectLst/>
                              <a:latin typeface="+mn-lt"/>
                            </a:rPr>
                            <a:t>1. Генетическое кодирование</a:t>
                          </a:r>
                        </a:p>
                      </a:txBody>
                      <a:tcPr marR="121920" marT="76200" marB="76200" anchor="ctr"/>
                    </a:tc>
                    <a:tc>
                      <a:txBody>
                        <a:bodyPr/>
                        <a:lstStyle/>
                        <a:p>
                          <a:pPr>
                            <a:lnSpc>
                              <a:spcPts val="1875"/>
                            </a:lnSpc>
                            <a:buNone/>
                          </a:pPr>
                          <a:r>
                            <a:rPr lang="ru-RU" b="0" dirty="0">
                              <a:effectLst/>
                              <a:latin typeface="+mn-lt"/>
                            </a:rPr>
                            <a:t>Агрегация SNP → </a:t>
                          </a:r>
                          <a:r>
                            <a:rPr lang="ru-RU" b="0" dirty="0" err="1">
                              <a:effectLst/>
                              <a:latin typeface="+mn-lt"/>
                            </a:rPr>
                            <a:t>эмбеддинги</a:t>
                          </a:r>
                          <a:r>
                            <a:rPr lang="ru-RU" b="0" dirty="0">
                              <a:effectLst/>
                              <a:latin typeface="+mn-lt"/>
                            </a:rPr>
                            <a:t> генов</a:t>
                          </a:r>
                        </a:p>
                      </a:txBody>
                      <a:tcPr marL="121920" marR="121920" marT="76200" marB="76200" anchor="ctr"/>
                    </a:tc>
                    <a:tc>
                      <a:txBody>
                        <a:bodyPr/>
                        <a:lstStyle/>
                        <a:p>
                          <a:pPr>
                            <a:lnSpc>
                              <a:spcPts val="1650"/>
                            </a:lnSpc>
                            <a:buNone/>
                          </a:pPr>
                          <a:r>
                            <a:rPr lang="ru-RU" b="0" dirty="0">
                              <a:effectLst/>
                              <a:latin typeface="+mn-lt"/>
                            </a:rPr>
                            <a:t>Матрица [</a:t>
                          </a:r>
                          <a14:m>
                            <m:oMath xmlns:m="http://schemas.openxmlformats.org/officeDocument/2006/math">
                              <m:sSub>
                                <m:sSubPr>
                                  <m:ctrlPr>
                                    <a:rPr lang="ru-RU" i="1" smtClean="0">
                                      <a:solidFill>
                                        <a:schemeClr val="tx1"/>
                                      </a:solidFill>
                                      <a:latin typeface="+mn-lt"/>
                                    </a:rPr>
                                  </m:ctrlPr>
                                </m:sSubPr>
                                <m:e>
                                  <m:r>
                                    <a:rPr lang="en-US" b="0" i="1" smtClean="0">
                                      <a:solidFill>
                                        <a:schemeClr val="tx1"/>
                                      </a:solidFill>
                                      <a:latin typeface="+mn-lt"/>
                                    </a:rPr>
                                    <m:t>𝑁</m:t>
                                  </m:r>
                                </m:e>
                                <m:sub>
                                  <m:r>
                                    <m:rPr>
                                      <m:nor/>
                                    </m:rPr>
                                    <a:rPr lang="ru-RU" b="0" i="1" smtClean="0">
                                      <a:solidFill>
                                        <a:schemeClr val="tx1"/>
                                      </a:solidFill>
                                      <a:latin typeface="+mn-lt"/>
                                    </a:rPr>
                                    <m:t>генов</m:t>
                                  </m:r>
                                </m:sub>
                              </m:sSub>
                            </m:oMath>
                          </a14:m>
                          <a:r>
                            <a:rPr lang="ru-RU" b="0" i="0" dirty="0">
                              <a:solidFill>
                                <a:schemeClr val="tx1"/>
                              </a:solidFill>
                              <a:effectLst/>
                              <a:latin typeface="+mn-lt"/>
                            </a:rPr>
                            <a:t> </a:t>
                          </a:r>
                          <a:r>
                            <a:rPr lang="ru-RU" b="0" dirty="0">
                              <a:effectLst/>
                              <a:latin typeface="+mn-lt"/>
                            </a:rPr>
                            <a:t> × d]</a:t>
                          </a:r>
                        </a:p>
                      </a:txBody>
                      <a:tcPr marL="121920" marT="76200" marB="76200" anchor="ctr"/>
                    </a:tc>
                    <a:extLst>
                      <a:ext uri="{0D108BD9-81ED-4DB2-BD59-A6C34878D82A}">
                        <a16:rowId xmlns:a16="http://schemas.microsoft.com/office/drawing/2014/main" val="675910514"/>
                      </a:ext>
                    </a:extLst>
                  </a:tr>
                  <a:tr h="420293">
                    <a:tc>
                      <a:txBody>
                        <a:bodyPr/>
                        <a:lstStyle/>
                        <a:p>
                          <a:pPr>
                            <a:lnSpc>
                              <a:spcPts val="1875"/>
                            </a:lnSpc>
                            <a:buNone/>
                          </a:pPr>
                          <a:r>
                            <a:rPr lang="ru-RU" b="0">
                              <a:effectLst/>
                              <a:latin typeface="+mn-lt"/>
                            </a:rPr>
                            <a:t>2. Трансформер</a:t>
                          </a:r>
                        </a:p>
                      </a:txBody>
                      <a:tcPr marR="121920" marT="76200" marB="76200" anchor="ctr"/>
                    </a:tc>
                    <a:tc>
                      <a:txBody>
                        <a:bodyPr/>
                        <a:lstStyle/>
                        <a:p>
                          <a:pPr>
                            <a:lnSpc>
                              <a:spcPts val="1875"/>
                            </a:lnSpc>
                            <a:buNone/>
                          </a:pPr>
                          <a:r>
                            <a:rPr lang="ru-RU" b="0" dirty="0">
                              <a:effectLst/>
                              <a:latin typeface="+mn-lt"/>
                            </a:rPr>
                            <a:t>Моделирует взаимодействия между генами</a:t>
                          </a:r>
                        </a:p>
                      </a:txBody>
                      <a:tcPr marL="121920" marR="121920" marT="76200" marB="76200" anchor="ctr"/>
                    </a:tc>
                    <a:tc>
                      <a:txBody>
                        <a:bodyPr/>
                        <a:lstStyle/>
                        <a:p>
                          <a:pPr>
                            <a:lnSpc>
                              <a:spcPts val="1650"/>
                            </a:lnSpc>
                            <a:buNone/>
                          </a:pPr>
                          <a:r>
                            <a:rPr lang="ru-RU" b="0" dirty="0">
                              <a:effectLst/>
                              <a:latin typeface="+mn-lt"/>
                            </a:rPr>
                            <a:t>Матрица [</a:t>
                          </a:r>
                          <a14:m>
                            <m:oMath xmlns:m="http://schemas.openxmlformats.org/officeDocument/2006/math">
                              <m:sSub>
                                <m:sSubPr>
                                  <m:ctrlPr>
                                    <a:rPr lang="ru-RU" i="1" smtClean="0">
                                      <a:solidFill>
                                        <a:schemeClr val="tx1"/>
                                      </a:solidFill>
                                      <a:latin typeface="+mn-lt"/>
                                    </a:rPr>
                                  </m:ctrlPr>
                                </m:sSubPr>
                                <m:e>
                                  <m:r>
                                    <a:rPr lang="en-US" b="0" i="1" smtClean="0">
                                      <a:solidFill>
                                        <a:schemeClr val="tx1"/>
                                      </a:solidFill>
                                      <a:latin typeface="+mn-lt"/>
                                    </a:rPr>
                                    <m:t>𝑁</m:t>
                                  </m:r>
                                </m:e>
                                <m:sub>
                                  <m:r>
                                    <m:rPr>
                                      <m:nor/>
                                    </m:rPr>
                                    <a:rPr lang="ru-RU" b="0" i="1" smtClean="0">
                                      <a:solidFill>
                                        <a:schemeClr val="tx1"/>
                                      </a:solidFill>
                                      <a:latin typeface="+mn-lt"/>
                                    </a:rPr>
                                    <m:t>генов</m:t>
                                  </m:r>
                                </m:sub>
                              </m:sSub>
                            </m:oMath>
                          </a14:m>
                          <a:r>
                            <a:rPr lang="ru-RU" b="0" dirty="0">
                              <a:effectLst/>
                              <a:latin typeface="+mn-lt"/>
                            </a:rPr>
                            <a:t> × d]</a:t>
                          </a:r>
                        </a:p>
                      </a:txBody>
                      <a:tcPr marL="121920" marT="76200" marB="76200" anchor="ctr"/>
                    </a:tc>
                    <a:extLst>
                      <a:ext uri="{0D108BD9-81ED-4DB2-BD59-A6C34878D82A}">
                        <a16:rowId xmlns:a16="http://schemas.microsoft.com/office/drawing/2014/main" val="4238499419"/>
                      </a:ext>
                    </a:extLst>
                  </a:tr>
                  <a:tr h="350748">
                    <a:tc>
                      <a:txBody>
                        <a:bodyPr/>
                        <a:lstStyle/>
                        <a:p>
                          <a:pPr>
                            <a:lnSpc>
                              <a:spcPts val="1875"/>
                            </a:lnSpc>
                            <a:buNone/>
                          </a:pPr>
                          <a:r>
                            <a:rPr lang="ru-RU" b="0">
                              <a:effectLst/>
                              <a:latin typeface="+mn-lt"/>
                            </a:rPr>
                            <a:t>3. Прогнозирование</a:t>
                          </a:r>
                        </a:p>
                      </a:txBody>
                      <a:tcPr marR="121920" marT="76200" marB="76200" anchor="ctr"/>
                    </a:tc>
                    <a:tc>
                      <a:txBody>
                        <a:bodyPr/>
                        <a:lstStyle/>
                        <a:p>
                          <a:pPr>
                            <a:lnSpc>
                              <a:spcPts val="1875"/>
                            </a:lnSpc>
                            <a:buNone/>
                          </a:pPr>
                          <a:r>
                            <a:rPr lang="ru-RU" b="0" dirty="0">
                              <a:effectLst/>
                              <a:latin typeface="+mn-lt"/>
                            </a:rPr>
                            <a:t>CLS-токен + внимание → регрессия</a:t>
                          </a:r>
                        </a:p>
                      </a:txBody>
                      <a:tcPr marL="121920" marR="121920" marT="76200" marB="76200" anchor="ctr"/>
                    </a:tc>
                    <a:tc>
                      <a:txBody>
                        <a:bodyPr/>
                        <a:lstStyle/>
                        <a:p>
                          <a:pPr>
                            <a:lnSpc>
                              <a:spcPts val="1650"/>
                            </a:lnSpc>
                            <a:buNone/>
                          </a:pPr>
                          <a:r>
                            <a:rPr lang="ru-RU" b="0" dirty="0">
                              <a:effectLst/>
                              <a:latin typeface="+mn-lt"/>
                            </a:rPr>
                            <a:t>Вектор фенотипов [k]</a:t>
                          </a:r>
                        </a:p>
                      </a:txBody>
                      <a:tcPr marL="121920" marT="76200" marB="76200" anchor="ctr"/>
                    </a:tc>
                    <a:extLst>
                      <a:ext uri="{0D108BD9-81ED-4DB2-BD59-A6C34878D82A}">
                        <a16:rowId xmlns:a16="http://schemas.microsoft.com/office/drawing/2014/main" val="3281754263"/>
                      </a:ext>
                    </a:extLst>
                  </a:tr>
                  <a:tr h="420293">
                    <a:tc>
                      <a:txBody>
                        <a:bodyPr/>
                        <a:lstStyle/>
                        <a:p>
                          <a:pPr>
                            <a:lnSpc>
                              <a:spcPts val="1875"/>
                            </a:lnSpc>
                            <a:buNone/>
                          </a:pPr>
                          <a:r>
                            <a:rPr lang="ru-RU" b="0">
                              <a:effectLst/>
                              <a:latin typeface="+mn-lt"/>
                            </a:rPr>
                            <a:t>4. Реконструкция (только обучение)</a:t>
                          </a:r>
                        </a:p>
                      </a:txBody>
                      <a:tcPr marR="121920" marT="76200" marB="76200" anchor="ctr"/>
                    </a:tc>
                    <a:tc>
                      <a:txBody>
                        <a:bodyPr/>
                        <a:lstStyle/>
                        <a:p>
                          <a:pPr>
                            <a:lnSpc>
                              <a:spcPts val="1875"/>
                            </a:lnSpc>
                            <a:buNone/>
                          </a:pPr>
                          <a:r>
                            <a:rPr lang="ru-RU" b="0">
                              <a:effectLst/>
                              <a:latin typeface="+mn-lt"/>
                            </a:rPr>
                            <a:t>Восстановление исходных SNP</a:t>
                          </a:r>
                        </a:p>
                      </a:txBody>
                      <a:tcPr marL="121920" marR="121920" marT="76200" marB="76200" anchor="ctr"/>
                    </a:tc>
                    <a:tc>
                      <a:txBody>
                        <a:bodyPr/>
                        <a:lstStyle/>
                        <a:p>
                          <a:pPr>
                            <a:lnSpc>
                              <a:spcPts val="1650"/>
                            </a:lnSpc>
                            <a:buNone/>
                          </a:pPr>
                          <a:r>
                            <a:rPr lang="ru-RU" b="0" dirty="0">
                              <a:effectLst/>
                              <a:latin typeface="+mn-lt"/>
                            </a:rPr>
                            <a:t>Вектор SNP [M]</a:t>
                          </a:r>
                        </a:p>
                      </a:txBody>
                      <a:tcPr marL="121920" marT="76200" marB="76200" anchor="ctr"/>
                    </a:tc>
                    <a:extLst>
                      <a:ext uri="{0D108BD9-81ED-4DB2-BD59-A6C34878D82A}">
                        <a16:rowId xmlns:a16="http://schemas.microsoft.com/office/drawing/2014/main" val="3582881745"/>
                      </a:ext>
                    </a:extLst>
                  </a:tr>
                </a:tbl>
              </a:graphicData>
            </a:graphic>
          </p:graphicFrame>
        </mc:Choice>
        <mc:Fallback>
          <p:graphicFrame>
            <p:nvGraphicFramePr>
              <p:cNvPr id="7" name="Объект 7">
                <a:extLst>
                  <a:ext uri="{FF2B5EF4-FFF2-40B4-BE49-F238E27FC236}">
                    <a16:creationId xmlns:a16="http://schemas.microsoft.com/office/drawing/2014/main" id="{9806C2C5-AE79-7D34-2F2B-2F5469D57B2C}"/>
                  </a:ext>
                </a:extLst>
              </p:cNvPr>
              <p:cNvGraphicFramePr>
                <a:graphicFrameLocks/>
              </p:cNvGraphicFramePr>
              <p:nvPr>
                <p:extLst>
                  <p:ext uri="{D42A27DB-BD31-4B8C-83A1-F6EECF244321}">
                    <p14:modId xmlns:p14="http://schemas.microsoft.com/office/powerpoint/2010/main" val="3558918795"/>
                  </p:ext>
                </p:extLst>
              </p:nvPr>
            </p:nvGraphicFramePr>
            <p:xfrm>
              <a:off x="477086" y="1224609"/>
              <a:ext cx="8721171" cy="2933700"/>
            </p:xfrm>
            <a:graphic>
              <a:graphicData uri="http://schemas.openxmlformats.org/drawingml/2006/table">
                <a:tbl>
                  <a:tblPr firstRow="1" bandRow="1">
                    <a:tableStyleId>{5C22544A-7EE6-4342-B048-85BDC9FD1C3A}</a:tableStyleId>
                  </a:tblPr>
                  <a:tblGrid>
                    <a:gridCol w="2379769">
                      <a:extLst>
                        <a:ext uri="{9D8B030D-6E8A-4147-A177-3AD203B41FA5}">
                          <a16:colId xmlns:a16="http://schemas.microsoft.com/office/drawing/2014/main" val="4042541222"/>
                        </a:ext>
                      </a:extLst>
                    </a:gridCol>
                    <a:gridCol w="3851566">
                      <a:extLst>
                        <a:ext uri="{9D8B030D-6E8A-4147-A177-3AD203B41FA5}">
                          <a16:colId xmlns:a16="http://schemas.microsoft.com/office/drawing/2014/main" val="3588120153"/>
                        </a:ext>
                      </a:extLst>
                    </a:gridCol>
                    <a:gridCol w="2489836">
                      <a:extLst>
                        <a:ext uri="{9D8B030D-6E8A-4147-A177-3AD203B41FA5}">
                          <a16:colId xmlns:a16="http://schemas.microsoft.com/office/drawing/2014/main" val="3875894071"/>
                        </a:ext>
                      </a:extLst>
                    </a:gridCol>
                  </a:tblGrid>
                  <a:tr h="393700">
                    <a:tc>
                      <a:txBody>
                        <a:bodyPr/>
                        <a:lstStyle/>
                        <a:p>
                          <a:pPr algn="l">
                            <a:lnSpc>
                              <a:spcPts val="1875"/>
                            </a:lnSpc>
                            <a:buNone/>
                          </a:pPr>
                          <a:r>
                            <a:rPr lang="ru-RU" b="0" dirty="0">
                              <a:effectLst/>
                              <a:latin typeface="+mn-lt"/>
                            </a:rPr>
                            <a:t>Блок</a:t>
                          </a:r>
                        </a:p>
                      </a:txBody>
                      <a:tcPr marR="121920" marT="76200" marB="76200" anchor="ctr"/>
                    </a:tc>
                    <a:tc>
                      <a:txBody>
                        <a:bodyPr/>
                        <a:lstStyle/>
                        <a:p>
                          <a:pPr algn="l">
                            <a:lnSpc>
                              <a:spcPts val="1875"/>
                            </a:lnSpc>
                            <a:buNone/>
                          </a:pPr>
                          <a:r>
                            <a:rPr lang="ru-RU" b="0" dirty="0">
                              <a:effectLst/>
                              <a:latin typeface="+mn-lt"/>
                            </a:rPr>
                            <a:t>Что делает</a:t>
                          </a:r>
                        </a:p>
                      </a:txBody>
                      <a:tcPr marL="121920" marR="121920" marT="76200" marB="76200" anchor="ctr"/>
                    </a:tc>
                    <a:tc>
                      <a:txBody>
                        <a:bodyPr/>
                        <a:lstStyle/>
                        <a:p>
                          <a:pPr algn="l">
                            <a:lnSpc>
                              <a:spcPts val="1875"/>
                            </a:lnSpc>
                            <a:buNone/>
                          </a:pPr>
                          <a:r>
                            <a:rPr lang="ru-RU" b="0" dirty="0">
                              <a:effectLst/>
                              <a:latin typeface="+mn-lt"/>
                            </a:rPr>
                            <a:t>Выход</a:t>
                          </a:r>
                        </a:p>
                      </a:txBody>
                      <a:tcPr marL="121920" marR="121920" marT="76200" marB="76200" anchor="ctr"/>
                    </a:tc>
                    <a:extLst>
                      <a:ext uri="{0D108BD9-81ED-4DB2-BD59-A6C34878D82A}">
                        <a16:rowId xmlns:a16="http://schemas.microsoft.com/office/drawing/2014/main" val="1760263930"/>
                      </a:ext>
                    </a:extLst>
                  </a:tr>
                  <a:tr h="635000">
                    <a:tc>
                      <a:txBody>
                        <a:bodyPr/>
                        <a:lstStyle/>
                        <a:p>
                          <a:pPr>
                            <a:lnSpc>
                              <a:spcPts val="1875"/>
                            </a:lnSpc>
                            <a:buNone/>
                          </a:pPr>
                          <a:r>
                            <a:rPr lang="ru-RU" b="0">
                              <a:effectLst/>
                              <a:latin typeface="+mn-lt"/>
                            </a:rPr>
                            <a:t>1. Генетическое кодирование</a:t>
                          </a:r>
                        </a:p>
                      </a:txBody>
                      <a:tcPr marR="121920" marT="76200" marB="76200" anchor="ctr"/>
                    </a:tc>
                    <a:tc>
                      <a:txBody>
                        <a:bodyPr/>
                        <a:lstStyle/>
                        <a:p>
                          <a:pPr>
                            <a:lnSpc>
                              <a:spcPts val="1875"/>
                            </a:lnSpc>
                            <a:buNone/>
                          </a:pPr>
                          <a:r>
                            <a:rPr lang="ru-RU" b="0" dirty="0">
                              <a:effectLst/>
                              <a:latin typeface="+mn-lt"/>
                            </a:rPr>
                            <a:t>Агрегация SNP → </a:t>
                          </a:r>
                          <a:r>
                            <a:rPr lang="ru-RU" b="0" dirty="0" err="1">
                              <a:effectLst/>
                              <a:latin typeface="+mn-lt"/>
                            </a:rPr>
                            <a:t>эмбеддинги</a:t>
                          </a:r>
                          <a:r>
                            <a:rPr lang="ru-RU" b="0" dirty="0">
                              <a:effectLst/>
                              <a:latin typeface="+mn-lt"/>
                            </a:rPr>
                            <a:t> генов</a:t>
                          </a:r>
                        </a:p>
                      </a:txBody>
                      <a:tcPr marL="121920" marR="121920" marT="76200" marB="76200" anchor="ctr"/>
                    </a:tc>
                    <a:tc>
                      <a:txBody>
                        <a:bodyPr/>
                        <a:lstStyle/>
                        <a:p>
                          <a:endParaRPr lang="ru-RU"/>
                        </a:p>
                      </a:txBody>
                      <a:tcPr marL="121920" marT="76200" marB="76200" anchor="ctr">
                        <a:blipFill>
                          <a:blip r:embed="rId2"/>
                          <a:stretch>
                            <a:fillRect l="-250122" t="-68269" r="-1222" b="-311538"/>
                          </a:stretch>
                        </a:blipFill>
                      </a:tcPr>
                    </a:tc>
                    <a:extLst>
                      <a:ext uri="{0D108BD9-81ED-4DB2-BD59-A6C34878D82A}">
                        <a16:rowId xmlns:a16="http://schemas.microsoft.com/office/drawing/2014/main" val="675910514"/>
                      </a:ext>
                    </a:extLst>
                  </a:tr>
                  <a:tr h="635000">
                    <a:tc>
                      <a:txBody>
                        <a:bodyPr/>
                        <a:lstStyle/>
                        <a:p>
                          <a:pPr>
                            <a:lnSpc>
                              <a:spcPts val="1875"/>
                            </a:lnSpc>
                            <a:buNone/>
                          </a:pPr>
                          <a:r>
                            <a:rPr lang="ru-RU" b="0">
                              <a:effectLst/>
                              <a:latin typeface="+mn-lt"/>
                            </a:rPr>
                            <a:t>2. Трансформер</a:t>
                          </a:r>
                        </a:p>
                      </a:txBody>
                      <a:tcPr marR="121920" marT="76200" marB="76200" anchor="ctr"/>
                    </a:tc>
                    <a:tc>
                      <a:txBody>
                        <a:bodyPr/>
                        <a:lstStyle/>
                        <a:p>
                          <a:pPr>
                            <a:lnSpc>
                              <a:spcPts val="1875"/>
                            </a:lnSpc>
                            <a:buNone/>
                          </a:pPr>
                          <a:r>
                            <a:rPr lang="ru-RU" b="0" dirty="0">
                              <a:effectLst/>
                              <a:latin typeface="+mn-lt"/>
                            </a:rPr>
                            <a:t>Моделирует взаимодействия между генами</a:t>
                          </a:r>
                        </a:p>
                      </a:txBody>
                      <a:tcPr marL="121920" marR="121920" marT="76200" marB="76200" anchor="ctr"/>
                    </a:tc>
                    <a:tc>
                      <a:txBody>
                        <a:bodyPr/>
                        <a:lstStyle/>
                        <a:p>
                          <a:endParaRPr lang="ru-RU"/>
                        </a:p>
                      </a:txBody>
                      <a:tcPr marL="121920" marT="76200" marB="76200" anchor="ctr">
                        <a:blipFill>
                          <a:blip r:embed="rId2"/>
                          <a:stretch>
                            <a:fillRect l="-250122" t="-166667" r="-1222" b="-208571"/>
                          </a:stretch>
                        </a:blipFill>
                      </a:tcPr>
                    </a:tc>
                    <a:extLst>
                      <a:ext uri="{0D108BD9-81ED-4DB2-BD59-A6C34878D82A}">
                        <a16:rowId xmlns:a16="http://schemas.microsoft.com/office/drawing/2014/main" val="4238499419"/>
                      </a:ext>
                    </a:extLst>
                  </a:tr>
                  <a:tr h="635000">
                    <a:tc>
                      <a:txBody>
                        <a:bodyPr/>
                        <a:lstStyle/>
                        <a:p>
                          <a:pPr>
                            <a:lnSpc>
                              <a:spcPts val="1875"/>
                            </a:lnSpc>
                            <a:buNone/>
                          </a:pPr>
                          <a:r>
                            <a:rPr lang="ru-RU" b="0">
                              <a:effectLst/>
                              <a:latin typeface="+mn-lt"/>
                            </a:rPr>
                            <a:t>3. Прогнозирование</a:t>
                          </a:r>
                        </a:p>
                      </a:txBody>
                      <a:tcPr marR="121920" marT="76200" marB="76200" anchor="ctr"/>
                    </a:tc>
                    <a:tc>
                      <a:txBody>
                        <a:bodyPr/>
                        <a:lstStyle/>
                        <a:p>
                          <a:pPr>
                            <a:lnSpc>
                              <a:spcPts val="1875"/>
                            </a:lnSpc>
                            <a:buNone/>
                          </a:pPr>
                          <a:r>
                            <a:rPr lang="ru-RU" b="0" dirty="0">
                              <a:effectLst/>
                              <a:latin typeface="+mn-lt"/>
                            </a:rPr>
                            <a:t>CLS-токен + внимание → регрессия</a:t>
                          </a:r>
                        </a:p>
                      </a:txBody>
                      <a:tcPr marL="121920" marR="121920" marT="76200" marB="76200" anchor="ctr"/>
                    </a:tc>
                    <a:tc>
                      <a:txBody>
                        <a:bodyPr/>
                        <a:lstStyle/>
                        <a:p>
                          <a:pPr>
                            <a:lnSpc>
                              <a:spcPts val="1650"/>
                            </a:lnSpc>
                            <a:buNone/>
                          </a:pPr>
                          <a:r>
                            <a:rPr lang="ru-RU" b="0" dirty="0">
                              <a:effectLst/>
                              <a:latin typeface="+mn-lt"/>
                            </a:rPr>
                            <a:t>Вектор фенотипов [k]</a:t>
                          </a:r>
                        </a:p>
                      </a:txBody>
                      <a:tcPr marL="121920" marT="76200" marB="76200" anchor="ctr"/>
                    </a:tc>
                    <a:extLst>
                      <a:ext uri="{0D108BD9-81ED-4DB2-BD59-A6C34878D82A}">
                        <a16:rowId xmlns:a16="http://schemas.microsoft.com/office/drawing/2014/main" val="3281754263"/>
                      </a:ext>
                    </a:extLst>
                  </a:tr>
                  <a:tr h="635000">
                    <a:tc>
                      <a:txBody>
                        <a:bodyPr/>
                        <a:lstStyle/>
                        <a:p>
                          <a:pPr>
                            <a:lnSpc>
                              <a:spcPts val="1875"/>
                            </a:lnSpc>
                            <a:buNone/>
                          </a:pPr>
                          <a:r>
                            <a:rPr lang="ru-RU" b="0">
                              <a:effectLst/>
                              <a:latin typeface="+mn-lt"/>
                            </a:rPr>
                            <a:t>4. Реконструкция (только обучение)</a:t>
                          </a:r>
                        </a:p>
                      </a:txBody>
                      <a:tcPr marR="121920" marT="76200" marB="76200" anchor="ctr"/>
                    </a:tc>
                    <a:tc>
                      <a:txBody>
                        <a:bodyPr/>
                        <a:lstStyle/>
                        <a:p>
                          <a:pPr>
                            <a:lnSpc>
                              <a:spcPts val="1875"/>
                            </a:lnSpc>
                            <a:buNone/>
                          </a:pPr>
                          <a:r>
                            <a:rPr lang="ru-RU" b="0">
                              <a:effectLst/>
                              <a:latin typeface="+mn-lt"/>
                            </a:rPr>
                            <a:t>Восстановление исходных SNP</a:t>
                          </a:r>
                        </a:p>
                      </a:txBody>
                      <a:tcPr marL="121920" marR="121920" marT="76200" marB="76200" anchor="ctr"/>
                    </a:tc>
                    <a:tc>
                      <a:txBody>
                        <a:bodyPr/>
                        <a:lstStyle/>
                        <a:p>
                          <a:pPr>
                            <a:lnSpc>
                              <a:spcPts val="1650"/>
                            </a:lnSpc>
                            <a:buNone/>
                          </a:pPr>
                          <a:r>
                            <a:rPr lang="ru-RU" b="0" dirty="0">
                              <a:effectLst/>
                              <a:latin typeface="+mn-lt"/>
                            </a:rPr>
                            <a:t>Вектор SNP [M]</a:t>
                          </a:r>
                        </a:p>
                      </a:txBody>
                      <a:tcPr marL="121920" marT="76200" marB="76200" anchor="ctr"/>
                    </a:tc>
                    <a:extLst>
                      <a:ext uri="{0D108BD9-81ED-4DB2-BD59-A6C34878D82A}">
                        <a16:rowId xmlns:a16="http://schemas.microsoft.com/office/drawing/2014/main" val="3582881745"/>
                      </a:ext>
                    </a:extLst>
                  </a:tr>
                </a:tbl>
              </a:graphicData>
            </a:graphic>
          </p:graphicFrame>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2FF0041-EA9D-7CAF-5C77-ADAC2BFCB012}"/>
                  </a:ext>
                </a:extLst>
              </p:cNvPr>
              <p:cNvSpPr txBox="1"/>
              <p:nvPr/>
            </p:nvSpPr>
            <p:spPr>
              <a:xfrm>
                <a:off x="477086" y="4015128"/>
                <a:ext cx="6768752" cy="2353721"/>
              </a:xfrm>
              <a:prstGeom prst="rect">
                <a:avLst/>
              </a:prstGeom>
              <a:noFill/>
            </p:spPr>
            <p:txBody>
              <a:bodyPr wrap="square">
                <a:spAutoFit/>
              </a:bodyPr>
              <a:lstStyle/>
              <a:p>
                <a:pPr algn="l">
                  <a:spcBef>
                    <a:spcPts val="1200"/>
                  </a:spcBef>
                  <a:spcAft>
                    <a:spcPts val="1200"/>
                  </a:spcAft>
                  <a:buNone/>
                </a:pPr>
                <a:r>
                  <a:rPr lang="ru-RU" b="1" i="0" dirty="0">
                    <a:solidFill>
                      <a:schemeClr val="tx1"/>
                    </a:solidFill>
                    <a:effectLst/>
                  </a:rPr>
                  <a:t>Функция потерь (обучение):</a:t>
                </a:r>
                <a:endParaRPr lang="ru-RU" b="0" i="0" dirty="0">
                  <a:solidFill>
                    <a:schemeClr val="tx1"/>
                  </a:solidFill>
                  <a:effectLst/>
                </a:endParaRPr>
              </a:p>
              <a:p>
                <a:pPr>
                  <a:buNone/>
                </a:pPr>
                <a14:m>
                  <m:oMathPara xmlns:m="http://schemas.openxmlformats.org/officeDocument/2006/math">
                    <m:oMathParaPr>
                      <m:jc m:val="centerGroup"/>
                    </m:oMathParaPr>
                    <m:oMath xmlns:m="http://schemas.openxmlformats.org/officeDocument/2006/math">
                      <m:r>
                        <a:rPr lang="ru-RU" i="1">
                          <a:solidFill>
                            <a:schemeClr val="tx1"/>
                          </a:solidFill>
                          <a:latin typeface="Cambria Math" panose="02040503050406030204" pitchFamily="18" charset="0"/>
                        </a:rPr>
                        <m:t>𝐿</m:t>
                      </m:r>
                      <m:r>
                        <a:rPr lang="ru-RU" i="0">
                          <a:solidFill>
                            <a:schemeClr val="tx1"/>
                          </a:solidFill>
                          <a:latin typeface="Cambria Math" panose="02040503050406030204" pitchFamily="18" charset="0"/>
                        </a:rPr>
                        <m:t>=</m:t>
                      </m:r>
                      <m:sSub>
                        <m:sSubPr>
                          <m:ctrlPr>
                            <a:rPr lang="ru-RU" i="1">
                              <a:solidFill>
                                <a:schemeClr val="tx1"/>
                              </a:solidFill>
                              <a:latin typeface="Cambria Math" panose="02040503050406030204" pitchFamily="18" charset="0"/>
                            </a:rPr>
                          </m:ctrlPr>
                        </m:sSubPr>
                        <m:e>
                          <m:r>
                            <a:rPr lang="ru-RU" i="1">
                              <a:solidFill>
                                <a:schemeClr val="tx1"/>
                              </a:solidFill>
                              <a:latin typeface="Cambria Math" panose="02040503050406030204" pitchFamily="18" charset="0"/>
                            </a:rPr>
                            <m:t>𝐿</m:t>
                          </m:r>
                        </m:e>
                        <m:sub>
                          <m:r>
                            <m:rPr>
                              <m:nor/>
                            </m:rPr>
                            <a:rPr lang="ru-RU" b="0" i="1">
                              <a:solidFill>
                                <a:schemeClr val="tx1"/>
                              </a:solidFill>
                            </a:rPr>
                            <m:t>pred</m:t>
                          </m:r>
                        </m:sub>
                      </m:sSub>
                      <m:r>
                        <a:rPr lang="ru-RU" b="0" i="0">
                          <a:solidFill>
                            <a:schemeClr val="tx1"/>
                          </a:solidFill>
                          <a:latin typeface="Cambria Math" panose="02040503050406030204" pitchFamily="18" charset="0"/>
                        </a:rPr>
                        <m:t>+</m:t>
                      </m:r>
                      <m:r>
                        <a:rPr lang="ru-RU" b="0" i="1">
                          <a:solidFill>
                            <a:schemeClr val="tx1"/>
                          </a:solidFill>
                          <a:latin typeface="Cambria Math" panose="02040503050406030204" pitchFamily="18" charset="0"/>
                        </a:rPr>
                        <m:t>𝜆</m:t>
                      </m:r>
                      <m:r>
                        <a:rPr lang="ru-RU" b="0" i="0">
                          <a:solidFill>
                            <a:schemeClr val="tx1"/>
                          </a:solidFill>
                          <a:latin typeface="Cambria Math" panose="02040503050406030204" pitchFamily="18" charset="0"/>
                        </a:rPr>
                        <m:t>⋅</m:t>
                      </m:r>
                      <m:sSub>
                        <m:sSubPr>
                          <m:ctrlPr>
                            <a:rPr lang="ru-RU" b="0" i="1">
                              <a:solidFill>
                                <a:schemeClr val="tx1"/>
                              </a:solidFill>
                              <a:latin typeface="Cambria Math" panose="02040503050406030204" pitchFamily="18" charset="0"/>
                            </a:rPr>
                          </m:ctrlPr>
                        </m:sSubPr>
                        <m:e>
                          <m:r>
                            <a:rPr lang="ru-RU" b="0" i="1">
                              <a:solidFill>
                                <a:schemeClr val="tx1"/>
                              </a:solidFill>
                              <a:latin typeface="Cambria Math" panose="02040503050406030204" pitchFamily="18" charset="0"/>
                            </a:rPr>
                            <m:t>𝐿</m:t>
                          </m:r>
                        </m:e>
                        <m:sub>
                          <m:r>
                            <m:rPr>
                              <m:nor/>
                            </m:rPr>
                            <a:rPr lang="ru-RU" b="0" i="1">
                              <a:solidFill>
                                <a:schemeClr val="tx1"/>
                              </a:solidFill>
                            </a:rPr>
                            <m:t>recon</m:t>
                          </m:r>
                        </m:sub>
                      </m:sSub>
                    </m:oMath>
                  </m:oMathPara>
                </a14:m>
                <a:endParaRPr lang="ru-RU" b="0" dirty="0">
                  <a:solidFill>
                    <a:schemeClr val="tx1"/>
                  </a:solidFill>
                </a:endParaRPr>
              </a:p>
              <a:p>
                <a:pPr algn="l">
                  <a:spcBef>
                    <a:spcPts val="1200"/>
                  </a:spcBef>
                  <a:spcAft>
                    <a:spcPts val="1200"/>
                  </a:spcAft>
                  <a:buFont typeface="Arial" panose="020B0604020202020204" pitchFamily="34" charset="0"/>
                  <a:buChar char="•"/>
                </a:pPr>
                <a14:m>
                  <m:oMath xmlns:m="http://schemas.openxmlformats.org/officeDocument/2006/math">
                    <m:sSub>
                      <m:sSubPr>
                        <m:ctrlPr>
                          <a:rPr lang="ru-RU" i="1">
                            <a:solidFill>
                              <a:schemeClr val="tx1"/>
                            </a:solidFill>
                            <a:latin typeface="Cambria Math" panose="02040503050406030204" pitchFamily="18" charset="0"/>
                          </a:rPr>
                        </m:ctrlPr>
                      </m:sSubPr>
                      <m:e>
                        <m:r>
                          <a:rPr lang="ru-RU" i="1">
                            <a:solidFill>
                              <a:schemeClr val="tx1"/>
                            </a:solidFill>
                            <a:latin typeface="Cambria Math" panose="02040503050406030204" pitchFamily="18" charset="0"/>
                          </a:rPr>
                          <m:t>𝐿</m:t>
                        </m:r>
                      </m:e>
                      <m:sub>
                        <m:r>
                          <m:rPr>
                            <m:nor/>
                          </m:rPr>
                          <a:rPr lang="ru-RU" b="0" i="1">
                            <a:solidFill>
                              <a:schemeClr val="tx1"/>
                            </a:solidFill>
                          </a:rPr>
                          <m:t>pred</m:t>
                        </m:r>
                      </m:sub>
                    </m:sSub>
                  </m:oMath>
                </a14:m>
                <a:r>
                  <a:rPr lang="ru-RU" b="0" i="0" dirty="0">
                    <a:solidFill>
                      <a:schemeClr val="tx1"/>
                    </a:solidFill>
                    <a:effectLst/>
                  </a:rPr>
                  <a:t> — ошибка предсказания фенотипов (</a:t>
                </a:r>
                <a:r>
                  <a:rPr lang="ru-RU" b="0" i="0" dirty="0" err="1">
                    <a:solidFill>
                      <a:schemeClr val="tx1"/>
                    </a:solidFill>
                    <a:effectLst/>
                  </a:rPr>
                  <a:t>HuberLoss</a:t>
                </a:r>
                <a:r>
                  <a:rPr lang="ru-RU" b="0" i="0" dirty="0">
                    <a:solidFill>
                      <a:schemeClr val="tx1"/>
                    </a:solidFill>
                    <a:effectLst/>
                  </a:rPr>
                  <a:t>)</a:t>
                </a:r>
              </a:p>
              <a:p>
                <a:pPr algn="l">
                  <a:spcBef>
                    <a:spcPts val="450"/>
                  </a:spcBef>
                  <a:spcAft>
                    <a:spcPts val="1200"/>
                  </a:spcAft>
                  <a:buFont typeface="Arial" panose="020B0604020202020204" pitchFamily="34" charset="0"/>
                  <a:buChar char="•"/>
                </a:pPr>
                <a14:m>
                  <m:oMath xmlns:m="http://schemas.openxmlformats.org/officeDocument/2006/math">
                    <m:sSub>
                      <m:sSubPr>
                        <m:ctrlPr>
                          <a:rPr lang="ru-RU" i="1">
                            <a:solidFill>
                              <a:schemeClr val="tx1"/>
                            </a:solidFill>
                            <a:latin typeface="Cambria Math" panose="02040503050406030204" pitchFamily="18" charset="0"/>
                          </a:rPr>
                        </m:ctrlPr>
                      </m:sSubPr>
                      <m:e>
                        <m:r>
                          <a:rPr lang="ru-RU" i="1">
                            <a:solidFill>
                              <a:schemeClr val="tx1"/>
                            </a:solidFill>
                            <a:latin typeface="Cambria Math" panose="02040503050406030204" pitchFamily="18" charset="0"/>
                          </a:rPr>
                          <m:t>𝐿</m:t>
                        </m:r>
                      </m:e>
                      <m:sub>
                        <m:r>
                          <m:rPr>
                            <m:nor/>
                          </m:rPr>
                          <a:rPr lang="ru-RU" b="0" i="1">
                            <a:solidFill>
                              <a:schemeClr val="tx1"/>
                            </a:solidFill>
                          </a:rPr>
                          <m:t>recon</m:t>
                        </m:r>
                      </m:sub>
                    </m:sSub>
                  </m:oMath>
                </a14:m>
                <a:r>
                  <a:rPr lang="ru-RU" b="0" i="0" dirty="0">
                    <a:solidFill>
                      <a:schemeClr val="tx1"/>
                    </a:solidFill>
                    <a:effectLst/>
                  </a:rPr>
                  <a:t> — ошибка восстановления SNP (MSE)</a:t>
                </a:r>
              </a:p>
              <a:p>
                <a:pPr algn="l">
                  <a:spcBef>
                    <a:spcPts val="450"/>
                  </a:spcBef>
                  <a:spcAft>
                    <a:spcPts val="1200"/>
                  </a:spcAft>
                  <a:buFont typeface="Arial" panose="020B0604020202020204" pitchFamily="34" charset="0"/>
                  <a:buChar char="•"/>
                </a:pPr>
                <a14:m>
                  <m:oMath xmlns:m="http://schemas.openxmlformats.org/officeDocument/2006/math">
                    <m:r>
                      <a:rPr lang="ru-RU" i="1">
                        <a:solidFill>
                          <a:schemeClr val="tx1"/>
                        </a:solidFill>
                        <a:latin typeface="Cambria Math" panose="02040503050406030204" pitchFamily="18" charset="0"/>
                      </a:rPr>
                      <m:t>𝜆</m:t>
                    </m:r>
                  </m:oMath>
                </a14:m>
                <a:r>
                  <a:rPr lang="ru-RU" b="0" i="0" dirty="0">
                    <a:solidFill>
                      <a:schemeClr val="tx1"/>
                    </a:solidFill>
                    <a:effectLst/>
                  </a:rPr>
                  <a:t> — коэффициент регуляризации (убывает со временем)</a:t>
                </a:r>
              </a:p>
            </p:txBody>
          </p:sp>
        </mc:Choice>
        <mc:Fallback xmlns="">
          <p:sp>
            <p:nvSpPr>
              <p:cNvPr id="8" name="TextBox 7">
                <a:extLst>
                  <a:ext uri="{FF2B5EF4-FFF2-40B4-BE49-F238E27FC236}">
                    <a16:creationId xmlns:a16="http://schemas.microsoft.com/office/drawing/2014/main" id="{52FF0041-EA9D-7CAF-5C77-ADAC2BFCB012}"/>
                  </a:ext>
                </a:extLst>
              </p:cNvPr>
              <p:cNvSpPr txBox="1">
                <a:spLocks noRot="1" noChangeAspect="1" noMove="1" noResize="1" noEditPoints="1" noAdjustHandles="1" noChangeArrowheads="1" noChangeShapeType="1" noTextEdit="1"/>
              </p:cNvSpPr>
              <p:nvPr/>
            </p:nvSpPr>
            <p:spPr>
              <a:xfrm>
                <a:off x="477086" y="4015128"/>
                <a:ext cx="6768752" cy="2353721"/>
              </a:xfrm>
              <a:prstGeom prst="rect">
                <a:avLst/>
              </a:prstGeom>
              <a:blipFill>
                <a:blip r:embed="rId3"/>
                <a:stretch>
                  <a:fillRect l="-720" t="-1813" b="-3109"/>
                </a:stretch>
              </a:blipFill>
            </p:spPr>
            <p:txBody>
              <a:bodyPr/>
              <a:lstStyle/>
              <a:p>
                <a:r>
                  <a:rPr lang="ru-RU">
                    <a:noFill/>
                  </a:rPr>
                  <a:t> </a:t>
                </a:r>
              </a:p>
            </p:txBody>
          </p:sp>
        </mc:Fallback>
      </mc:AlternateContent>
      <p:sp>
        <p:nvSpPr>
          <p:cNvPr id="12" name="TextBox 11">
            <a:extLst>
              <a:ext uri="{FF2B5EF4-FFF2-40B4-BE49-F238E27FC236}">
                <a16:creationId xmlns:a16="http://schemas.microsoft.com/office/drawing/2014/main" id="{48AEFA36-C009-5FE1-6852-4E599A4FAE56}"/>
              </a:ext>
            </a:extLst>
          </p:cNvPr>
          <p:cNvSpPr txBox="1"/>
          <p:nvPr/>
        </p:nvSpPr>
        <p:spPr>
          <a:xfrm>
            <a:off x="7392144" y="4591823"/>
            <a:ext cx="2592288" cy="1200329"/>
          </a:xfrm>
          <a:prstGeom prst="rect">
            <a:avLst/>
          </a:prstGeom>
          <a:noFill/>
        </p:spPr>
        <p:txBody>
          <a:bodyPr wrap="square">
            <a:spAutoFit/>
          </a:bodyPr>
          <a:lstStyle/>
          <a:p>
            <a:r>
              <a:rPr lang="ru-RU" dirty="0"/>
              <a:t>На этапе предсказания: реконструкция отключается (λ = 0)</a:t>
            </a:r>
          </a:p>
        </p:txBody>
      </p:sp>
    </p:spTree>
    <p:extLst>
      <p:ext uri="{BB962C8B-B14F-4D97-AF65-F5344CB8AC3E}">
        <p14:creationId xmlns:p14="http://schemas.microsoft.com/office/powerpoint/2010/main" val="1579942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380B382-61AE-A2E3-DAAE-DF5D4BA2869F}"/>
              </a:ext>
            </a:extLst>
          </p:cNvPr>
          <p:cNvSpPr>
            <a:spLocks noGrp="1"/>
          </p:cNvSpPr>
          <p:nvPr>
            <p:ph type="title"/>
          </p:nvPr>
        </p:nvSpPr>
        <p:spPr/>
        <p:txBody>
          <a:bodyPr>
            <a:normAutofit fontScale="90000"/>
          </a:bodyPr>
          <a:lstStyle/>
          <a:p>
            <a:r>
              <a:rPr lang="ru-RU" sz="3600" b="1" dirty="0"/>
              <a:t>Диаграмма компонентов спроектированной модели</a:t>
            </a:r>
            <a:br>
              <a:rPr lang="ru-RU" b="1" dirty="0"/>
            </a:br>
            <a:endParaRPr lang="ru-RU" b="1" dirty="0"/>
          </a:p>
        </p:txBody>
      </p:sp>
      <p:sp>
        <p:nvSpPr>
          <p:cNvPr id="3" name="Номер слайда 2">
            <a:extLst>
              <a:ext uri="{FF2B5EF4-FFF2-40B4-BE49-F238E27FC236}">
                <a16:creationId xmlns:a16="http://schemas.microsoft.com/office/drawing/2014/main" id="{A8B92EEB-252A-DF2E-3D27-636C2CE7C560}"/>
              </a:ext>
            </a:extLst>
          </p:cNvPr>
          <p:cNvSpPr>
            <a:spLocks noGrp="1"/>
          </p:cNvSpPr>
          <p:nvPr>
            <p:ph type="sldNum" sz="quarter" idx="12"/>
          </p:nvPr>
        </p:nvSpPr>
        <p:spPr/>
        <p:txBody>
          <a:bodyPr/>
          <a:lstStyle/>
          <a:p>
            <a:fld id="{B19B0651-EE4F-4900-A07F-96A6BFA9D0F0}" type="slidenum">
              <a:rPr lang="ru-RU" smtClean="0"/>
              <a:pPr/>
              <a:t>11</a:t>
            </a:fld>
            <a:endParaRPr lang="ru-RU" dirty="0"/>
          </a:p>
        </p:txBody>
      </p:sp>
      <p:pic>
        <p:nvPicPr>
          <p:cNvPr id="28" name="Рисунок 27">
            <a:extLst>
              <a:ext uri="{FF2B5EF4-FFF2-40B4-BE49-F238E27FC236}">
                <a16:creationId xmlns:a16="http://schemas.microsoft.com/office/drawing/2014/main" id="{57A6C64E-9242-41AA-DCB9-86DB986717D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 y="1268760"/>
            <a:ext cx="10972800" cy="3849282"/>
          </a:xfrm>
          <a:prstGeom prst="rect">
            <a:avLst/>
          </a:prstGeom>
        </p:spPr>
      </p:pic>
    </p:spTree>
    <p:extLst>
      <p:ext uri="{BB962C8B-B14F-4D97-AF65-F5344CB8AC3E}">
        <p14:creationId xmlns:p14="http://schemas.microsoft.com/office/powerpoint/2010/main" val="2718528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344AA59-CA79-9747-FFD0-A59E5A12ED7B}"/>
              </a:ext>
            </a:extLst>
          </p:cNvPr>
          <p:cNvSpPr>
            <a:spLocks noGrp="1"/>
          </p:cNvSpPr>
          <p:nvPr>
            <p:ph type="title"/>
          </p:nvPr>
        </p:nvSpPr>
        <p:spPr/>
        <p:txBody>
          <a:bodyPr>
            <a:normAutofit fontScale="90000"/>
          </a:bodyPr>
          <a:lstStyle/>
          <a:p>
            <a:r>
              <a:rPr lang="ru-RU" sz="3600" b="1" dirty="0"/>
              <a:t>Блок генетического кодирования</a:t>
            </a:r>
            <a:br>
              <a:rPr lang="ru-RU" b="1" dirty="0"/>
            </a:br>
            <a:endParaRPr lang="ru-RU" dirty="0"/>
          </a:p>
        </p:txBody>
      </p:sp>
      <p:sp>
        <p:nvSpPr>
          <p:cNvPr id="3" name="Номер слайда 2">
            <a:extLst>
              <a:ext uri="{FF2B5EF4-FFF2-40B4-BE49-F238E27FC236}">
                <a16:creationId xmlns:a16="http://schemas.microsoft.com/office/drawing/2014/main" id="{F362D47F-16ED-AF84-FF4F-3D87EFD4EC47}"/>
              </a:ext>
            </a:extLst>
          </p:cNvPr>
          <p:cNvSpPr>
            <a:spLocks noGrp="1"/>
          </p:cNvSpPr>
          <p:nvPr>
            <p:ph type="sldNum" sz="quarter" idx="12"/>
          </p:nvPr>
        </p:nvSpPr>
        <p:spPr/>
        <p:txBody>
          <a:bodyPr/>
          <a:lstStyle/>
          <a:p>
            <a:fld id="{B19B0651-EE4F-4900-A07F-96A6BFA9D0F0}" type="slidenum">
              <a:rPr lang="ru-RU" smtClean="0"/>
              <a:pPr/>
              <a:t>12</a:t>
            </a:fld>
            <a:endParaRPr lang="ru-RU" dirty="0"/>
          </a:p>
        </p:txBody>
      </p:sp>
      <mc:AlternateContent xmlns:mc="http://schemas.openxmlformats.org/markup-compatibility/2006" xmlns:a14="http://schemas.microsoft.com/office/drawing/2010/main">
        <mc:Choice Requires="a14">
          <p:sp>
            <p:nvSpPr>
              <p:cNvPr id="4" name="Объект 3">
                <a:extLst>
                  <a:ext uri="{FF2B5EF4-FFF2-40B4-BE49-F238E27FC236}">
                    <a16:creationId xmlns:a16="http://schemas.microsoft.com/office/drawing/2014/main" id="{C1753A58-D19A-0FC9-F845-816DACD54D81}"/>
                  </a:ext>
                </a:extLst>
              </p:cNvPr>
              <p:cNvSpPr>
                <a:spLocks noGrp="1"/>
              </p:cNvSpPr>
              <p:nvPr>
                <p:ph sz="quarter" idx="1"/>
              </p:nvPr>
            </p:nvSpPr>
            <p:spPr>
              <a:xfrm>
                <a:off x="624102" y="1219200"/>
                <a:ext cx="5765174" cy="5137150"/>
              </a:xfrm>
            </p:spPr>
            <p:txBody>
              <a:bodyPr>
                <a:noAutofit/>
              </a:bodyPr>
              <a:lstStyle/>
              <a:p>
                <a:r>
                  <a:rPr lang="ru-RU" sz="1700" b="1" dirty="0"/>
                  <a:t>Исходные данные:</a:t>
                </a:r>
                <a:endParaRPr lang="ru-RU" sz="1700" dirty="0"/>
              </a:p>
              <a:p>
                <a:pPr marL="0" indent="0">
                  <a:buNone/>
                </a:pPr>
                <a:r>
                  <a:rPr lang="ru-RU" sz="1700" dirty="0"/>
                  <a:t>	Вектор SNP: </a:t>
                </a:r>
                <a14:m>
                  <m:oMath xmlns:m="http://schemas.openxmlformats.org/officeDocument/2006/math">
                    <m:sSub>
                      <m:sSubPr>
                        <m:ctrlPr>
                          <a:rPr lang="ru-RU" sz="1700" i="1">
                            <a:latin typeface="Cambria Math" panose="02040503050406030204" pitchFamily="18" charset="0"/>
                          </a:rPr>
                        </m:ctrlPr>
                      </m:sSubPr>
                      <m:e>
                        <m:r>
                          <m:rPr>
                            <m:sty m:val="p"/>
                          </m:rPr>
                          <a:rPr lang="ru-RU" sz="1700" i="1">
                            <a:latin typeface="Cambria Math" panose="02040503050406030204" pitchFamily="18" charset="0"/>
                          </a:rPr>
                          <m:t>x</m:t>
                        </m:r>
                      </m:e>
                      <m:sub>
                        <m:r>
                          <a:rPr lang="ru-RU" sz="1700" i="1">
                            <a:latin typeface="Cambria Math" panose="02040503050406030204" pitchFamily="18" charset="0"/>
                          </a:rPr>
                          <m:t>𝑖</m:t>
                        </m:r>
                      </m:sub>
                    </m:sSub>
                    <m:r>
                      <a:rPr lang="ru-RU" sz="1700">
                        <a:latin typeface="Cambria Math" panose="02040503050406030204" pitchFamily="18" charset="0"/>
                      </a:rPr>
                      <m:t>=</m:t>
                    </m:r>
                    <m:sSup>
                      <m:sSupPr>
                        <m:ctrlPr>
                          <a:rPr lang="ru-RU" sz="1700" i="1">
                            <a:latin typeface="Cambria Math" panose="02040503050406030204" pitchFamily="18" charset="0"/>
                          </a:rPr>
                        </m:ctrlPr>
                      </m:sSupPr>
                      <m:e>
                        <m:r>
                          <a:rPr lang="ru-RU" sz="1700">
                            <a:latin typeface="Cambria Math" panose="02040503050406030204" pitchFamily="18" charset="0"/>
                          </a:rPr>
                          <m:t>(</m:t>
                        </m:r>
                        <m:sSub>
                          <m:sSubPr>
                            <m:ctrlPr>
                              <a:rPr lang="ru-RU" sz="1700" i="1">
                                <a:latin typeface="Cambria Math" panose="02040503050406030204" pitchFamily="18" charset="0"/>
                              </a:rPr>
                            </m:ctrlPr>
                          </m:sSubPr>
                          <m:e>
                            <m:r>
                              <a:rPr lang="ru-RU" sz="1700" i="1">
                                <a:latin typeface="Cambria Math" panose="02040503050406030204" pitchFamily="18" charset="0"/>
                              </a:rPr>
                              <m:t>𝑥</m:t>
                            </m:r>
                          </m:e>
                          <m:sub>
                            <m:r>
                              <a:rPr lang="ru-RU" sz="1700" i="1">
                                <a:latin typeface="Cambria Math" panose="02040503050406030204" pitchFamily="18" charset="0"/>
                              </a:rPr>
                              <m:t>𝑖</m:t>
                            </m:r>
                            <m:r>
                              <a:rPr lang="ru-RU" sz="1700">
                                <a:latin typeface="Cambria Math" panose="02040503050406030204" pitchFamily="18" charset="0"/>
                              </a:rPr>
                              <m:t>1</m:t>
                            </m:r>
                          </m:sub>
                        </m:sSub>
                        <m:r>
                          <a:rPr lang="en-US" sz="1700" i="1">
                            <a:latin typeface="Cambria Math" panose="02040503050406030204" pitchFamily="18" charset="0"/>
                          </a:rPr>
                          <m:t>,</m:t>
                        </m:r>
                        <m:sSub>
                          <m:sSubPr>
                            <m:ctrlPr>
                              <a:rPr lang="ru-RU" sz="1700" i="1">
                                <a:latin typeface="Cambria Math" panose="02040503050406030204" pitchFamily="18" charset="0"/>
                              </a:rPr>
                            </m:ctrlPr>
                          </m:sSubPr>
                          <m:e>
                            <m:r>
                              <a:rPr lang="ru-RU" sz="1700" i="1">
                                <a:latin typeface="Cambria Math" panose="02040503050406030204" pitchFamily="18" charset="0"/>
                              </a:rPr>
                              <m:t>𝑥</m:t>
                            </m:r>
                          </m:e>
                          <m:sub>
                            <m:r>
                              <a:rPr lang="ru-RU" sz="1700" i="1">
                                <a:latin typeface="Cambria Math" panose="02040503050406030204" pitchFamily="18" charset="0"/>
                              </a:rPr>
                              <m:t>𝑖</m:t>
                            </m:r>
                            <m:r>
                              <a:rPr lang="en-US" sz="1700">
                                <a:latin typeface="Cambria Math" panose="02040503050406030204" pitchFamily="18" charset="0"/>
                              </a:rPr>
                              <m:t>2</m:t>
                            </m:r>
                          </m:sub>
                        </m:sSub>
                        <m:r>
                          <a:rPr lang="en-US" sz="1700" i="1">
                            <a:latin typeface="Cambria Math" panose="02040503050406030204" pitchFamily="18" charset="0"/>
                          </a:rPr>
                          <m:t>,…, </m:t>
                        </m:r>
                        <m:sSub>
                          <m:sSubPr>
                            <m:ctrlPr>
                              <a:rPr lang="ru-RU" sz="1700" i="1">
                                <a:latin typeface="Cambria Math" panose="02040503050406030204" pitchFamily="18" charset="0"/>
                              </a:rPr>
                            </m:ctrlPr>
                          </m:sSubPr>
                          <m:e>
                            <m:r>
                              <a:rPr lang="ru-RU" sz="1700" i="1">
                                <a:latin typeface="Cambria Math" panose="02040503050406030204" pitchFamily="18" charset="0"/>
                              </a:rPr>
                              <m:t>𝑥</m:t>
                            </m:r>
                          </m:e>
                          <m:sub>
                            <m:r>
                              <a:rPr lang="ru-RU" sz="1700" i="1">
                                <a:latin typeface="Cambria Math" panose="02040503050406030204" pitchFamily="18" charset="0"/>
                              </a:rPr>
                              <m:t>𝑖</m:t>
                            </m:r>
                            <m:r>
                              <m:rPr>
                                <m:sty m:val="p"/>
                              </m:rPr>
                              <a:rPr lang="en-US" sz="1700">
                                <a:latin typeface="Cambria Math" panose="02040503050406030204" pitchFamily="18" charset="0"/>
                              </a:rPr>
                              <m:t>m</m:t>
                            </m:r>
                          </m:sub>
                        </m:sSub>
                        <m:r>
                          <a:rPr lang="ru-RU" sz="1700">
                            <a:latin typeface="Cambria Math" panose="02040503050406030204" pitchFamily="18" charset="0"/>
                          </a:rPr>
                          <m:t>)</m:t>
                        </m:r>
                      </m:e>
                      <m:sup>
                        <m:r>
                          <a:rPr lang="en-US" sz="1700" i="1">
                            <a:latin typeface="Cambria Math" panose="02040503050406030204" pitchFamily="18" charset="0"/>
                          </a:rPr>
                          <m:t>𝑇</m:t>
                        </m:r>
                      </m:sup>
                    </m:sSup>
                    <m:r>
                      <a:rPr lang="ru-RU" sz="1700">
                        <a:latin typeface="Cambria Math" panose="02040503050406030204" pitchFamily="18" charset="0"/>
                      </a:rPr>
                      <m:t>, </m:t>
                    </m:r>
                    <m:r>
                      <a:rPr lang="ru-RU" sz="1700" b="0" i="0" smtClean="0">
                        <a:latin typeface="Cambria Math" panose="02040503050406030204" pitchFamily="18" charset="0"/>
                      </a:rPr>
                      <m:t> </m:t>
                    </m:r>
                    <m:sSub>
                      <m:sSubPr>
                        <m:ctrlPr>
                          <a:rPr lang="ru-RU" sz="1700" i="1">
                            <a:latin typeface="Cambria Math" panose="02040503050406030204" pitchFamily="18" charset="0"/>
                          </a:rPr>
                        </m:ctrlPr>
                      </m:sSubPr>
                      <m:e>
                        <m:r>
                          <a:rPr lang="ru-RU" sz="1700" i="1">
                            <a:latin typeface="Cambria Math" panose="02040503050406030204" pitchFamily="18" charset="0"/>
                          </a:rPr>
                          <m:t>𝑥</m:t>
                        </m:r>
                      </m:e>
                      <m:sub>
                        <m:r>
                          <a:rPr lang="ru-RU" sz="1700" i="1">
                            <a:latin typeface="Cambria Math" panose="02040503050406030204" pitchFamily="18" charset="0"/>
                          </a:rPr>
                          <m:t>𝑖𝑗</m:t>
                        </m:r>
                      </m:sub>
                    </m:sSub>
                    <m:r>
                      <a:rPr lang="ru-RU" sz="1700">
                        <a:latin typeface="Cambria Math" panose="02040503050406030204" pitchFamily="18" charset="0"/>
                      </a:rPr>
                      <m:t>∈</m:t>
                    </m:r>
                    <m:r>
                      <a:rPr lang="en-US" sz="1700">
                        <a:latin typeface="Cambria Math" panose="02040503050406030204" pitchFamily="18" charset="0"/>
                      </a:rPr>
                      <m:t>{0,1,2}</m:t>
                    </m:r>
                  </m:oMath>
                </a14:m>
                <a:endParaRPr lang="ru-RU" sz="1700" dirty="0"/>
              </a:p>
              <a:p>
                <a:r>
                  <a:rPr lang="ru-RU" sz="1700" b="1" dirty="0"/>
                  <a:t>Шаг 1. Частотное кодирование (нормализация):                                                       		</a:t>
                </a:r>
                <a14:m>
                  <m:oMath xmlns:m="http://schemas.openxmlformats.org/officeDocument/2006/math">
                    <m:sSubSup>
                      <m:sSubSupPr>
                        <m:ctrlPr>
                          <a:rPr lang="ru-RU" sz="1700" i="1" smtClean="0">
                            <a:latin typeface="Cambria Math" panose="02040503050406030204" pitchFamily="18" charset="0"/>
                          </a:rPr>
                        </m:ctrlPr>
                      </m:sSubSupPr>
                      <m:e>
                        <m:r>
                          <a:rPr lang="ru-RU" sz="1700" i="1">
                            <a:latin typeface="Cambria Math" panose="02040503050406030204" pitchFamily="18" charset="0"/>
                          </a:rPr>
                          <m:t>𝑥</m:t>
                        </m:r>
                      </m:e>
                      <m:sub>
                        <m:r>
                          <a:rPr lang="ru-RU" sz="1700" i="1">
                            <a:latin typeface="Cambria Math" panose="02040503050406030204" pitchFamily="18" charset="0"/>
                          </a:rPr>
                          <m:t>𝑖𝑗</m:t>
                        </m:r>
                      </m:sub>
                      <m:sup>
                        <m:r>
                          <a:rPr lang="ru-RU" sz="1700">
                            <a:latin typeface="Cambria Math" panose="02040503050406030204" pitchFamily="18" charset="0"/>
                          </a:rPr>
                          <m:t>′</m:t>
                        </m:r>
                      </m:sup>
                    </m:sSubSup>
                    <m:r>
                      <a:rPr lang="ru-RU" sz="1700">
                        <a:latin typeface="Cambria Math" panose="02040503050406030204" pitchFamily="18" charset="0"/>
                      </a:rPr>
                      <m:t>=</m:t>
                    </m:r>
                    <m:f>
                      <m:fPr>
                        <m:ctrlPr>
                          <a:rPr lang="ru-RU" sz="1700" i="1">
                            <a:latin typeface="Cambria Math" panose="02040503050406030204" pitchFamily="18" charset="0"/>
                          </a:rPr>
                        </m:ctrlPr>
                      </m:fPr>
                      <m:num>
                        <m:sSub>
                          <m:sSubPr>
                            <m:ctrlPr>
                              <a:rPr lang="ru-RU" sz="1700" i="1">
                                <a:latin typeface="Cambria Math" panose="02040503050406030204" pitchFamily="18" charset="0"/>
                              </a:rPr>
                            </m:ctrlPr>
                          </m:sSubPr>
                          <m:e>
                            <m:r>
                              <a:rPr lang="ru-RU" sz="1700" i="1">
                                <a:latin typeface="Cambria Math" panose="02040503050406030204" pitchFamily="18" charset="0"/>
                              </a:rPr>
                              <m:t>𝑛</m:t>
                            </m:r>
                          </m:e>
                          <m:sub>
                            <m:r>
                              <a:rPr lang="ru-RU" sz="1700" i="1">
                                <a:latin typeface="Cambria Math" panose="02040503050406030204" pitchFamily="18" charset="0"/>
                              </a:rPr>
                              <m:t>𝑗</m:t>
                            </m:r>
                          </m:sub>
                        </m:sSub>
                        <m:d>
                          <m:dPr>
                            <m:ctrlPr>
                              <a:rPr lang="ru-RU" sz="1700" i="1">
                                <a:latin typeface="Cambria Math" panose="02040503050406030204" pitchFamily="18" charset="0"/>
                              </a:rPr>
                            </m:ctrlPr>
                          </m:dPr>
                          <m:e>
                            <m:sSub>
                              <m:sSubPr>
                                <m:ctrlPr>
                                  <a:rPr lang="ru-RU" sz="1700" i="1">
                                    <a:latin typeface="Cambria Math" panose="02040503050406030204" pitchFamily="18" charset="0"/>
                                  </a:rPr>
                                </m:ctrlPr>
                              </m:sSubPr>
                              <m:e>
                                <m:r>
                                  <a:rPr lang="ru-RU" sz="1700" i="1">
                                    <a:latin typeface="Cambria Math" panose="02040503050406030204" pitchFamily="18" charset="0"/>
                                  </a:rPr>
                                  <m:t>𝑥</m:t>
                                </m:r>
                              </m:e>
                              <m:sub>
                                <m:r>
                                  <a:rPr lang="ru-RU" sz="1700" i="1">
                                    <a:latin typeface="Cambria Math" panose="02040503050406030204" pitchFamily="18" charset="0"/>
                                  </a:rPr>
                                  <m:t>𝑖𝑗</m:t>
                                </m:r>
                              </m:sub>
                            </m:sSub>
                          </m:e>
                        </m:d>
                      </m:num>
                      <m:den>
                        <m:sSub>
                          <m:sSubPr>
                            <m:ctrlPr>
                              <a:rPr lang="ru-RU" sz="1700" i="1">
                                <a:latin typeface="Cambria Math" panose="02040503050406030204" pitchFamily="18" charset="0"/>
                              </a:rPr>
                            </m:ctrlPr>
                          </m:sSubPr>
                          <m:e>
                            <m:r>
                              <a:rPr lang="ru-RU" sz="1700" i="1">
                                <a:latin typeface="Cambria Math" panose="02040503050406030204" pitchFamily="18" charset="0"/>
                              </a:rPr>
                              <m:t>𝑁</m:t>
                            </m:r>
                          </m:e>
                          <m:sub>
                            <m:r>
                              <m:rPr>
                                <m:nor/>
                              </m:rPr>
                              <a:rPr lang="ru-RU" sz="1700" i="1"/>
                              <m:t>train</m:t>
                            </m:r>
                          </m:sub>
                        </m:sSub>
                      </m:den>
                    </m:f>
                  </m:oMath>
                </a14:m>
                <a:r>
                  <a:rPr lang="ru-RU" sz="1700" b="0" dirty="0"/>
                  <a:t>,</a:t>
                </a:r>
                <a:r>
                  <a:rPr lang="ru-RU" sz="1700" dirty="0"/>
                  <a:t> где </a:t>
                </a:r>
                <a14:m>
                  <m:oMath xmlns:m="http://schemas.openxmlformats.org/officeDocument/2006/math">
                    <m:sSub>
                      <m:sSubPr>
                        <m:ctrlPr>
                          <a:rPr lang="ru-RU" sz="1700" i="1">
                            <a:latin typeface="Cambria Math" panose="02040503050406030204" pitchFamily="18" charset="0"/>
                          </a:rPr>
                        </m:ctrlPr>
                      </m:sSubPr>
                      <m:e>
                        <m:r>
                          <a:rPr lang="ru-RU" sz="1700" i="1">
                            <a:latin typeface="Cambria Math" panose="02040503050406030204" pitchFamily="18" charset="0"/>
                          </a:rPr>
                          <m:t>𝑛</m:t>
                        </m:r>
                      </m:e>
                      <m:sub>
                        <m:r>
                          <a:rPr lang="ru-RU" sz="1700" i="1">
                            <a:latin typeface="Cambria Math" panose="02040503050406030204" pitchFamily="18" charset="0"/>
                          </a:rPr>
                          <m:t>𝑗</m:t>
                        </m:r>
                      </m:sub>
                    </m:sSub>
                    <m:d>
                      <m:dPr>
                        <m:ctrlPr>
                          <a:rPr lang="ru-RU" sz="1700" i="1">
                            <a:latin typeface="Cambria Math" panose="02040503050406030204" pitchFamily="18" charset="0"/>
                          </a:rPr>
                        </m:ctrlPr>
                      </m:dPr>
                      <m:e>
                        <m:sSub>
                          <m:sSubPr>
                            <m:ctrlPr>
                              <a:rPr lang="ru-RU" sz="1700" i="1">
                                <a:latin typeface="Cambria Math" panose="02040503050406030204" pitchFamily="18" charset="0"/>
                              </a:rPr>
                            </m:ctrlPr>
                          </m:sSubPr>
                          <m:e>
                            <m:r>
                              <a:rPr lang="ru-RU" sz="1700" i="1">
                                <a:latin typeface="Cambria Math" panose="02040503050406030204" pitchFamily="18" charset="0"/>
                              </a:rPr>
                              <m:t>𝑥</m:t>
                            </m:r>
                          </m:e>
                          <m:sub>
                            <m:r>
                              <a:rPr lang="ru-RU" sz="1700" i="1">
                                <a:latin typeface="Cambria Math" panose="02040503050406030204" pitchFamily="18" charset="0"/>
                              </a:rPr>
                              <m:t>𝑖𝑗</m:t>
                            </m:r>
                          </m:sub>
                        </m:sSub>
                      </m:e>
                    </m:d>
                    <m:r>
                      <a:rPr lang="ru-RU" sz="1700" b="0" i="0" smtClean="0">
                        <a:latin typeface="Cambria Math" panose="02040503050406030204" pitchFamily="18" charset="0"/>
                      </a:rPr>
                      <m:t>−</m:t>
                    </m:r>
                  </m:oMath>
                </a14:m>
                <a:r>
                  <a:rPr lang="ru-RU" sz="1700" dirty="0"/>
                  <a:t> количество образцов в обучающей выборке со значением </a:t>
                </a:r>
                <a14:m>
                  <m:oMath xmlns:m="http://schemas.openxmlformats.org/officeDocument/2006/math">
                    <m:sSub>
                      <m:sSubPr>
                        <m:ctrlPr>
                          <a:rPr lang="ru-RU" sz="1700" i="1">
                            <a:latin typeface="Cambria Math" panose="02040503050406030204" pitchFamily="18" charset="0"/>
                          </a:rPr>
                        </m:ctrlPr>
                      </m:sSubPr>
                      <m:e>
                        <m:r>
                          <a:rPr lang="ru-RU" sz="1700" i="1">
                            <a:latin typeface="Cambria Math" panose="02040503050406030204" pitchFamily="18" charset="0"/>
                          </a:rPr>
                          <m:t>𝑥</m:t>
                        </m:r>
                      </m:e>
                      <m:sub>
                        <m:r>
                          <a:rPr lang="ru-RU" sz="1700" i="1">
                            <a:latin typeface="Cambria Math" panose="02040503050406030204" pitchFamily="18" charset="0"/>
                          </a:rPr>
                          <m:t>𝑖𝑗</m:t>
                        </m:r>
                      </m:sub>
                    </m:sSub>
                    <m:r>
                      <a:rPr lang="ru-RU" sz="1700" i="1">
                        <a:latin typeface="Cambria Math" panose="02040503050406030204" pitchFamily="18" charset="0"/>
                      </a:rPr>
                      <m:t> </m:t>
                    </m:r>
                    <m:r>
                      <a:rPr lang="ru-RU" sz="1700" b="0" i="0" smtClean="0">
                        <a:latin typeface="Cambria Math" panose="02040503050406030204" pitchFamily="18" charset="0"/>
                      </a:rPr>
                      <m:t> </m:t>
                    </m:r>
                  </m:oMath>
                </a14:m>
                <a:r>
                  <a:rPr lang="ru-RU" sz="1700" dirty="0"/>
                  <a:t>для SNP j, 	</a:t>
                </a:r>
                <a14:m>
                  <m:oMath xmlns:m="http://schemas.openxmlformats.org/officeDocument/2006/math">
                    <m:sSub>
                      <m:sSubPr>
                        <m:ctrlPr>
                          <a:rPr lang="ru-RU" sz="1700" i="1">
                            <a:latin typeface="Cambria Math" panose="02040503050406030204" pitchFamily="18" charset="0"/>
                          </a:rPr>
                        </m:ctrlPr>
                      </m:sSubPr>
                      <m:e>
                        <m:r>
                          <a:rPr lang="ru-RU" sz="1700" i="1">
                            <a:latin typeface="Cambria Math" panose="02040503050406030204" pitchFamily="18" charset="0"/>
                          </a:rPr>
                          <m:t>𝑁</m:t>
                        </m:r>
                      </m:e>
                      <m:sub>
                        <m:r>
                          <m:rPr>
                            <m:nor/>
                          </m:rPr>
                          <a:rPr lang="ru-RU" sz="1700" i="1"/>
                          <m:t>train</m:t>
                        </m:r>
                      </m:sub>
                    </m:sSub>
                  </m:oMath>
                </a14:m>
                <a:r>
                  <a:rPr lang="ru-RU" sz="1700" dirty="0"/>
                  <a:t>— 	размер обучающей выборки.</a:t>
                </a:r>
              </a:p>
              <a:p>
                <a:r>
                  <a:rPr lang="ru-RU" sz="1700" b="1" dirty="0"/>
                  <a:t>Шаг 2. Группировка SNP по генам:</a:t>
                </a:r>
              </a:p>
              <a:p>
                <a:pPr lvl="1"/>
                <a:r>
                  <a:rPr lang="ru-RU" sz="1600" dirty="0"/>
                  <a:t>Используется таблица аннотации SNP → </a:t>
                </a:r>
                <a:r>
                  <a:rPr lang="ru-RU" sz="1600" dirty="0" err="1"/>
                  <a:t>Gene</a:t>
                </a:r>
                <a:r>
                  <a:rPr lang="ru-RU" sz="1600" dirty="0"/>
                  <a:t>.</a:t>
                </a:r>
              </a:p>
              <a:p>
                <a:pPr lvl="1"/>
                <a:r>
                  <a:rPr lang="ru-RU" sz="1600" dirty="0"/>
                  <a:t>Пример: ген X содержит SNP1=0.9, SNP2=0.45, SNP3=0.6 → вектор [0.9, 0.45, 0.6].</a:t>
                </a:r>
              </a:p>
              <a:p>
                <a:r>
                  <a:rPr lang="ru-RU" sz="1700" b="1" dirty="0"/>
                  <a:t>Шаг 3. Преобразование в </a:t>
                </a:r>
                <a:r>
                  <a:rPr lang="ru-RU" sz="1700" b="1" dirty="0" err="1"/>
                  <a:t>эмбеддинги</a:t>
                </a:r>
                <a:r>
                  <a:rPr lang="ru-RU" sz="1700" b="1" dirty="0"/>
                  <a:t>:</a:t>
                </a:r>
              </a:p>
              <a:p>
                <a:pPr lvl="1"/>
                <a:r>
                  <a:rPr lang="ru-RU" sz="1600" dirty="0"/>
                  <a:t>Каждый ген получает вектор размерности d.</a:t>
                </a:r>
              </a:p>
              <a:p>
                <a:pPr lvl="1"/>
                <a:r>
                  <a:rPr lang="ru-RU" sz="1600" dirty="0"/>
                  <a:t>SNP внутри гена агрегируются (механизмом внимания или свёрткой).</a:t>
                </a:r>
                <a:endParaRPr lang="ru-RU" sz="1600" dirty="0">
                  <a:effectLst/>
                </a:endParaRPr>
              </a:p>
              <a:p>
                <a:pPr marL="0" indent="0">
                  <a:buNone/>
                </a:pPr>
                <a:endParaRPr lang="ru-RU" sz="1700" dirty="0"/>
              </a:p>
            </p:txBody>
          </p:sp>
        </mc:Choice>
        <mc:Fallback xmlns="">
          <p:sp>
            <p:nvSpPr>
              <p:cNvPr id="4" name="Объект 3">
                <a:extLst>
                  <a:ext uri="{FF2B5EF4-FFF2-40B4-BE49-F238E27FC236}">
                    <a16:creationId xmlns:a16="http://schemas.microsoft.com/office/drawing/2014/main" id="{C1753A58-D19A-0FC9-F845-816DACD54D81}"/>
                  </a:ext>
                </a:extLst>
              </p:cNvPr>
              <p:cNvSpPr>
                <a:spLocks noGrp="1" noRot="1" noChangeAspect="1" noMove="1" noResize="1" noEditPoints="1" noAdjustHandles="1" noChangeArrowheads="1" noChangeShapeType="1" noTextEdit="1"/>
              </p:cNvSpPr>
              <p:nvPr>
                <p:ph sz="quarter" idx="1"/>
              </p:nvPr>
            </p:nvSpPr>
            <p:spPr>
              <a:xfrm>
                <a:off x="624102" y="1219200"/>
                <a:ext cx="5765174" cy="5137150"/>
              </a:xfrm>
              <a:blipFill>
                <a:blip r:embed="rId2"/>
                <a:stretch>
                  <a:fillRect l="-106" t="-356"/>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5" name="Объект 4">
                <a:extLst>
                  <a:ext uri="{FF2B5EF4-FFF2-40B4-BE49-F238E27FC236}">
                    <a16:creationId xmlns:a16="http://schemas.microsoft.com/office/drawing/2014/main" id="{CDE884AE-8B07-6F88-5BD7-89E0DE4B9969}"/>
                  </a:ext>
                </a:extLst>
              </p:cNvPr>
              <p:cNvSpPr>
                <a:spLocks noGrp="1"/>
              </p:cNvSpPr>
              <p:nvPr>
                <p:ph sz="quarter" idx="2"/>
              </p:nvPr>
            </p:nvSpPr>
            <p:spPr>
              <a:xfrm>
                <a:off x="6240016" y="1143000"/>
                <a:ext cx="5765174" cy="5137150"/>
              </a:xfrm>
            </p:spPr>
            <p:txBody>
              <a:bodyPr>
                <a:noAutofit/>
              </a:bodyPr>
              <a:lstStyle/>
              <a:p>
                <a:r>
                  <a:rPr lang="ru-RU" sz="1600" b="1" dirty="0"/>
                  <a:t>3.1 Проекция каждого SNP в вектор</a:t>
                </a:r>
                <a:endParaRPr lang="ru-RU" sz="1600" dirty="0"/>
              </a:p>
              <a:p>
                <a:pPr lvl="1"/>
                <a14:m>
                  <m:oMath xmlns:m="http://schemas.openxmlformats.org/officeDocument/2006/math">
                    <m:sSub>
                      <m:sSubPr>
                        <m:ctrlPr>
                          <a:rPr lang="ru-RU" sz="1600" i="1">
                            <a:latin typeface="Cambria Math" panose="02040503050406030204" pitchFamily="18" charset="0"/>
                          </a:rPr>
                        </m:ctrlPr>
                      </m:sSubPr>
                      <m:e>
                        <m:r>
                          <a:rPr lang="ru-RU" sz="1600" i="1">
                            <a:latin typeface="Cambria Math" panose="02040503050406030204" pitchFamily="18" charset="0"/>
                          </a:rPr>
                          <m:t>h</m:t>
                        </m:r>
                      </m:e>
                      <m:sub>
                        <m:r>
                          <a:rPr lang="ru-RU" sz="1600" i="1">
                            <a:latin typeface="Cambria Math" panose="02040503050406030204" pitchFamily="18" charset="0"/>
                          </a:rPr>
                          <m:t>𝑠</m:t>
                        </m:r>
                      </m:sub>
                    </m:sSub>
                    <m:r>
                      <a:rPr lang="ru-RU" sz="1600">
                        <a:latin typeface="Cambria Math" panose="02040503050406030204" pitchFamily="18" charset="0"/>
                      </a:rPr>
                      <m:t>=</m:t>
                    </m:r>
                    <m:sSub>
                      <m:sSubPr>
                        <m:ctrlPr>
                          <a:rPr lang="ru-RU" sz="1600" i="1">
                            <a:latin typeface="Cambria Math" panose="02040503050406030204" pitchFamily="18" charset="0"/>
                          </a:rPr>
                        </m:ctrlPr>
                      </m:sSubPr>
                      <m:e>
                        <m:r>
                          <a:rPr lang="ru-RU" sz="1600" i="1">
                            <a:latin typeface="Cambria Math" panose="02040503050406030204" pitchFamily="18" charset="0"/>
                          </a:rPr>
                          <m:t>𝑥</m:t>
                        </m:r>
                      </m:e>
                      <m:sub>
                        <m:r>
                          <a:rPr lang="ru-RU" sz="1600" i="1">
                            <a:latin typeface="Cambria Math" panose="02040503050406030204" pitchFamily="18" charset="0"/>
                          </a:rPr>
                          <m:t>𝑠</m:t>
                        </m:r>
                      </m:sub>
                    </m:sSub>
                    <m:r>
                      <a:rPr lang="ru-RU" sz="1600">
                        <a:latin typeface="Cambria Math" panose="02040503050406030204" pitchFamily="18" charset="0"/>
                      </a:rPr>
                      <m:t>⋅</m:t>
                    </m:r>
                    <m:sSub>
                      <m:sSubPr>
                        <m:ctrlPr>
                          <a:rPr lang="ru-RU" sz="1600" i="1">
                            <a:latin typeface="Cambria Math" panose="02040503050406030204" pitchFamily="18" charset="0"/>
                          </a:rPr>
                        </m:ctrlPr>
                      </m:sSubPr>
                      <m:e>
                        <m:r>
                          <a:rPr lang="ru-RU" sz="1600" i="1">
                            <a:latin typeface="Cambria Math" panose="02040503050406030204" pitchFamily="18" charset="0"/>
                          </a:rPr>
                          <m:t>𝑤</m:t>
                        </m:r>
                      </m:e>
                      <m:sub>
                        <m:r>
                          <m:rPr>
                            <m:nor/>
                          </m:rPr>
                          <a:rPr lang="ru-RU" sz="1600" i="1"/>
                          <m:t>snp</m:t>
                        </m:r>
                      </m:sub>
                    </m:sSub>
                    <m:r>
                      <a:rPr lang="ru-RU" sz="1600">
                        <a:latin typeface="Cambria Math" panose="02040503050406030204" pitchFamily="18" charset="0"/>
                      </a:rPr>
                      <m:t>, </m:t>
                    </m:r>
                    <m:sSub>
                      <m:sSubPr>
                        <m:ctrlPr>
                          <a:rPr lang="ru-RU" sz="1600" i="1">
                            <a:latin typeface="Cambria Math" panose="02040503050406030204" pitchFamily="18" charset="0"/>
                          </a:rPr>
                        </m:ctrlPr>
                      </m:sSubPr>
                      <m:e>
                        <m:r>
                          <a:rPr lang="ru-RU" sz="1600" i="1">
                            <a:latin typeface="Cambria Math" panose="02040503050406030204" pitchFamily="18" charset="0"/>
                          </a:rPr>
                          <m:t>𝑤</m:t>
                        </m:r>
                      </m:e>
                      <m:sub>
                        <m:r>
                          <m:rPr>
                            <m:nor/>
                          </m:rPr>
                          <a:rPr lang="ru-RU" sz="1600" i="1"/>
                          <m:t>snp</m:t>
                        </m:r>
                      </m:sub>
                    </m:sSub>
                    <m:r>
                      <a:rPr lang="ru-RU" sz="1600">
                        <a:latin typeface="Cambria Math" panose="02040503050406030204" pitchFamily="18" charset="0"/>
                      </a:rPr>
                      <m:t>∈</m:t>
                    </m:r>
                    <m:sSup>
                      <m:sSupPr>
                        <m:ctrlPr>
                          <a:rPr lang="ru-RU" sz="1600" i="1">
                            <a:latin typeface="Cambria Math" panose="02040503050406030204" pitchFamily="18" charset="0"/>
                          </a:rPr>
                        </m:ctrlPr>
                      </m:sSupPr>
                      <m:e>
                        <m:r>
                          <a:rPr lang="ru-RU" sz="1600">
                            <a:latin typeface="Cambria Math" panose="02040503050406030204" pitchFamily="18" charset="0"/>
                          </a:rPr>
                          <m:t>ℝ</m:t>
                        </m:r>
                      </m:e>
                      <m:sup>
                        <m:r>
                          <a:rPr lang="ru-RU" sz="1600" i="1">
                            <a:latin typeface="Cambria Math" panose="02040503050406030204" pitchFamily="18" charset="0"/>
                          </a:rPr>
                          <m:t>𝑑</m:t>
                        </m:r>
                      </m:sup>
                    </m:sSup>
                    <m:r>
                      <a:rPr lang="en-US" sz="1600" b="0" i="0" smtClean="0">
                        <a:latin typeface="Cambria Math" panose="02040503050406030204" pitchFamily="18" charset="0"/>
                      </a:rPr>
                      <m:t>,  </m:t>
                    </m:r>
                    <m:r>
                      <a:rPr lang="ru-RU" sz="1600" b="0" i="0" smtClean="0">
                        <a:latin typeface="Cambria Math" panose="02040503050406030204" pitchFamily="18" charset="0"/>
                      </a:rPr>
                      <m:t>г</m:t>
                    </m:r>
                    <m:r>
                      <a:rPr lang="ru-RU" sz="1600" b="0" i="1" smtClean="0">
                        <a:latin typeface="Cambria Math" panose="02040503050406030204" pitchFamily="18" charset="0"/>
                      </a:rPr>
                      <m:t>де </m:t>
                    </m:r>
                    <m:sSub>
                      <m:sSubPr>
                        <m:ctrlPr>
                          <a:rPr lang="ru-RU" sz="1600" i="1">
                            <a:latin typeface="Cambria Math" panose="02040503050406030204" pitchFamily="18" charset="0"/>
                          </a:rPr>
                        </m:ctrlPr>
                      </m:sSubPr>
                      <m:e>
                        <m:r>
                          <a:rPr lang="ru-RU" sz="1600" i="1">
                            <a:latin typeface="Cambria Math" panose="02040503050406030204" pitchFamily="18" charset="0"/>
                          </a:rPr>
                          <m:t>𝑥</m:t>
                        </m:r>
                      </m:e>
                      <m:sub>
                        <m:r>
                          <a:rPr lang="ru-RU" sz="1600" i="1">
                            <a:latin typeface="Cambria Math" panose="02040503050406030204" pitchFamily="18" charset="0"/>
                          </a:rPr>
                          <m:t>𝑠</m:t>
                        </m:r>
                      </m:sub>
                    </m:sSub>
                  </m:oMath>
                </a14:m>
                <a:r>
                  <a:rPr lang="ru-RU" sz="1600" dirty="0"/>
                  <a:t> — значение SNP (число), </a:t>
                </a:r>
                <a14:m>
                  <m:oMath xmlns:m="http://schemas.openxmlformats.org/officeDocument/2006/math">
                    <m:sSub>
                      <m:sSubPr>
                        <m:ctrlPr>
                          <a:rPr lang="ru-RU" sz="1600" i="1" smtClean="0">
                            <a:latin typeface="Cambria Math" panose="02040503050406030204" pitchFamily="18" charset="0"/>
                          </a:rPr>
                        </m:ctrlPr>
                      </m:sSubPr>
                      <m:e>
                        <m:r>
                          <a:rPr lang="ru-RU" sz="1600" i="1">
                            <a:latin typeface="Cambria Math" panose="02040503050406030204" pitchFamily="18" charset="0"/>
                          </a:rPr>
                          <m:t>𝑤</m:t>
                        </m:r>
                      </m:e>
                      <m:sub>
                        <m:r>
                          <m:rPr>
                            <m:nor/>
                          </m:rPr>
                          <a:rPr lang="ru-RU" sz="1600" i="1"/>
                          <m:t>snp</m:t>
                        </m:r>
                      </m:sub>
                    </m:sSub>
                  </m:oMath>
                </a14:m>
                <a:r>
                  <a:rPr lang="ru-RU" sz="1600" dirty="0"/>
                  <a:t> — обучаемый вектор (общий для всех SNP)</a:t>
                </a:r>
              </a:p>
              <a:p>
                <a:r>
                  <a:rPr lang="ru-RU" sz="1600" b="1" dirty="0"/>
                  <a:t>3.2 Вычисление важности каждого SNP</a:t>
                </a:r>
                <a:endParaRPr lang="ru-RU" sz="1600" dirty="0"/>
              </a:p>
              <a:p>
                <a:pPr lvl="1"/>
                <a14:m>
                  <m:oMath xmlns:m="http://schemas.openxmlformats.org/officeDocument/2006/math">
                    <m:sSub>
                      <m:sSubPr>
                        <m:ctrlPr>
                          <a:rPr lang="ru-RU" sz="1600" i="1">
                            <a:latin typeface="Cambria Math" panose="02040503050406030204" pitchFamily="18" charset="0"/>
                          </a:rPr>
                        </m:ctrlPr>
                      </m:sSubPr>
                      <m:e>
                        <m:r>
                          <a:rPr lang="ru-RU" sz="1600" i="1">
                            <a:latin typeface="Cambria Math" panose="02040503050406030204" pitchFamily="18" charset="0"/>
                          </a:rPr>
                          <m:t>𝑒</m:t>
                        </m:r>
                      </m:e>
                      <m:sub>
                        <m:r>
                          <a:rPr lang="ru-RU" sz="1600" i="1">
                            <a:latin typeface="Cambria Math" panose="02040503050406030204" pitchFamily="18" charset="0"/>
                          </a:rPr>
                          <m:t>𝑠</m:t>
                        </m:r>
                      </m:sub>
                    </m:sSub>
                    <m:r>
                      <a:rPr lang="ru-RU" sz="1600">
                        <a:latin typeface="Cambria Math" panose="02040503050406030204" pitchFamily="18" charset="0"/>
                      </a:rPr>
                      <m:t>=</m:t>
                    </m:r>
                    <m:sSup>
                      <m:sSupPr>
                        <m:ctrlPr>
                          <a:rPr lang="ru-RU" sz="1600" i="1">
                            <a:latin typeface="Cambria Math" panose="02040503050406030204" pitchFamily="18" charset="0"/>
                          </a:rPr>
                        </m:ctrlPr>
                      </m:sSupPr>
                      <m:e>
                        <m:r>
                          <a:rPr lang="ru-RU" sz="1600" i="1">
                            <a:latin typeface="Cambria Math" panose="02040503050406030204" pitchFamily="18" charset="0"/>
                          </a:rPr>
                          <m:t>𝑎</m:t>
                        </m:r>
                      </m:e>
                      <m:sup>
                        <m:r>
                          <a:rPr lang="ru-RU" sz="1600">
                            <a:latin typeface="Cambria Math" panose="02040503050406030204" pitchFamily="18" charset="0"/>
                          </a:rPr>
                          <m:t>⊤</m:t>
                        </m:r>
                      </m:sup>
                    </m:sSup>
                    <m:sSub>
                      <m:sSubPr>
                        <m:ctrlPr>
                          <a:rPr lang="ru-RU" sz="1600" i="1">
                            <a:latin typeface="Cambria Math" panose="02040503050406030204" pitchFamily="18" charset="0"/>
                          </a:rPr>
                        </m:ctrlPr>
                      </m:sSubPr>
                      <m:e>
                        <m:r>
                          <a:rPr lang="ru-RU" sz="1600" i="1">
                            <a:latin typeface="Cambria Math" panose="02040503050406030204" pitchFamily="18" charset="0"/>
                          </a:rPr>
                          <m:t>h</m:t>
                        </m:r>
                      </m:e>
                      <m:sub>
                        <m:r>
                          <a:rPr lang="ru-RU" sz="1600" i="1">
                            <a:latin typeface="Cambria Math" panose="02040503050406030204" pitchFamily="18" charset="0"/>
                          </a:rPr>
                          <m:t>𝑠</m:t>
                        </m:r>
                      </m:sub>
                    </m:sSub>
                    <m:r>
                      <a:rPr lang="ru-RU" sz="1600">
                        <a:latin typeface="Cambria Math" panose="02040503050406030204" pitchFamily="18" charset="0"/>
                      </a:rPr>
                      <m:t>, </m:t>
                    </m:r>
                    <m:r>
                      <a:rPr lang="ru-RU" sz="1600" i="1">
                        <a:latin typeface="Cambria Math" panose="02040503050406030204" pitchFamily="18" charset="0"/>
                      </a:rPr>
                      <m:t>𝑎</m:t>
                    </m:r>
                    <m:r>
                      <a:rPr lang="ru-RU" sz="1600">
                        <a:latin typeface="Cambria Math" panose="02040503050406030204" pitchFamily="18" charset="0"/>
                      </a:rPr>
                      <m:t>∈</m:t>
                    </m:r>
                    <m:sSup>
                      <m:sSupPr>
                        <m:ctrlPr>
                          <a:rPr lang="ru-RU" sz="1600" i="1">
                            <a:latin typeface="Cambria Math" panose="02040503050406030204" pitchFamily="18" charset="0"/>
                          </a:rPr>
                        </m:ctrlPr>
                      </m:sSupPr>
                      <m:e>
                        <m:r>
                          <a:rPr lang="ru-RU" sz="1600">
                            <a:latin typeface="Cambria Math" panose="02040503050406030204" pitchFamily="18" charset="0"/>
                          </a:rPr>
                          <m:t>ℝ</m:t>
                        </m:r>
                      </m:e>
                      <m:sup>
                        <m:r>
                          <a:rPr lang="ru-RU" sz="1600" i="1">
                            <a:latin typeface="Cambria Math" panose="02040503050406030204" pitchFamily="18" charset="0"/>
                          </a:rPr>
                          <m:t>𝑑</m:t>
                        </m:r>
                      </m:sup>
                    </m:sSup>
                    <m:r>
                      <a:rPr lang="en-US" sz="1600" b="0" i="0" smtClean="0">
                        <a:latin typeface="Cambria Math" panose="02040503050406030204" pitchFamily="18" charset="0"/>
                      </a:rPr>
                      <m:t>, </m:t>
                    </m:r>
                    <m:r>
                      <a:rPr lang="ru-RU" sz="1600" b="0" i="0" smtClean="0">
                        <a:latin typeface="Cambria Math" panose="02040503050406030204" pitchFamily="18" charset="0"/>
                      </a:rPr>
                      <m:t>где </m:t>
                    </m:r>
                    <m:r>
                      <a:rPr lang="ru-RU" sz="1600" i="1">
                        <a:latin typeface="Cambria Math" panose="02040503050406030204" pitchFamily="18" charset="0"/>
                      </a:rPr>
                      <m:t>𝑎</m:t>
                    </m:r>
                  </m:oMath>
                </a14:m>
                <a:r>
                  <a:rPr lang="ru-RU" sz="1600" dirty="0"/>
                  <a:t> — обучаемый вектор внимания, </a:t>
                </a:r>
                <a14:m>
                  <m:oMath xmlns:m="http://schemas.openxmlformats.org/officeDocument/2006/math">
                    <m:sSub>
                      <m:sSubPr>
                        <m:ctrlPr>
                          <a:rPr lang="ru-RU" sz="1600" i="1">
                            <a:latin typeface="Cambria Math" panose="02040503050406030204" pitchFamily="18" charset="0"/>
                          </a:rPr>
                        </m:ctrlPr>
                      </m:sSubPr>
                      <m:e>
                        <m:r>
                          <a:rPr lang="ru-RU" sz="1600" i="1">
                            <a:latin typeface="Cambria Math" panose="02040503050406030204" pitchFamily="18" charset="0"/>
                          </a:rPr>
                          <m:t>𝑒</m:t>
                        </m:r>
                      </m:e>
                      <m:sub>
                        <m:r>
                          <a:rPr lang="ru-RU" sz="1600" i="1">
                            <a:latin typeface="Cambria Math" panose="02040503050406030204" pitchFamily="18" charset="0"/>
                          </a:rPr>
                          <m:t>𝑠</m:t>
                        </m:r>
                      </m:sub>
                    </m:sSub>
                  </m:oMath>
                </a14:m>
                <a:r>
                  <a:rPr lang="ru-RU" sz="1600" dirty="0"/>
                  <a:t> — сырая оценка важности</a:t>
                </a:r>
              </a:p>
              <a:p>
                <a:r>
                  <a:rPr lang="ru-RU" sz="1600" b="1" dirty="0"/>
                  <a:t>3.3 Нормировка (</a:t>
                </a:r>
                <a:r>
                  <a:rPr lang="ru-RU" sz="1600" b="1" dirty="0" err="1"/>
                  <a:t>softmax</a:t>
                </a:r>
                <a:r>
                  <a:rPr lang="ru-RU" sz="1600" b="1" dirty="0"/>
                  <a:t>)</a:t>
                </a:r>
                <a:endParaRPr lang="ru-RU" sz="1600" dirty="0"/>
              </a:p>
              <a:p>
                <a:pPr lvl="1"/>
                <a14:m>
                  <m:oMath xmlns:m="http://schemas.openxmlformats.org/officeDocument/2006/math">
                    <m:sSub>
                      <m:sSubPr>
                        <m:ctrlPr>
                          <a:rPr lang="ru-RU" sz="1600" i="1">
                            <a:latin typeface="Cambria Math" panose="02040503050406030204" pitchFamily="18" charset="0"/>
                          </a:rPr>
                        </m:ctrlPr>
                      </m:sSubPr>
                      <m:e>
                        <m:r>
                          <a:rPr lang="ru-RU" sz="1600" i="1">
                            <a:latin typeface="Cambria Math" panose="02040503050406030204" pitchFamily="18" charset="0"/>
                          </a:rPr>
                          <m:t>𝛼</m:t>
                        </m:r>
                      </m:e>
                      <m:sub>
                        <m:r>
                          <a:rPr lang="ru-RU" sz="1600" i="1">
                            <a:latin typeface="Cambria Math" panose="02040503050406030204" pitchFamily="18" charset="0"/>
                          </a:rPr>
                          <m:t>𝑠</m:t>
                        </m:r>
                      </m:sub>
                    </m:sSub>
                    <m:r>
                      <a:rPr lang="ru-RU" sz="1600">
                        <a:latin typeface="Cambria Math" panose="02040503050406030204" pitchFamily="18" charset="0"/>
                      </a:rPr>
                      <m:t>=</m:t>
                    </m:r>
                    <m:f>
                      <m:fPr>
                        <m:ctrlPr>
                          <a:rPr lang="ru-RU" sz="1600" i="1">
                            <a:latin typeface="Cambria Math" panose="02040503050406030204" pitchFamily="18" charset="0"/>
                          </a:rPr>
                        </m:ctrlPr>
                      </m:fPr>
                      <m:num>
                        <m:r>
                          <m:rPr>
                            <m:sty m:val="p"/>
                          </m:rPr>
                          <a:rPr lang="ru-RU" sz="1600">
                            <a:latin typeface="Cambria Math" panose="02040503050406030204" pitchFamily="18" charset="0"/>
                          </a:rPr>
                          <m:t>exp</m:t>
                        </m:r>
                        <m:r>
                          <a:rPr lang="ru-RU" sz="1600">
                            <a:latin typeface="Cambria Math" panose="02040503050406030204" pitchFamily="18" charset="0"/>
                          </a:rPr>
                          <m:t>⁡</m:t>
                        </m:r>
                        <m:d>
                          <m:dPr>
                            <m:ctrlPr>
                              <a:rPr lang="ru-RU" sz="1600" i="1">
                                <a:latin typeface="Cambria Math" panose="02040503050406030204" pitchFamily="18" charset="0"/>
                              </a:rPr>
                            </m:ctrlPr>
                          </m:dPr>
                          <m:e>
                            <m:sSub>
                              <m:sSubPr>
                                <m:ctrlPr>
                                  <a:rPr lang="ru-RU" sz="1600" i="1">
                                    <a:latin typeface="Cambria Math" panose="02040503050406030204" pitchFamily="18" charset="0"/>
                                  </a:rPr>
                                </m:ctrlPr>
                              </m:sSubPr>
                              <m:e>
                                <m:r>
                                  <a:rPr lang="ru-RU" sz="1600" i="1">
                                    <a:latin typeface="Cambria Math" panose="02040503050406030204" pitchFamily="18" charset="0"/>
                                  </a:rPr>
                                  <m:t>𝑒</m:t>
                                </m:r>
                              </m:e>
                              <m:sub>
                                <m:r>
                                  <a:rPr lang="ru-RU" sz="1600" i="1">
                                    <a:latin typeface="Cambria Math" panose="02040503050406030204" pitchFamily="18" charset="0"/>
                                  </a:rPr>
                                  <m:t>𝑠</m:t>
                                </m:r>
                              </m:sub>
                            </m:sSub>
                          </m:e>
                        </m:d>
                      </m:num>
                      <m:den>
                        <m:nary>
                          <m:naryPr>
                            <m:chr m:val="∑"/>
                            <m:grow m:val="on"/>
                            <m:supHide m:val="on"/>
                            <m:ctrlPr>
                              <a:rPr lang="ru-RU" sz="1600" i="1">
                                <a:latin typeface="Cambria Math" panose="02040503050406030204" pitchFamily="18" charset="0"/>
                              </a:rPr>
                            </m:ctrlPr>
                          </m:naryPr>
                          <m:sub>
                            <m:r>
                              <a:rPr lang="ru-RU" sz="1600" i="1">
                                <a:latin typeface="Cambria Math" panose="02040503050406030204" pitchFamily="18" charset="0"/>
                              </a:rPr>
                              <m:t>𝑘</m:t>
                            </m:r>
                            <m:r>
                              <a:rPr lang="ru-RU" sz="1600">
                                <a:latin typeface="Cambria Math" panose="02040503050406030204" pitchFamily="18" charset="0"/>
                              </a:rPr>
                              <m:t>∈</m:t>
                            </m:r>
                            <m:r>
                              <m:rPr>
                                <m:nor/>
                              </m:rPr>
                              <a:rPr lang="ru-RU" sz="1600" i="1"/>
                              <m:t>gen</m:t>
                            </m:r>
                          </m:sub>
                          <m:sup/>
                          <m:e>
                            <m:r>
                              <m:rPr>
                                <m:sty m:val="p"/>
                              </m:rPr>
                              <a:rPr lang="ru-RU" sz="1600">
                                <a:latin typeface="Cambria Math" panose="02040503050406030204" pitchFamily="18" charset="0"/>
                              </a:rPr>
                              <m:t>exp</m:t>
                            </m:r>
                          </m:e>
                        </m:nary>
                        <m:r>
                          <a:rPr lang="ru-RU" sz="1600">
                            <a:latin typeface="Cambria Math" panose="02040503050406030204" pitchFamily="18" charset="0"/>
                          </a:rPr>
                          <m:t>⁡</m:t>
                        </m:r>
                        <m:d>
                          <m:dPr>
                            <m:ctrlPr>
                              <a:rPr lang="ru-RU" sz="1600" i="1">
                                <a:latin typeface="Cambria Math" panose="02040503050406030204" pitchFamily="18" charset="0"/>
                              </a:rPr>
                            </m:ctrlPr>
                          </m:dPr>
                          <m:e>
                            <m:sSub>
                              <m:sSubPr>
                                <m:ctrlPr>
                                  <a:rPr lang="ru-RU" sz="1600" i="1">
                                    <a:latin typeface="Cambria Math" panose="02040503050406030204" pitchFamily="18" charset="0"/>
                                  </a:rPr>
                                </m:ctrlPr>
                              </m:sSubPr>
                              <m:e>
                                <m:r>
                                  <a:rPr lang="ru-RU" sz="1600" i="1">
                                    <a:latin typeface="Cambria Math" panose="02040503050406030204" pitchFamily="18" charset="0"/>
                                  </a:rPr>
                                  <m:t>𝑒</m:t>
                                </m:r>
                              </m:e>
                              <m:sub>
                                <m:r>
                                  <a:rPr lang="ru-RU" sz="1600" i="1">
                                    <a:latin typeface="Cambria Math" panose="02040503050406030204" pitchFamily="18" charset="0"/>
                                  </a:rPr>
                                  <m:t>𝑘</m:t>
                                </m:r>
                              </m:sub>
                            </m:sSub>
                          </m:e>
                        </m:d>
                      </m:den>
                    </m:f>
                    <m:r>
                      <a:rPr lang="ru-RU" sz="1600" b="0" i="0" smtClean="0">
                        <a:latin typeface="Cambria Math" panose="02040503050406030204" pitchFamily="18" charset="0"/>
                      </a:rPr>
                      <m:t>, где </m:t>
                    </m:r>
                    <m:sSub>
                      <m:sSubPr>
                        <m:ctrlPr>
                          <a:rPr lang="ru-RU" sz="1600" i="1">
                            <a:latin typeface="Cambria Math" panose="02040503050406030204" pitchFamily="18" charset="0"/>
                          </a:rPr>
                        </m:ctrlPr>
                      </m:sSubPr>
                      <m:e>
                        <m:r>
                          <a:rPr lang="ru-RU" sz="1600" i="1">
                            <a:latin typeface="Cambria Math" panose="02040503050406030204" pitchFamily="18" charset="0"/>
                          </a:rPr>
                          <m:t>𝛼</m:t>
                        </m:r>
                      </m:e>
                      <m:sub>
                        <m:r>
                          <a:rPr lang="ru-RU" sz="1600" i="1">
                            <a:latin typeface="Cambria Math" panose="02040503050406030204" pitchFamily="18" charset="0"/>
                          </a:rPr>
                          <m:t>𝑠</m:t>
                        </m:r>
                      </m:sub>
                    </m:sSub>
                  </m:oMath>
                </a14:m>
                <a:r>
                  <a:rPr lang="ru-RU" sz="1600" dirty="0"/>
                  <a:t> — итоговый вес SNP (сумма весов по гену = 1)</a:t>
                </a:r>
              </a:p>
              <a:p>
                <a:r>
                  <a:rPr lang="ru-RU" sz="1600" b="1" dirty="0"/>
                  <a:t>3.4 Взвешенная сумма</a:t>
                </a:r>
                <a:endParaRPr lang="ru-RU" sz="1600" dirty="0"/>
              </a:p>
              <a:p>
                <a:pPr lvl="1"/>
                <a14:m>
                  <m:oMath xmlns:m="http://schemas.openxmlformats.org/officeDocument/2006/math">
                    <m:sSub>
                      <m:sSubPr>
                        <m:ctrlPr>
                          <a:rPr lang="ru-RU" sz="1600" i="1">
                            <a:latin typeface="Cambria Math" panose="02040503050406030204" pitchFamily="18" charset="0"/>
                          </a:rPr>
                        </m:ctrlPr>
                      </m:sSubPr>
                      <m:e>
                        <m:r>
                          <a:rPr lang="ru-RU" sz="1600" i="1">
                            <a:latin typeface="Cambria Math" panose="02040503050406030204" pitchFamily="18" charset="0"/>
                          </a:rPr>
                          <m:t>𝑣</m:t>
                        </m:r>
                      </m:e>
                      <m:sub>
                        <m:r>
                          <m:rPr>
                            <m:nor/>
                          </m:rPr>
                          <a:rPr lang="ru-RU" sz="1600" i="1"/>
                          <m:t>ген</m:t>
                        </m:r>
                      </m:sub>
                    </m:sSub>
                    <m:r>
                      <a:rPr lang="ru-RU" sz="1600">
                        <a:latin typeface="Cambria Math" panose="02040503050406030204" pitchFamily="18" charset="0"/>
                      </a:rPr>
                      <m:t>=</m:t>
                    </m:r>
                    <m:nary>
                      <m:naryPr>
                        <m:chr m:val="∑"/>
                        <m:grow m:val="on"/>
                        <m:supHide m:val="on"/>
                        <m:ctrlPr>
                          <a:rPr lang="ru-RU" sz="1600" i="1">
                            <a:latin typeface="Cambria Math" panose="02040503050406030204" pitchFamily="18" charset="0"/>
                          </a:rPr>
                        </m:ctrlPr>
                      </m:naryPr>
                      <m:sub>
                        <m:r>
                          <a:rPr lang="ru-RU" sz="1600" i="1">
                            <a:latin typeface="Cambria Math" panose="02040503050406030204" pitchFamily="18" charset="0"/>
                          </a:rPr>
                          <m:t>𝑠</m:t>
                        </m:r>
                        <m:r>
                          <a:rPr lang="ru-RU" sz="1600">
                            <a:latin typeface="Cambria Math" panose="02040503050406030204" pitchFamily="18" charset="0"/>
                          </a:rPr>
                          <m:t>∈</m:t>
                        </m:r>
                        <m:r>
                          <m:rPr>
                            <m:nor/>
                          </m:rPr>
                          <a:rPr lang="ru-RU" sz="1600" i="1"/>
                          <m:t>ген</m:t>
                        </m:r>
                      </m:sub>
                      <m:sup/>
                      <m:e>
                        <m:sSub>
                          <m:sSubPr>
                            <m:ctrlPr>
                              <a:rPr lang="ru-RU" sz="1600" i="1">
                                <a:latin typeface="Cambria Math" panose="02040503050406030204" pitchFamily="18" charset="0"/>
                              </a:rPr>
                            </m:ctrlPr>
                          </m:sSubPr>
                          <m:e>
                            <m:r>
                              <a:rPr lang="ru-RU" sz="1600" i="1">
                                <a:latin typeface="Cambria Math" panose="02040503050406030204" pitchFamily="18" charset="0"/>
                              </a:rPr>
                              <m:t>𝛼</m:t>
                            </m:r>
                          </m:e>
                          <m:sub>
                            <m:r>
                              <a:rPr lang="ru-RU" sz="1600" i="1">
                                <a:latin typeface="Cambria Math" panose="02040503050406030204" pitchFamily="18" charset="0"/>
                              </a:rPr>
                              <m:t>𝑠</m:t>
                            </m:r>
                          </m:sub>
                        </m:sSub>
                      </m:e>
                    </m:nary>
                    <m:r>
                      <a:rPr lang="ru-RU" sz="1600">
                        <a:latin typeface="Cambria Math" panose="02040503050406030204" pitchFamily="18" charset="0"/>
                      </a:rPr>
                      <m:t>⋅</m:t>
                    </m:r>
                    <m:sSub>
                      <m:sSubPr>
                        <m:ctrlPr>
                          <a:rPr lang="ru-RU" sz="1600" i="1">
                            <a:latin typeface="Cambria Math" panose="02040503050406030204" pitchFamily="18" charset="0"/>
                          </a:rPr>
                        </m:ctrlPr>
                      </m:sSubPr>
                      <m:e>
                        <m:r>
                          <a:rPr lang="ru-RU" sz="1600" i="1">
                            <a:latin typeface="Cambria Math" panose="02040503050406030204" pitchFamily="18" charset="0"/>
                          </a:rPr>
                          <m:t>h</m:t>
                        </m:r>
                      </m:e>
                      <m:sub>
                        <m:r>
                          <a:rPr lang="ru-RU" sz="1600" i="1">
                            <a:latin typeface="Cambria Math" panose="02040503050406030204" pitchFamily="18" charset="0"/>
                          </a:rPr>
                          <m:t>𝑠</m:t>
                        </m:r>
                      </m:sub>
                    </m:sSub>
                  </m:oMath>
                </a14:m>
                <a:endParaRPr lang="ru-RU" sz="1600" dirty="0"/>
              </a:p>
              <a:p>
                <a:pPr lvl="1"/>
                <a14:m>
                  <m:oMath xmlns:m="http://schemas.openxmlformats.org/officeDocument/2006/math">
                    <m:sSub>
                      <m:sSubPr>
                        <m:ctrlPr>
                          <a:rPr lang="ru-RU" sz="1600" i="1">
                            <a:latin typeface="Cambria Math" panose="02040503050406030204" pitchFamily="18" charset="0"/>
                          </a:rPr>
                        </m:ctrlPr>
                      </m:sSubPr>
                      <m:e>
                        <m:r>
                          <a:rPr lang="ru-RU" sz="1600" i="1">
                            <a:latin typeface="Cambria Math" panose="02040503050406030204" pitchFamily="18" charset="0"/>
                          </a:rPr>
                          <m:t>𝑣</m:t>
                        </m:r>
                      </m:e>
                      <m:sub>
                        <m:r>
                          <m:rPr>
                            <m:nor/>
                          </m:rPr>
                          <a:rPr lang="ru-RU" sz="1600" i="1"/>
                          <m:t>ген</m:t>
                        </m:r>
                      </m:sub>
                    </m:sSub>
                  </m:oMath>
                </a14:m>
                <a:r>
                  <a:rPr lang="ru-RU" sz="1600" dirty="0"/>
                  <a:t> — </a:t>
                </a:r>
                <a:r>
                  <a:rPr lang="ru-RU" sz="1600" dirty="0" err="1"/>
                  <a:t>эмбеддинг</a:t>
                </a:r>
                <a:r>
                  <a:rPr lang="ru-RU" sz="1600" dirty="0"/>
                  <a:t> гена (вектор длины </a:t>
                </a:r>
                <a14:m>
                  <m:oMath xmlns:m="http://schemas.openxmlformats.org/officeDocument/2006/math">
                    <m:r>
                      <a:rPr lang="ru-RU" sz="1600" i="1">
                        <a:latin typeface="Cambria Math" panose="02040503050406030204" pitchFamily="18" charset="0"/>
                      </a:rPr>
                      <m:t>𝑑</m:t>
                    </m:r>
                  </m:oMath>
                </a14:m>
                <a:r>
                  <a:rPr lang="ru-RU" sz="1600" dirty="0"/>
                  <a:t>)</a:t>
                </a:r>
              </a:p>
              <a:p>
                <a:pPr lvl="1"/>
                <a:endParaRPr lang="ru-RU" sz="1600" dirty="0"/>
              </a:p>
              <a:p>
                <a:r>
                  <a:rPr lang="ru-RU" sz="1700" b="1" dirty="0"/>
                  <a:t>Результат:</a:t>
                </a:r>
                <a:r>
                  <a:rPr lang="ru-RU" sz="1700" dirty="0"/>
                  <a:t> </a:t>
                </a:r>
                <a14:m>
                  <m:oMath xmlns:m="http://schemas.openxmlformats.org/officeDocument/2006/math">
                    <m:r>
                      <a:rPr lang="ru-RU" sz="1700" i="1">
                        <a:latin typeface="Cambria Math" panose="02040503050406030204" pitchFamily="18" charset="0"/>
                      </a:rPr>
                      <m:t>𝑋</m:t>
                    </m:r>
                    <m:r>
                      <a:rPr lang="ru-RU" sz="1700">
                        <a:latin typeface="Cambria Math" panose="02040503050406030204" pitchFamily="18" charset="0"/>
                      </a:rPr>
                      <m:t>∈</m:t>
                    </m:r>
                    <m:sSup>
                      <m:sSupPr>
                        <m:ctrlPr>
                          <a:rPr lang="ru-RU" sz="1700" i="1">
                            <a:latin typeface="Cambria Math" panose="02040503050406030204" pitchFamily="18" charset="0"/>
                          </a:rPr>
                        </m:ctrlPr>
                      </m:sSupPr>
                      <m:e>
                        <m:r>
                          <a:rPr lang="ru-RU" sz="1700">
                            <a:latin typeface="Cambria Math" panose="02040503050406030204" pitchFamily="18" charset="0"/>
                          </a:rPr>
                          <m:t>ℝ</m:t>
                        </m:r>
                      </m:e>
                      <m:sup>
                        <m:sSub>
                          <m:sSubPr>
                            <m:ctrlPr>
                              <a:rPr lang="ru-RU" sz="1700" i="1">
                                <a:latin typeface="Cambria Math" panose="02040503050406030204" pitchFamily="18" charset="0"/>
                              </a:rPr>
                            </m:ctrlPr>
                          </m:sSubPr>
                          <m:e>
                            <m:r>
                              <a:rPr lang="ru-RU" sz="1700" i="1">
                                <a:latin typeface="Cambria Math" panose="02040503050406030204" pitchFamily="18" charset="0"/>
                              </a:rPr>
                              <m:t>𝑁</m:t>
                            </m:r>
                          </m:e>
                          <m:sub>
                            <m:r>
                              <m:rPr>
                                <m:nor/>
                              </m:rPr>
                              <a:rPr lang="ru-RU" sz="1700" i="1"/>
                              <m:t>samples</m:t>
                            </m:r>
                          </m:sub>
                        </m:sSub>
                        <m:r>
                          <a:rPr lang="ru-RU" sz="1700">
                            <a:latin typeface="Cambria Math" panose="02040503050406030204" pitchFamily="18" charset="0"/>
                          </a:rPr>
                          <m:t>×</m:t>
                        </m:r>
                        <m:sSub>
                          <m:sSubPr>
                            <m:ctrlPr>
                              <a:rPr lang="ru-RU" sz="1700" i="1">
                                <a:latin typeface="Cambria Math" panose="02040503050406030204" pitchFamily="18" charset="0"/>
                              </a:rPr>
                            </m:ctrlPr>
                          </m:sSubPr>
                          <m:e>
                            <m:r>
                              <a:rPr lang="ru-RU" sz="1700" i="1">
                                <a:latin typeface="Cambria Math" panose="02040503050406030204" pitchFamily="18" charset="0"/>
                              </a:rPr>
                              <m:t>𝑁</m:t>
                            </m:r>
                          </m:e>
                          <m:sub>
                            <m:r>
                              <m:rPr>
                                <m:nor/>
                              </m:rPr>
                              <a:rPr lang="ru-RU" sz="1700" i="1"/>
                              <m:t>genes</m:t>
                            </m:r>
                          </m:sub>
                        </m:sSub>
                        <m:r>
                          <a:rPr lang="ru-RU" sz="1700">
                            <a:latin typeface="Cambria Math" panose="02040503050406030204" pitchFamily="18" charset="0"/>
                          </a:rPr>
                          <m:t>×</m:t>
                        </m:r>
                        <m:r>
                          <a:rPr lang="ru-RU" sz="1700" i="1">
                            <a:latin typeface="Cambria Math" panose="02040503050406030204" pitchFamily="18" charset="0"/>
                          </a:rPr>
                          <m:t>𝑑</m:t>
                        </m:r>
                      </m:sup>
                    </m:sSup>
                  </m:oMath>
                </a14:m>
                <a:endParaRPr lang="ru-RU" sz="1700" dirty="0"/>
              </a:p>
            </p:txBody>
          </p:sp>
        </mc:Choice>
        <mc:Fallback xmlns="">
          <p:sp>
            <p:nvSpPr>
              <p:cNvPr id="5" name="Объект 4">
                <a:extLst>
                  <a:ext uri="{FF2B5EF4-FFF2-40B4-BE49-F238E27FC236}">
                    <a16:creationId xmlns:a16="http://schemas.microsoft.com/office/drawing/2014/main" id="{CDE884AE-8B07-6F88-5BD7-89E0DE4B9969}"/>
                  </a:ext>
                </a:extLst>
              </p:cNvPr>
              <p:cNvSpPr>
                <a:spLocks noGrp="1" noRot="1" noChangeAspect="1" noMove="1" noResize="1" noEditPoints="1" noAdjustHandles="1" noChangeArrowheads="1" noChangeShapeType="1" noTextEdit="1"/>
              </p:cNvSpPr>
              <p:nvPr>
                <p:ph sz="quarter" idx="2"/>
              </p:nvPr>
            </p:nvSpPr>
            <p:spPr>
              <a:xfrm>
                <a:off x="6240016" y="1143000"/>
                <a:ext cx="5765174" cy="5137150"/>
              </a:xfrm>
              <a:blipFill>
                <a:blip r:embed="rId3"/>
                <a:stretch>
                  <a:fillRect l="-106" t="-475"/>
                </a:stretch>
              </a:blipFill>
            </p:spPr>
            <p:txBody>
              <a:bodyPr/>
              <a:lstStyle/>
              <a:p>
                <a:r>
                  <a:rPr lang="ru-RU">
                    <a:noFill/>
                  </a:rPr>
                  <a:t> </a:t>
                </a:r>
              </a:p>
            </p:txBody>
          </p:sp>
        </mc:Fallback>
      </mc:AlternateContent>
    </p:spTree>
    <p:extLst>
      <p:ext uri="{BB962C8B-B14F-4D97-AF65-F5344CB8AC3E}">
        <p14:creationId xmlns:p14="http://schemas.microsoft.com/office/powerpoint/2010/main" val="1903745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1A6E3DD-9CB5-6638-AD46-EB550CECD2B2}"/>
              </a:ext>
            </a:extLst>
          </p:cNvPr>
          <p:cNvSpPr>
            <a:spLocks noGrp="1"/>
          </p:cNvSpPr>
          <p:nvPr>
            <p:ph type="title"/>
          </p:nvPr>
        </p:nvSpPr>
        <p:spPr/>
        <p:txBody>
          <a:bodyPr>
            <a:normAutofit fontScale="90000"/>
          </a:bodyPr>
          <a:lstStyle/>
          <a:p>
            <a:r>
              <a:rPr lang="ru-RU" sz="3600" b="1" dirty="0"/>
              <a:t>Пример</a:t>
            </a:r>
            <a:br>
              <a:rPr lang="ru-RU" b="1" dirty="0"/>
            </a:br>
            <a:endParaRPr lang="ru-RU" b="1" dirty="0"/>
          </a:p>
        </p:txBody>
      </p:sp>
      <p:sp>
        <p:nvSpPr>
          <p:cNvPr id="3" name="Номер слайда 2">
            <a:extLst>
              <a:ext uri="{FF2B5EF4-FFF2-40B4-BE49-F238E27FC236}">
                <a16:creationId xmlns:a16="http://schemas.microsoft.com/office/drawing/2014/main" id="{E2D96803-F283-CDA0-CE0F-511C4CCB150A}"/>
              </a:ext>
            </a:extLst>
          </p:cNvPr>
          <p:cNvSpPr>
            <a:spLocks noGrp="1"/>
          </p:cNvSpPr>
          <p:nvPr>
            <p:ph type="sldNum" sz="quarter" idx="12"/>
          </p:nvPr>
        </p:nvSpPr>
        <p:spPr/>
        <p:txBody>
          <a:bodyPr/>
          <a:lstStyle/>
          <a:p>
            <a:fld id="{B19B0651-EE4F-4900-A07F-96A6BFA9D0F0}" type="slidenum">
              <a:rPr lang="ru-RU" smtClean="0"/>
              <a:pPr/>
              <a:t>13</a:t>
            </a:fld>
            <a:endParaRPr lang="ru-RU" dirty="0"/>
          </a:p>
        </p:txBody>
      </p:sp>
      <p:sp>
        <p:nvSpPr>
          <p:cNvPr id="13" name="Объект 12">
            <a:extLst>
              <a:ext uri="{FF2B5EF4-FFF2-40B4-BE49-F238E27FC236}">
                <a16:creationId xmlns:a16="http://schemas.microsoft.com/office/drawing/2014/main" id="{EDDC80B6-B900-CFB0-8A0B-7DB92FEA5B55}"/>
              </a:ext>
            </a:extLst>
          </p:cNvPr>
          <p:cNvSpPr>
            <a:spLocks noGrp="1"/>
          </p:cNvSpPr>
          <p:nvPr>
            <p:ph sz="quarter" idx="2"/>
          </p:nvPr>
        </p:nvSpPr>
        <p:spPr>
          <a:xfrm>
            <a:off x="263352" y="1268760"/>
            <a:ext cx="5388864" cy="4937760"/>
          </a:xfrm>
        </p:spPr>
        <p:txBody>
          <a:bodyPr>
            <a:normAutofit/>
          </a:bodyPr>
          <a:lstStyle/>
          <a:p>
            <a:r>
              <a:rPr lang="ru-RU" sz="2000" b="1" dirty="0"/>
              <a:t>Исходные данные (гипотетический ген X):</a:t>
            </a:r>
          </a:p>
        </p:txBody>
      </p:sp>
      <p:graphicFrame>
        <p:nvGraphicFramePr>
          <p:cNvPr id="21" name="Таблица 20">
            <a:extLst>
              <a:ext uri="{FF2B5EF4-FFF2-40B4-BE49-F238E27FC236}">
                <a16:creationId xmlns:a16="http://schemas.microsoft.com/office/drawing/2014/main" id="{547C5B11-9413-5DEB-1EBF-6E095C261F49}"/>
              </a:ext>
            </a:extLst>
          </p:cNvPr>
          <p:cNvGraphicFramePr>
            <a:graphicFrameLocks noGrp="1"/>
          </p:cNvGraphicFramePr>
          <p:nvPr>
            <p:extLst>
              <p:ext uri="{D42A27DB-BD31-4B8C-83A1-F6EECF244321}">
                <p14:modId xmlns:p14="http://schemas.microsoft.com/office/powerpoint/2010/main" val="718106892"/>
              </p:ext>
            </p:extLst>
          </p:nvPr>
        </p:nvGraphicFramePr>
        <p:xfrm>
          <a:off x="609600" y="1700808"/>
          <a:ext cx="6401720" cy="1112520"/>
        </p:xfrm>
        <a:graphic>
          <a:graphicData uri="http://schemas.openxmlformats.org/drawingml/2006/table">
            <a:tbl>
              <a:tblPr firstRow="1" bandRow="1">
                <a:tableStyleId>{5C22544A-7EE6-4342-B048-85BDC9FD1C3A}</a:tableStyleId>
              </a:tblPr>
              <a:tblGrid>
                <a:gridCol w="1353231">
                  <a:extLst>
                    <a:ext uri="{9D8B030D-6E8A-4147-A177-3AD203B41FA5}">
                      <a16:colId xmlns:a16="http://schemas.microsoft.com/office/drawing/2014/main" val="930332267"/>
                    </a:ext>
                  </a:extLst>
                </a:gridCol>
                <a:gridCol w="1644972">
                  <a:extLst>
                    <a:ext uri="{9D8B030D-6E8A-4147-A177-3AD203B41FA5}">
                      <a16:colId xmlns:a16="http://schemas.microsoft.com/office/drawing/2014/main" val="2265744944"/>
                    </a:ext>
                  </a:extLst>
                </a:gridCol>
                <a:gridCol w="3403517">
                  <a:extLst>
                    <a:ext uri="{9D8B030D-6E8A-4147-A177-3AD203B41FA5}">
                      <a16:colId xmlns:a16="http://schemas.microsoft.com/office/drawing/2014/main" val="692264758"/>
                    </a:ext>
                  </a:extLst>
                </a:gridCol>
              </a:tblGrid>
              <a:tr h="370840">
                <a:tc>
                  <a:txBody>
                    <a:bodyPr/>
                    <a:lstStyle/>
                    <a:p>
                      <a:r>
                        <a:rPr lang="ru-RU" sz="1800" dirty="0"/>
                        <a:t>Растение</a:t>
                      </a:r>
                      <a:endParaRPr lang="ru-RU" dirty="0"/>
                    </a:p>
                  </a:txBody>
                  <a:tcPr/>
                </a:tc>
                <a:tc>
                  <a:txBody>
                    <a:bodyPr/>
                    <a:lstStyle/>
                    <a:p>
                      <a:r>
                        <a:rPr lang="ru-RU" sz="1800" dirty="0"/>
                        <a:t>Участок ДНК</a:t>
                      </a:r>
                      <a:endParaRPr lang="ru-RU" dirty="0"/>
                    </a:p>
                  </a:txBody>
                  <a:tcPr/>
                </a:tc>
                <a:tc>
                  <a:txBody>
                    <a:bodyPr/>
                    <a:lstStyle/>
                    <a:p>
                      <a:r>
                        <a:rPr lang="ru-RU" sz="1800" dirty="0"/>
                        <a:t>Комментарий</a:t>
                      </a:r>
                      <a:endParaRPr lang="ru-RU" dirty="0"/>
                    </a:p>
                  </a:txBody>
                  <a:tcPr/>
                </a:tc>
                <a:extLst>
                  <a:ext uri="{0D108BD9-81ED-4DB2-BD59-A6C34878D82A}">
                    <a16:rowId xmlns:a16="http://schemas.microsoft.com/office/drawing/2014/main" val="2406653965"/>
                  </a:ext>
                </a:extLst>
              </a:tr>
              <a:tr h="370840">
                <a:tc>
                  <a:txBody>
                    <a:bodyPr/>
                    <a:lstStyle/>
                    <a:p>
                      <a:r>
                        <a:rPr lang="ru-RU" sz="1800" dirty="0"/>
                        <a:t>Растение 1</a:t>
                      </a:r>
                      <a:endParaRPr lang="ru-RU" dirty="0"/>
                    </a:p>
                  </a:txBody>
                  <a:tcPr/>
                </a:tc>
                <a:tc>
                  <a:txBody>
                    <a:bodyPr/>
                    <a:lstStyle/>
                    <a:p>
                      <a:r>
                        <a:rPr lang="ru-RU" sz="1800" dirty="0"/>
                        <a:t>AAGCCTA</a:t>
                      </a:r>
                      <a:endParaRPr lang="ru-RU" dirty="0"/>
                    </a:p>
                  </a:txBody>
                  <a:tcPr/>
                </a:tc>
                <a:tc>
                  <a:txBody>
                    <a:bodyPr/>
                    <a:lstStyle/>
                    <a:p>
                      <a:r>
                        <a:rPr lang="ru-RU" sz="1800" dirty="0"/>
                        <a:t>Исходная последовательность</a:t>
                      </a:r>
                      <a:endParaRPr lang="ru-RU" dirty="0"/>
                    </a:p>
                  </a:txBody>
                  <a:tcPr/>
                </a:tc>
                <a:extLst>
                  <a:ext uri="{0D108BD9-81ED-4DB2-BD59-A6C34878D82A}">
                    <a16:rowId xmlns:a16="http://schemas.microsoft.com/office/drawing/2014/main" val="1827456100"/>
                  </a:ext>
                </a:extLst>
              </a:tr>
              <a:tr h="370840">
                <a:tc>
                  <a:txBody>
                    <a:bodyPr/>
                    <a:lstStyle/>
                    <a:p>
                      <a:r>
                        <a:rPr lang="ru-RU" sz="1800" dirty="0"/>
                        <a:t>Растение 2</a:t>
                      </a:r>
                      <a:endParaRPr lang="ru-RU" dirty="0"/>
                    </a:p>
                  </a:txBody>
                  <a:tcPr/>
                </a:tc>
                <a:tc>
                  <a:txBody>
                    <a:bodyPr/>
                    <a:lstStyle/>
                    <a:p>
                      <a:r>
                        <a:rPr lang="ru-RU" sz="1800" dirty="0"/>
                        <a:t>AAGCTTA</a:t>
                      </a:r>
                      <a:endParaRPr lang="ru-RU" dirty="0"/>
                    </a:p>
                  </a:txBody>
                  <a:tcPr/>
                </a:tc>
                <a:tc>
                  <a:txBody>
                    <a:bodyPr/>
                    <a:lstStyle/>
                    <a:p>
                      <a:r>
                        <a:rPr lang="ru-RU" sz="1800" dirty="0"/>
                        <a:t>Отличается в позиции 5: C → T</a:t>
                      </a:r>
                      <a:endParaRPr lang="ru-RU" dirty="0"/>
                    </a:p>
                  </a:txBody>
                  <a:tcPr/>
                </a:tc>
                <a:extLst>
                  <a:ext uri="{0D108BD9-81ED-4DB2-BD59-A6C34878D82A}">
                    <a16:rowId xmlns:a16="http://schemas.microsoft.com/office/drawing/2014/main" val="3720610928"/>
                  </a:ext>
                </a:extLst>
              </a:tr>
            </a:tbl>
          </a:graphicData>
        </a:graphic>
      </p:graphicFrame>
      <p:sp>
        <p:nvSpPr>
          <p:cNvPr id="25" name="TextBox 24">
            <a:extLst>
              <a:ext uri="{FF2B5EF4-FFF2-40B4-BE49-F238E27FC236}">
                <a16:creationId xmlns:a16="http://schemas.microsoft.com/office/drawing/2014/main" id="{178159EC-42D1-0986-CA45-4D46E6360911}"/>
              </a:ext>
            </a:extLst>
          </p:cNvPr>
          <p:cNvSpPr txBox="1"/>
          <p:nvPr/>
        </p:nvSpPr>
        <p:spPr>
          <a:xfrm>
            <a:off x="609600" y="4480534"/>
            <a:ext cx="6619455" cy="646331"/>
          </a:xfrm>
          <a:prstGeom prst="rect">
            <a:avLst/>
          </a:prstGeom>
          <a:noFill/>
        </p:spPr>
        <p:txBody>
          <a:bodyPr wrap="square">
            <a:spAutoFit/>
          </a:bodyPr>
          <a:lstStyle/>
          <a:p>
            <a:r>
              <a:rPr lang="ru-RU" dirty="0"/>
              <a:t>Идея: Заменить код на частоту встречаемости этого генотипа в обучающей выборке.</a:t>
            </a:r>
          </a:p>
        </p:txBody>
      </p:sp>
      <p:graphicFrame>
        <p:nvGraphicFramePr>
          <p:cNvPr id="27" name="Таблица 26">
            <a:extLst>
              <a:ext uri="{FF2B5EF4-FFF2-40B4-BE49-F238E27FC236}">
                <a16:creationId xmlns:a16="http://schemas.microsoft.com/office/drawing/2014/main" id="{7DAAFE7D-3176-B347-2DE7-C0540DF64F3E}"/>
              </a:ext>
            </a:extLst>
          </p:cNvPr>
          <p:cNvGraphicFramePr>
            <a:graphicFrameLocks noGrp="1"/>
          </p:cNvGraphicFramePr>
          <p:nvPr>
            <p:extLst>
              <p:ext uri="{D42A27DB-BD31-4B8C-83A1-F6EECF244321}">
                <p14:modId xmlns:p14="http://schemas.microsoft.com/office/powerpoint/2010/main" val="643506576"/>
              </p:ext>
            </p:extLst>
          </p:nvPr>
        </p:nvGraphicFramePr>
        <p:xfrm>
          <a:off x="628673" y="2963158"/>
          <a:ext cx="5054284" cy="1381760"/>
        </p:xfrm>
        <a:graphic>
          <a:graphicData uri="http://schemas.openxmlformats.org/drawingml/2006/table">
            <a:tbl>
              <a:tblPr firstRow="1" bandRow="1">
                <a:tableStyleId>{5C22544A-7EE6-4342-B048-85BDC9FD1C3A}</a:tableStyleId>
              </a:tblPr>
              <a:tblGrid>
                <a:gridCol w="1399704">
                  <a:extLst>
                    <a:ext uri="{9D8B030D-6E8A-4147-A177-3AD203B41FA5}">
                      <a16:colId xmlns:a16="http://schemas.microsoft.com/office/drawing/2014/main" val="3131663252"/>
                    </a:ext>
                  </a:extLst>
                </a:gridCol>
                <a:gridCol w="1152128">
                  <a:extLst>
                    <a:ext uri="{9D8B030D-6E8A-4147-A177-3AD203B41FA5}">
                      <a16:colId xmlns:a16="http://schemas.microsoft.com/office/drawing/2014/main" val="924230881"/>
                    </a:ext>
                  </a:extLst>
                </a:gridCol>
                <a:gridCol w="792088">
                  <a:extLst>
                    <a:ext uri="{9D8B030D-6E8A-4147-A177-3AD203B41FA5}">
                      <a16:colId xmlns:a16="http://schemas.microsoft.com/office/drawing/2014/main" val="1500077045"/>
                    </a:ext>
                  </a:extLst>
                </a:gridCol>
                <a:gridCol w="1710364">
                  <a:extLst>
                    <a:ext uri="{9D8B030D-6E8A-4147-A177-3AD203B41FA5}">
                      <a16:colId xmlns:a16="http://schemas.microsoft.com/office/drawing/2014/main" val="3042809629"/>
                    </a:ext>
                  </a:extLst>
                </a:gridCol>
              </a:tblGrid>
              <a:tr h="370840">
                <a:tc>
                  <a:txBody>
                    <a:bodyPr/>
                    <a:lstStyle/>
                    <a:p>
                      <a:r>
                        <a:rPr lang="ru-RU" sz="1800" dirty="0"/>
                        <a:t>Растение</a:t>
                      </a:r>
                      <a:endParaRPr lang="ru-RU" dirty="0"/>
                    </a:p>
                  </a:txBody>
                  <a:tcPr/>
                </a:tc>
                <a:tc>
                  <a:txBody>
                    <a:bodyPr/>
                    <a:lstStyle/>
                    <a:p>
                      <a:r>
                        <a:rPr lang="ru-RU" sz="1800" dirty="0"/>
                        <a:t>Генотип</a:t>
                      </a:r>
                      <a:endParaRPr lang="ru-RU" dirty="0"/>
                    </a:p>
                  </a:txBody>
                  <a:tcPr/>
                </a:tc>
                <a:tc>
                  <a:txBody>
                    <a:bodyPr/>
                    <a:lstStyle/>
                    <a:p>
                      <a:r>
                        <a:rPr lang="ru-RU" sz="1800" dirty="0"/>
                        <a:t>Код ОНП</a:t>
                      </a:r>
                      <a:endParaRPr lang="ru-RU" dirty="0"/>
                    </a:p>
                  </a:txBody>
                  <a:tcPr/>
                </a:tc>
                <a:tc>
                  <a:txBody>
                    <a:bodyPr/>
                    <a:lstStyle/>
                    <a:p>
                      <a:r>
                        <a:rPr lang="ru-RU" dirty="0"/>
                        <a:t>Частотное кодирование</a:t>
                      </a:r>
                    </a:p>
                  </a:txBody>
                  <a:tcPr/>
                </a:tc>
                <a:extLst>
                  <a:ext uri="{0D108BD9-81ED-4DB2-BD59-A6C34878D82A}">
                    <a16:rowId xmlns:a16="http://schemas.microsoft.com/office/drawing/2014/main" val="3333461667"/>
                  </a:ext>
                </a:extLst>
              </a:tr>
              <a:tr h="370840">
                <a:tc>
                  <a:txBody>
                    <a:bodyPr/>
                    <a:lstStyle/>
                    <a:p>
                      <a:r>
                        <a:rPr lang="ru-RU" sz="1800" dirty="0"/>
                        <a:t>Растение 1</a:t>
                      </a:r>
                      <a:endParaRPr lang="ru-RU" dirty="0"/>
                    </a:p>
                  </a:txBody>
                  <a:tcPr/>
                </a:tc>
                <a:tc>
                  <a:txBody>
                    <a:bodyPr/>
                    <a:lstStyle/>
                    <a:p>
                      <a:r>
                        <a:rPr lang="en-US" sz="1800" dirty="0"/>
                        <a:t>CC</a:t>
                      </a:r>
                      <a:endParaRPr lang="ru-RU" dirty="0"/>
                    </a:p>
                  </a:txBody>
                  <a:tcPr/>
                </a:tc>
                <a:tc>
                  <a:txBody>
                    <a:bodyPr/>
                    <a:lstStyle/>
                    <a:p>
                      <a:r>
                        <a:rPr lang="ru-RU" sz="1800" dirty="0"/>
                        <a:t>0</a:t>
                      </a:r>
                      <a:endParaRPr lang="ru-RU" dirty="0"/>
                    </a:p>
                  </a:txBody>
                  <a:tcPr/>
                </a:tc>
                <a:tc>
                  <a:txBody>
                    <a:bodyPr/>
                    <a:lstStyle/>
                    <a:p>
                      <a:r>
                        <a:rPr lang="ru-RU" dirty="0"/>
                        <a:t>0.90</a:t>
                      </a:r>
                    </a:p>
                  </a:txBody>
                  <a:tcPr/>
                </a:tc>
                <a:extLst>
                  <a:ext uri="{0D108BD9-81ED-4DB2-BD59-A6C34878D82A}">
                    <a16:rowId xmlns:a16="http://schemas.microsoft.com/office/drawing/2014/main" val="2159410059"/>
                  </a:ext>
                </a:extLst>
              </a:tr>
              <a:tr h="370840">
                <a:tc>
                  <a:txBody>
                    <a:bodyPr/>
                    <a:lstStyle/>
                    <a:p>
                      <a:r>
                        <a:rPr lang="ru-RU" sz="1800" dirty="0"/>
                        <a:t>Растение 2</a:t>
                      </a:r>
                      <a:endParaRPr lang="ru-RU" dirty="0"/>
                    </a:p>
                  </a:txBody>
                  <a:tcPr/>
                </a:tc>
                <a:tc>
                  <a:txBody>
                    <a:bodyPr/>
                    <a:lstStyle/>
                    <a:p>
                      <a:r>
                        <a:rPr lang="en-US" sz="1800" dirty="0"/>
                        <a:t>TT</a:t>
                      </a:r>
                      <a:endParaRPr lang="ru-RU" dirty="0"/>
                    </a:p>
                  </a:txBody>
                  <a:tcPr/>
                </a:tc>
                <a:tc>
                  <a:txBody>
                    <a:bodyPr/>
                    <a:lstStyle/>
                    <a:p>
                      <a:r>
                        <a:rPr lang="ru-RU" sz="1800" dirty="0"/>
                        <a:t>2</a:t>
                      </a:r>
                      <a:endParaRPr lang="ru-RU" dirty="0"/>
                    </a:p>
                  </a:txBody>
                  <a:tcPr/>
                </a:tc>
                <a:tc>
                  <a:txBody>
                    <a:bodyPr/>
                    <a:lstStyle/>
                    <a:p>
                      <a:r>
                        <a:rPr lang="ru-RU" dirty="0"/>
                        <a:t>0.02</a:t>
                      </a:r>
                    </a:p>
                  </a:txBody>
                  <a:tcPr/>
                </a:tc>
                <a:extLst>
                  <a:ext uri="{0D108BD9-81ED-4DB2-BD59-A6C34878D82A}">
                    <a16:rowId xmlns:a16="http://schemas.microsoft.com/office/drawing/2014/main" val="4270087123"/>
                  </a:ext>
                </a:extLst>
              </a:tr>
            </a:tbl>
          </a:graphicData>
        </a:graphic>
      </p:graphicFrame>
      <p:graphicFrame>
        <p:nvGraphicFramePr>
          <p:cNvPr id="29" name="Таблица 28">
            <a:extLst>
              <a:ext uri="{FF2B5EF4-FFF2-40B4-BE49-F238E27FC236}">
                <a16:creationId xmlns:a16="http://schemas.microsoft.com/office/drawing/2014/main" id="{51E06827-FBF9-6922-25CB-87392E25F3FE}"/>
              </a:ext>
            </a:extLst>
          </p:cNvPr>
          <p:cNvGraphicFramePr>
            <a:graphicFrameLocks noGrp="1"/>
          </p:cNvGraphicFramePr>
          <p:nvPr>
            <p:extLst>
              <p:ext uri="{D42A27DB-BD31-4B8C-83A1-F6EECF244321}">
                <p14:modId xmlns:p14="http://schemas.microsoft.com/office/powerpoint/2010/main" val="2038620121"/>
              </p:ext>
            </p:extLst>
          </p:nvPr>
        </p:nvGraphicFramePr>
        <p:xfrm>
          <a:off x="669661" y="5268310"/>
          <a:ext cx="2936005" cy="1033780"/>
        </p:xfrm>
        <a:graphic>
          <a:graphicData uri="http://schemas.openxmlformats.org/drawingml/2006/table">
            <a:tbl>
              <a:tblPr firstRow="1" bandRow="1">
                <a:tableStyleId>{5C22544A-7EE6-4342-B048-85BDC9FD1C3A}</a:tableStyleId>
              </a:tblPr>
              <a:tblGrid>
                <a:gridCol w="823640">
                  <a:extLst>
                    <a:ext uri="{9D8B030D-6E8A-4147-A177-3AD203B41FA5}">
                      <a16:colId xmlns:a16="http://schemas.microsoft.com/office/drawing/2014/main" val="1722219185"/>
                    </a:ext>
                  </a:extLst>
                </a:gridCol>
                <a:gridCol w="720080">
                  <a:extLst>
                    <a:ext uri="{9D8B030D-6E8A-4147-A177-3AD203B41FA5}">
                      <a16:colId xmlns:a16="http://schemas.microsoft.com/office/drawing/2014/main" val="1912858943"/>
                    </a:ext>
                  </a:extLst>
                </a:gridCol>
                <a:gridCol w="720080">
                  <a:extLst>
                    <a:ext uri="{9D8B030D-6E8A-4147-A177-3AD203B41FA5}">
                      <a16:colId xmlns:a16="http://schemas.microsoft.com/office/drawing/2014/main" val="3466516217"/>
                    </a:ext>
                  </a:extLst>
                </a:gridCol>
                <a:gridCol w="672205">
                  <a:extLst>
                    <a:ext uri="{9D8B030D-6E8A-4147-A177-3AD203B41FA5}">
                      <a16:colId xmlns:a16="http://schemas.microsoft.com/office/drawing/2014/main" val="571799974"/>
                    </a:ext>
                  </a:extLst>
                </a:gridCol>
              </a:tblGrid>
              <a:tr h="0">
                <a:tc>
                  <a:txBody>
                    <a:bodyPr/>
                    <a:lstStyle/>
                    <a:p>
                      <a:r>
                        <a:rPr lang="ru-RU" sz="1800" dirty="0"/>
                        <a:t>Ген</a:t>
                      </a:r>
                      <a:endParaRPr lang="ru-RU" dirty="0"/>
                    </a:p>
                  </a:txBody>
                  <a:tcPr/>
                </a:tc>
                <a:tc>
                  <a:txBody>
                    <a:bodyPr/>
                    <a:lstStyle/>
                    <a:p>
                      <a:r>
                        <a:rPr lang="ru-RU" sz="1800" dirty="0"/>
                        <a:t>ОНП №1</a:t>
                      </a:r>
                      <a:endParaRPr lang="ru-RU" dirty="0"/>
                    </a:p>
                  </a:txBody>
                  <a:tcPr/>
                </a:tc>
                <a:tc>
                  <a:txBody>
                    <a:bodyPr/>
                    <a:lstStyle/>
                    <a:p>
                      <a:r>
                        <a:rPr lang="ru-RU" sz="1800" dirty="0"/>
                        <a:t>ОНП №2</a:t>
                      </a:r>
                      <a:endParaRPr lang="ru-RU" dirty="0"/>
                    </a:p>
                  </a:txBody>
                  <a:tcPr/>
                </a:tc>
                <a:tc>
                  <a:txBody>
                    <a:bodyPr/>
                    <a:lstStyle/>
                    <a:p>
                      <a:r>
                        <a:rPr lang="ru-RU" sz="1800" dirty="0"/>
                        <a:t>ОНП №3</a:t>
                      </a:r>
                      <a:endParaRPr lang="ru-RU" dirty="0"/>
                    </a:p>
                  </a:txBody>
                  <a:tcPr/>
                </a:tc>
                <a:extLst>
                  <a:ext uri="{0D108BD9-81ED-4DB2-BD59-A6C34878D82A}">
                    <a16:rowId xmlns:a16="http://schemas.microsoft.com/office/drawing/2014/main" val="3638009223"/>
                  </a:ext>
                </a:extLst>
              </a:tr>
              <a:tr h="370840">
                <a:tc>
                  <a:txBody>
                    <a:bodyPr/>
                    <a:lstStyle/>
                    <a:p>
                      <a:r>
                        <a:rPr lang="en-US" sz="1800" dirty="0"/>
                        <a:t>Gen_1</a:t>
                      </a:r>
                      <a:endParaRPr lang="ru-RU" dirty="0"/>
                    </a:p>
                  </a:txBody>
                  <a:tcPr/>
                </a:tc>
                <a:tc>
                  <a:txBody>
                    <a:bodyPr/>
                    <a:lstStyle/>
                    <a:p>
                      <a:pPr>
                        <a:lnSpc>
                          <a:spcPts val="1875"/>
                        </a:lnSpc>
                        <a:buNone/>
                      </a:pPr>
                      <a:r>
                        <a:rPr lang="ru-RU" b="0" dirty="0">
                          <a:effectLst/>
                          <a:latin typeface="+mn-lt"/>
                        </a:rPr>
                        <a:t>0.90</a:t>
                      </a:r>
                    </a:p>
                  </a:txBody>
                  <a:tcPr marL="121920" marR="121920" marT="76200" marB="76200" anchor="ctr"/>
                </a:tc>
                <a:tc>
                  <a:txBody>
                    <a:bodyPr/>
                    <a:lstStyle/>
                    <a:p>
                      <a:pPr>
                        <a:lnSpc>
                          <a:spcPts val="1875"/>
                        </a:lnSpc>
                        <a:buNone/>
                      </a:pPr>
                      <a:r>
                        <a:rPr lang="ru-RU" b="0" dirty="0">
                          <a:effectLst/>
                          <a:latin typeface="+mn-lt"/>
                        </a:rPr>
                        <a:t>0.45</a:t>
                      </a:r>
                    </a:p>
                  </a:txBody>
                  <a:tcPr marL="121920" marR="121920" marT="76200" marB="76200" anchor="ctr"/>
                </a:tc>
                <a:tc>
                  <a:txBody>
                    <a:bodyPr/>
                    <a:lstStyle/>
                    <a:p>
                      <a:pPr>
                        <a:lnSpc>
                          <a:spcPts val="1875"/>
                        </a:lnSpc>
                        <a:buNone/>
                      </a:pPr>
                      <a:r>
                        <a:rPr lang="ru-RU" b="0" dirty="0">
                          <a:effectLst/>
                          <a:latin typeface="+mn-lt"/>
                        </a:rPr>
                        <a:t>0.60</a:t>
                      </a:r>
                    </a:p>
                  </a:txBody>
                  <a:tcPr marL="121920" marT="76200" marB="76200" anchor="ctr"/>
                </a:tc>
                <a:extLst>
                  <a:ext uri="{0D108BD9-81ED-4DB2-BD59-A6C34878D82A}">
                    <a16:rowId xmlns:a16="http://schemas.microsoft.com/office/drawing/2014/main" val="430251458"/>
                  </a:ext>
                </a:extLst>
              </a:tr>
            </a:tbl>
          </a:graphicData>
        </a:graphic>
      </p:graphicFrame>
      <p:sp>
        <p:nvSpPr>
          <p:cNvPr id="33" name="TextBox 32">
            <a:extLst>
              <a:ext uri="{FF2B5EF4-FFF2-40B4-BE49-F238E27FC236}">
                <a16:creationId xmlns:a16="http://schemas.microsoft.com/office/drawing/2014/main" id="{BA83C5CA-FC86-B463-F1A9-801875792CC5}"/>
              </a:ext>
            </a:extLst>
          </p:cNvPr>
          <p:cNvSpPr txBox="1"/>
          <p:nvPr/>
        </p:nvSpPr>
        <p:spPr>
          <a:xfrm>
            <a:off x="3800302" y="5126865"/>
            <a:ext cx="3191241" cy="1477328"/>
          </a:xfrm>
          <a:prstGeom prst="rect">
            <a:avLst/>
          </a:prstGeom>
          <a:noFill/>
        </p:spPr>
        <p:txBody>
          <a:bodyPr wrap="square">
            <a:spAutoFit/>
          </a:bodyPr>
          <a:lstStyle/>
          <a:p>
            <a:r>
              <a:rPr lang="ru-RU" dirty="0"/>
              <a:t>Вектор ОНП для этого гена: [0.90, 0.45, 0.60]</a:t>
            </a:r>
            <a:r>
              <a:rPr lang="en-US" dirty="0"/>
              <a:t>. </a:t>
            </a:r>
            <a:r>
              <a:rPr lang="ru-RU" dirty="0"/>
              <a:t>Этот вектор подаётся на вход механизму агрегации</a:t>
            </a:r>
            <a:r>
              <a:rPr lang="en-US" dirty="0"/>
              <a:t>.</a:t>
            </a:r>
            <a:endParaRPr lang="ru-RU" dirty="0"/>
          </a:p>
          <a:p>
            <a:endParaRPr lang="ru-RU" dirty="0"/>
          </a:p>
        </p:txBody>
      </p:sp>
      <mc:AlternateContent xmlns:mc="http://schemas.openxmlformats.org/markup-compatibility/2006" xmlns:a14="http://schemas.microsoft.com/office/drawing/2010/main">
        <mc:Choice Requires="a14">
          <p:sp>
            <p:nvSpPr>
              <p:cNvPr id="7" name="Объект 6">
                <a:extLst>
                  <a:ext uri="{FF2B5EF4-FFF2-40B4-BE49-F238E27FC236}">
                    <a16:creationId xmlns:a16="http://schemas.microsoft.com/office/drawing/2014/main" id="{6245A06D-D31D-DEF7-AC9B-854DF32F38CB}"/>
                  </a:ext>
                </a:extLst>
              </p:cNvPr>
              <p:cNvSpPr txBox="1">
                <a:spLocks/>
              </p:cNvSpPr>
              <p:nvPr/>
            </p:nvSpPr>
            <p:spPr>
              <a:xfrm>
                <a:off x="7102587" y="1402559"/>
                <a:ext cx="5054285" cy="5041987"/>
              </a:xfrm>
              <a:prstGeom prst="rect">
                <a:avLst/>
              </a:prstGeom>
            </p:spPr>
            <p:txBody>
              <a:bodyPr vert="horz">
                <a:normAutofit fontScale="5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ru-RU" sz="3600" b="1" dirty="0"/>
                  <a:t>Механизм агрегации</a:t>
                </a:r>
                <a:r>
                  <a:rPr lang="en-US" sz="3600" b="1" dirty="0"/>
                  <a:t>:</a:t>
                </a:r>
              </a:p>
              <a:p>
                <a:r>
                  <a:rPr lang="ru-RU" sz="3200" b="1" dirty="0"/>
                  <a:t>Вход:</a:t>
                </a:r>
                <a:r>
                  <a:rPr lang="ru-RU" sz="3200" dirty="0"/>
                  <a:t> </a:t>
                </a:r>
                <a:r>
                  <a:rPr lang="en-US" sz="3200" dirty="0"/>
                  <a:t> </a:t>
                </a:r>
                <a14:m>
                  <m:oMath xmlns:m="http://schemas.openxmlformats.org/officeDocument/2006/math">
                    <m:r>
                      <a:rPr lang="en-US" sz="3200">
                        <a:latin typeface="Cambria Math" panose="02040503050406030204" pitchFamily="18" charset="0"/>
                      </a:rPr>
                      <m:t>[</m:t>
                    </m:r>
                    <m:r>
                      <a:rPr lang="ru-RU" sz="3200">
                        <a:latin typeface="Cambria Math" panose="02040503050406030204" pitchFamily="18" charset="0"/>
                      </a:rPr>
                      <m:t>0.9</m:t>
                    </m:r>
                    <m:r>
                      <a:rPr lang="en-US" sz="3200">
                        <a:latin typeface="Cambria Math" panose="02040503050406030204" pitchFamily="18" charset="0"/>
                      </a:rPr>
                      <m:t>, 0.45, 0.6]</m:t>
                    </m:r>
                  </m:oMath>
                </a14:m>
                <a:r>
                  <a:rPr lang="ru-RU" sz="3200" dirty="0"/>
                  <a:t>— три SNP</a:t>
                </a:r>
              </a:p>
              <a:p>
                <a:endParaRPr lang="ru-RU" sz="3200" b="1" dirty="0"/>
              </a:p>
              <a:p>
                <a:r>
                  <a:rPr lang="ru-RU" sz="3200" b="1" dirty="0"/>
                  <a:t>После проекции:</a:t>
                </a:r>
                <a:br>
                  <a:rPr lang="ru-RU" sz="3200" dirty="0"/>
                </a:br>
                <a:r>
                  <a:rPr lang="ru-RU" sz="3200" dirty="0"/>
                  <a:t>(</a:t>
                </a:r>
                <a14:m>
                  <m:oMath xmlns:m="http://schemas.openxmlformats.org/officeDocument/2006/math">
                    <m:sSub>
                      <m:sSubPr>
                        <m:ctrlPr>
                          <a:rPr lang="ru-RU" sz="3200" i="1">
                            <a:latin typeface="Cambria Math" panose="02040503050406030204" pitchFamily="18" charset="0"/>
                          </a:rPr>
                        </m:ctrlPr>
                      </m:sSubPr>
                      <m:e>
                        <m:r>
                          <a:rPr lang="ru-RU" sz="3200" i="1">
                            <a:latin typeface="Cambria Math" panose="02040503050406030204" pitchFamily="18" charset="0"/>
                          </a:rPr>
                          <m:t>𝑤</m:t>
                        </m:r>
                      </m:e>
                      <m:sub>
                        <m:r>
                          <m:rPr>
                            <m:nor/>
                          </m:rPr>
                          <a:rPr lang="ru-RU" sz="3200" i="1"/>
                          <m:t>snp</m:t>
                        </m:r>
                      </m:sub>
                    </m:sSub>
                    <m:r>
                      <a:rPr lang="ru-RU" sz="3200">
                        <a:latin typeface="Cambria Math" panose="02040503050406030204" pitchFamily="18" charset="0"/>
                      </a:rPr>
                      <m:t>=</m:t>
                    </m:r>
                    <m:r>
                      <a:rPr lang="en-US" sz="3200" b="0" i="1" smtClean="0">
                        <a:latin typeface="Cambria Math" panose="02040503050406030204" pitchFamily="18" charset="0"/>
                      </a:rPr>
                      <m:t>[0.2, 0.5, 0.1]</m:t>
                    </m:r>
                  </m:oMath>
                </a14:m>
                <a:r>
                  <a:rPr lang="ru-RU" sz="3200" dirty="0"/>
                  <a:t>, размерность </a:t>
                </a:r>
                <a14:m>
                  <m:oMath xmlns:m="http://schemas.openxmlformats.org/officeDocument/2006/math">
                    <m:r>
                      <a:rPr lang="ru-RU" sz="3200" i="1">
                        <a:latin typeface="Cambria Math" panose="02040503050406030204" pitchFamily="18" charset="0"/>
                      </a:rPr>
                      <m:t>𝑑</m:t>
                    </m:r>
                    <m:r>
                      <a:rPr lang="ru-RU" sz="3200">
                        <a:latin typeface="Cambria Math" panose="02040503050406030204" pitchFamily="18" charset="0"/>
                      </a:rPr>
                      <m:t>=3</m:t>
                    </m:r>
                  </m:oMath>
                </a14:m>
                <a:r>
                  <a:rPr lang="ru-RU" sz="3200" dirty="0"/>
                  <a:t>)</a:t>
                </a:r>
              </a:p>
              <a:p>
                <a:pPr lvl="1"/>
                <a14:m>
                  <m:oMath xmlns:m="http://schemas.openxmlformats.org/officeDocument/2006/math">
                    <m:sSub>
                      <m:sSubPr>
                        <m:ctrlPr>
                          <a:rPr lang="ru-RU" sz="3200" i="1">
                            <a:latin typeface="Cambria Math" panose="02040503050406030204" pitchFamily="18" charset="0"/>
                          </a:rPr>
                        </m:ctrlPr>
                      </m:sSubPr>
                      <m:e>
                        <m:r>
                          <a:rPr lang="ru-RU" sz="3200" i="1">
                            <a:latin typeface="Cambria Math" panose="02040503050406030204" pitchFamily="18" charset="0"/>
                          </a:rPr>
                          <m:t>h</m:t>
                        </m:r>
                      </m:e>
                      <m:sub>
                        <m:r>
                          <a:rPr lang="ru-RU" sz="3200">
                            <a:latin typeface="Cambria Math" panose="02040503050406030204" pitchFamily="18" charset="0"/>
                          </a:rPr>
                          <m:t>1</m:t>
                        </m:r>
                      </m:sub>
                    </m:sSub>
                    <m:r>
                      <a:rPr lang="ru-RU" sz="3200">
                        <a:latin typeface="Cambria Math" panose="02040503050406030204" pitchFamily="18" charset="0"/>
                      </a:rPr>
                      <m:t>=</m:t>
                    </m:r>
                    <m:r>
                      <a:rPr lang="en-US" sz="3200" b="0" i="1" smtClean="0">
                        <a:latin typeface="Cambria Math" panose="02040503050406030204" pitchFamily="18" charset="0"/>
                      </a:rPr>
                      <m:t>[0.18, 0.45, 0.09]</m:t>
                    </m:r>
                    <m:r>
                      <a:rPr lang="ru-RU" sz="3200">
                        <a:latin typeface="Cambria Math" panose="02040503050406030204" pitchFamily="18" charset="0"/>
                      </a:rPr>
                      <m:t>, </m:t>
                    </m:r>
                  </m:oMath>
                </a14:m>
                <a:endParaRPr lang="ru-RU" sz="3200" dirty="0"/>
              </a:p>
              <a:p>
                <a:pPr lvl="1"/>
                <a14:m>
                  <m:oMath xmlns:m="http://schemas.openxmlformats.org/officeDocument/2006/math">
                    <m:sSub>
                      <m:sSubPr>
                        <m:ctrlPr>
                          <a:rPr lang="ru-RU" sz="3200" i="1">
                            <a:latin typeface="Cambria Math" panose="02040503050406030204" pitchFamily="18" charset="0"/>
                          </a:rPr>
                        </m:ctrlPr>
                      </m:sSubPr>
                      <m:e>
                        <m:r>
                          <a:rPr lang="ru-RU" sz="3200" i="1">
                            <a:latin typeface="Cambria Math" panose="02040503050406030204" pitchFamily="18" charset="0"/>
                          </a:rPr>
                          <m:t>h</m:t>
                        </m:r>
                      </m:e>
                      <m:sub>
                        <m:r>
                          <a:rPr lang="ru-RU" sz="3200">
                            <a:latin typeface="Cambria Math" panose="02040503050406030204" pitchFamily="18" charset="0"/>
                          </a:rPr>
                          <m:t>2</m:t>
                        </m:r>
                      </m:sub>
                    </m:sSub>
                    <m:r>
                      <a:rPr lang="ru-RU" sz="3200" b="0" i="1" smtClean="0">
                        <a:latin typeface="Cambria Math" panose="02040503050406030204" pitchFamily="18" charset="0"/>
                      </a:rPr>
                      <m:t>=</m:t>
                    </m:r>
                    <m:r>
                      <a:rPr lang="en-US" sz="3200" b="0" i="1" smtClean="0">
                        <a:latin typeface="Cambria Math" panose="02040503050406030204" pitchFamily="18" charset="0"/>
                      </a:rPr>
                      <m:t>[0.09, 0.2</m:t>
                    </m:r>
                    <m:r>
                      <a:rPr lang="ru-RU" sz="3200" b="0" i="1" smtClean="0">
                        <a:latin typeface="Cambria Math" panose="02040503050406030204" pitchFamily="18" charset="0"/>
                      </a:rPr>
                      <m:t>3</m:t>
                    </m:r>
                    <m:r>
                      <a:rPr lang="en-US" sz="3200" b="0" i="1" smtClean="0">
                        <a:latin typeface="Cambria Math" panose="02040503050406030204" pitchFamily="18" charset="0"/>
                      </a:rPr>
                      <m:t>, 0.0</m:t>
                    </m:r>
                    <m:r>
                      <a:rPr lang="ru-RU" sz="3200" b="0" i="0" smtClean="0">
                        <a:latin typeface="Cambria Math" panose="02040503050406030204" pitchFamily="18" charset="0"/>
                      </a:rPr>
                      <m:t>5</m:t>
                    </m:r>
                    <m:r>
                      <a:rPr lang="en-US" sz="3200" b="0" i="0" smtClean="0">
                        <a:latin typeface="Cambria Math" panose="02040503050406030204" pitchFamily="18" charset="0"/>
                      </a:rPr>
                      <m:t>]</m:t>
                    </m:r>
                    <m:r>
                      <a:rPr lang="ru-RU" sz="3200">
                        <a:latin typeface="Cambria Math" panose="02040503050406030204" pitchFamily="18" charset="0"/>
                      </a:rPr>
                      <m:t>, </m:t>
                    </m:r>
                  </m:oMath>
                </a14:m>
                <a:endParaRPr lang="ru-RU" sz="3200" dirty="0"/>
              </a:p>
              <a:p>
                <a:pPr lvl="1"/>
                <a14:m>
                  <m:oMath xmlns:m="http://schemas.openxmlformats.org/officeDocument/2006/math">
                    <m:sSub>
                      <m:sSubPr>
                        <m:ctrlPr>
                          <a:rPr lang="ru-RU" sz="3200" i="1">
                            <a:latin typeface="Cambria Math" panose="02040503050406030204" pitchFamily="18" charset="0"/>
                          </a:rPr>
                        </m:ctrlPr>
                      </m:sSubPr>
                      <m:e>
                        <m:r>
                          <a:rPr lang="ru-RU" sz="3200" i="1">
                            <a:latin typeface="Cambria Math" panose="02040503050406030204" pitchFamily="18" charset="0"/>
                          </a:rPr>
                          <m:t>h</m:t>
                        </m:r>
                      </m:e>
                      <m:sub>
                        <m:r>
                          <a:rPr lang="ru-RU" sz="3200">
                            <a:latin typeface="Cambria Math" panose="02040503050406030204" pitchFamily="18" charset="0"/>
                          </a:rPr>
                          <m:t>3</m:t>
                        </m:r>
                      </m:sub>
                    </m:sSub>
                    <m:r>
                      <a:rPr lang="ru-RU" sz="3200">
                        <a:latin typeface="Cambria Math" panose="02040503050406030204" pitchFamily="18" charset="0"/>
                      </a:rPr>
                      <m:t>=</m:t>
                    </m:r>
                    <m:r>
                      <a:rPr lang="en-US" sz="3200" b="0" i="1" smtClean="0">
                        <a:latin typeface="Cambria Math" panose="02040503050406030204" pitchFamily="18" charset="0"/>
                      </a:rPr>
                      <m:t>[0.12, 0.30, 0.06]</m:t>
                    </m:r>
                  </m:oMath>
                </a14:m>
                <a:endParaRPr lang="ru-RU" sz="3200" dirty="0"/>
              </a:p>
              <a:p>
                <a:endParaRPr lang="ru-RU" sz="3200" b="1" dirty="0"/>
              </a:p>
              <a:p>
                <a:r>
                  <a:rPr lang="ru-RU" sz="3200" b="1" dirty="0"/>
                  <a:t>После внимания (веса </a:t>
                </a:r>
                <a14:m>
                  <m:oMath xmlns:m="http://schemas.openxmlformats.org/officeDocument/2006/math">
                    <m:r>
                      <a:rPr lang="ru-RU" sz="3200" i="1">
                        <a:latin typeface="Cambria Math" panose="02040503050406030204" pitchFamily="18" charset="0"/>
                      </a:rPr>
                      <m:t>𝛼</m:t>
                    </m:r>
                  </m:oMath>
                </a14:m>
                <a:r>
                  <a:rPr lang="ru-RU" sz="3200" b="1" dirty="0"/>
                  <a:t> получены из </a:t>
                </a:r>
                <a14:m>
                  <m:oMath xmlns:m="http://schemas.openxmlformats.org/officeDocument/2006/math">
                    <m:r>
                      <a:rPr lang="ru-RU" sz="3200" i="1">
                        <a:latin typeface="Cambria Math" panose="02040503050406030204" pitchFamily="18" charset="0"/>
                      </a:rPr>
                      <m:t>𝑎</m:t>
                    </m:r>
                  </m:oMath>
                </a14:m>
                <a:r>
                  <a:rPr lang="ru-RU" sz="3200" b="1" dirty="0"/>
                  <a:t>):</a:t>
                </a:r>
                <a:endParaRPr lang="ru-RU" sz="3200" dirty="0"/>
              </a:p>
              <a:p>
                <a:pPr lvl="1"/>
                <a14:m>
                  <m:oMath xmlns:m="http://schemas.openxmlformats.org/officeDocument/2006/math">
                    <m:sSub>
                      <m:sSubPr>
                        <m:ctrlPr>
                          <a:rPr lang="ru-RU" sz="3200" i="1">
                            <a:latin typeface="Cambria Math" panose="02040503050406030204" pitchFamily="18" charset="0"/>
                          </a:rPr>
                        </m:ctrlPr>
                      </m:sSubPr>
                      <m:e>
                        <m:r>
                          <a:rPr lang="ru-RU" sz="3200" i="1">
                            <a:latin typeface="Cambria Math" panose="02040503050406030204" pitchFamily="18" charset="0"/>
                          </a:rPr>
                          <m:t>𝛼</m:t>
                        </m:r>
                      </m:e>
                      <m:sub>
                        <m:r>
                          <a:rPr lang="ru-RU" sz="3200">
                            <a:latin typeface="Cambria Math" panose="02040503050406030204" pitchFamily="18" charset="0"/>
                          </a:rPr>
                          <m:t>1</m:t>
                        </m:r>
                      </m:sub>
                    </m:sSub>
                    <m:r>
                      <a:rPr lang="ru-RU" sz="3200">
                        <a:latin typeface="Cambria Math" panose="02040503050406030204" pitchFamily="18" charset="0"/>
                      </a:rPr>
                      <m:t>=0.42, </m:t>
                    </m:r>
                    <m:sSub>
                      <m:sSubPr>
                        <m:ctrlPr>
                          <a:rPr lang="ru-RU" sz="3200" i="1">
                            <a:latin typeface="Cambria Math" panose="02040503050406030204" pitchFamily="18" charset="0"/>
                          </a:rPr>
                        </m:ctrlPr>
                      </m:sSubPr>
                      <m:e>
                        <m:r>
                          <a:rPr lang="ru-RU" sz="3200" i="1">
                            <a:latin typeface="Cambria Math" panose="02040503050406030204" pitchFamily="18" charset="0"/>
                          </a:rPr>
                          <m:t>𝛼</m:t>
                        </m:r>
                      </m:e>
                      <m:sub>
                        <m:r>
                          <a:rPr lang="ru-RU" sz="3200">
                            <a:latin typeface="Cambria Math" panose="02040503050406030204" pitchFamily="18" charset="0"/>
                          </a:rPr>
                          <m:t>2</m:t>
                        </m:r>
                      </m:sub>
                    </m:sSub>
                    <m:r>
                      <a:rPr lang="ru-RU" sz="3200">
                        <a:latin typeface="Cambria Math" panose="02040503050406030204" pitchFamily="18" charset="0"/>
                      </a:rPr>
                      <m:t>=0.26, </m:t>
                    </m:r>
                    <m:sSub>
                      <m:sSubPr>
                        <m:ctrlPr>
                          <a:rPr lang="ru-RU" sz="3200" i="1">
                            <a:latin typeface="Cambria Math" panose="02040503050406030204" pitchFamily="18" charset="0"/>
                          </a:rPr>
                        </m:ctrlPr>
                      </m:sSubPr>
                      <m:e>
                        <m:r>
                          <a:rPr lang="ru-RU" sz="3200" i="1">
                            <a:latin typeface="Cambria Math" panose="02040503050406030204" pitchFamily="18" charset="0"/>
                          </a:rPr>
                          <m:t>𝛼</m:t>
                        </m:r>
                      </m:e>
                      <m:sub>
                        <m:r>
                          <a:rPr lang="ru-RU" sz="3200">
                            <a:latin typeface="Cambria Math" panose="02040503050406030204" pitchFamily="18" charset="0"/>
                          </a:rPr>
                          <m:t>3</m:t>
                        </m:r>
                      </m:sub>
                    </m:sSub>
                    <m:r>
                      <a:rPr lang="ru-RU" sz="3200">
                        <a:latin typeface="Cambria Math" panose="02040503050406030204" pitchFamily="18" charset="0"/>
                      </a:rPr>
                      <m:t>=0.32</m:t>
                    </m:r>
                  </m:oMath>
                </a14:m>
                <a:endParaRPr lang="ru-RU" sz="3200" dirty="0"/>
              </a:p>
              <a:p>
                <a:endParaRPr lang="ru-RU" sz="3200" b="1" dirty="0"/>
              </a:p>
              <a:p>
                <a:r>
                  <a:rPr lang="ru-RU" sz="3200" b="1" dirty="0" err="1"/>
                  <a:t>Эмбеддинг</a:t>
                </a:r>
                <a:r>
                  <a:rPr lang="ru-RU" sz="3200" b="1" dirty="0"/>
                  <a:t> гена (взвешенная сумма):</a:t>
                </a:r>
                <a:endParaRPr lang="ru-RU" sz="3200" dirty="0"/>
              </a:p>
              <a:p>
                <a:pPr lvl="1"/>
                <a14:m>
                  <m:oMath xmlns:m="http://schemas.openxmlformats.org/officeDocument/2006/math">
                    <m:sSub>
                      <m:sSubPr>
                        <m:ctrlPr>
                          <a:rPr lang="ru-RU" sz="3200" i="1">
                            <a:latin typeface="Cambria Math" panose="02040503050406030204" pitchFamily="18" charset="0"/>
                          </a:rPr>
                        </m:ctrlPr>
                      </m:sSubPr>
                      <m:e>
                        <m:r>
                          <a:rPr lang="ru-RU" sz="3200" i="1">
                            <a:latin typeface="Cambria Math" panose="02040503050406030204" pitchFamily="18" charset="0"/>
                          </a:rPr>
                          <m:t>𝑣</m:t>
                        </m:r>
                      </m:e>
                      <m:sub>
                        <m:r>
                          <m:rPr>
                            <m:nor/>
                          </m:rPr>
                          <a:rPr lang="ru-RU" sz="3200" i="1"/>
                          <m:t>ген</m:t>
                        </m:r>
                      </m:sub>
                    </m:sSub>
                    <m:r>
                      <a:rPr lang="ru-RU" sz="3200">
                        <a:latin typeface="Cambria Math" panose="02040503050406030204" pitchFamily="18" charset="0"/>
                      </a:rPr>
                      <m:t>=0.42⋅</m:t>
                    </m:r>
                    <m:sSub>
                      <m:sSubPr>
                        <m:ctrlPr>
                          <a:rPr lang="ru-RU" sz="3200" i="1">
                            <a:latin typeface="Cambria Math" panose="02040503050406030204" pitchFamily="18" charset="0"/>
                          </a:rPr>
                        </m:ctrlPr>
                      </m:sSubPr>
                      <m:e>
                        <m:r>
                          <a:rPr lang="ru-RU" sz="3200" i="1">
                            <a:latin typeface="Cambria Math" panose="02040503050406030204" pitchFamily="18" charset="0"/>
                          </a:rPr>
                          <m:t>h</m:t>
                        </m:r>
                      </m:e>
                      <m:sub>
                        <m:r>
                          <a:rPr lang="ru-RU" sz="3200">
                            <a:latin typeface="Cambria Math" panose="02040503050406030204" pitchFamily="18" charset="0"/>
                          </a:rPr>
                          <m:t>1</m:t>
                        </m:r>
                      </m:sub>
                    </m:sSub>
                    <m:r>
                      <a:rPr lang="ru-RU" sz="3200">
                        <a:latin typeface="Cambria Math" panose="02040503050406030204" pitchFamily="18" charset="0"/>
                      </a:rPr>
                      <m:t>+0.26⋅</m:t>
                    </m:r>
                    <m:sSub>
                      <m:sSubPr>
                        <m:ctrlPr>
                          <a:rPr lang="ru-RU" sz="3200" i="1">
                            <a:latin typeface="Cambria Math" panose="02040503050406030204" pitchFamily="18" charset="0"/>
                          </a:rPr>
                        </m:ctrlPr>
                      </m:sSubPr>
                      <m:e>
                        <m:r>
                          <a:rPr lang="ru-RU" sz="3200" i="1">
                            <a:latin typeface="Cambria Math" panose="02040503050406030204" pitchFamily="18" charset="0"/>
                          </a:rPr>
                          <m:t>h</m:t>
                        </m:r>
                      </m:e>
                      <m:sub>
                        <m:r>
                          <a:rPr lang="ru-RU" sz="3200">
                            <a:latin typeface="Cambria Math" panose="02040503050406030204" pitchFamily="18" charset="0"/>
                          </a:rPr>
                          <m:t>2</m:t>
                        </m:r>
                      </m:sub>
                    </m:sSub>
                    <m:r>
                      <a:rPr lang="ru-RU" sz="3200">
                        <a:latin typeface="Cambria Math" panose="02040503050406030204" pitchFamily="18" charset="0"/>
                      </a:rPr>
                      <m:t>+0.32⋅</m:t>
                    </m:r>
                    <m:sSub>
                      <m:sSubPr>
                        <m:ctrlPr>
                          <a:rPr lang="ru-RU" sz="3200" i="1">
                            <a:latin typeface="Cambria Math" panose="02040503050406030204" pitchFamily="18" charset="0"/>
                          </a:rPr>
                        </m:ctrlPr>
                      </m:sSubPr>
                      <m:e>
                        <m:r>
                          <a:rPr lang="ru-RU" sz="3200" i="1">
                            <a:latin typeface="Cambria Math" panose="02040503050406030204" pitchFamily="18" charset="0"/>
                          </a:rPr>
                          <m:t>h</m:t>
                        </m:r>
                      </m:e>
                      <m:sub>
                        <m:r>
                          <a:rPr lang="ru-RU" sz="3200">
                            <a:latin typeface="Cambria Math" panose="02040503050406030204" pitchFamily="18" charset="0"/>
                          </a:rPr>
                          <m:t>3</m:t>
                        </m:r>
                      </m:sub>
                    </m:sSub>
                    <m:r>
                      <a:rPr lang="ru-RU" sz="3200">
                        <a:latin typeface="Cambria Math" panose="02040503050406030204" pitchFamily="18" charset="0"/>
                      </a:rPr>
                      <m:t>=</m:t>
                    </m:r>
                    <m:r>
                      <a:rPr lang="en-US" sz="3200" b="0" i="1" smtClean="0">
                        <a:latin typeface="Cambria Math" panose="02040503050406030204" pitchFamily="18" charset="0"/>
                      </a:rPr>
                      <m:t>[0.1</m:t>
                    </m:r>
                    <m:r>
                      <a:rPr lang="ru-RU" sz="3200" b="0" i="1" smtClean="0">
                        <a:latin typeface="Cambria Math" panose="02040503050406030204" pitchFamily="18" charset="0"/>
                      </a:rPr>
                      <m:t>4</m:t>
                    </m:r>
                    <m:r>
                      <a:rPr lang="en-US" sz="3200" b="0" i="1" smtClean="0">
                        <a:latin typeface="Cambria Math" panose="02040503050406030204" pitchFamily="18" charset="0"/>
                      </a:rPr>
                      <m:t>, 0.3</m:t>
                    </m:r>
                    <m:r>
                      <a:rPr lang="ru-RU" sz="3200" b="0" i="1" smtClean="0">
                        <a:latin typeface="Cambria Math" panose="02040503050406030204" pitchFamily="18" charset="0"/>
                      </a:rPr>
                      <m:t>4</m:t>
                    </m:r>
                    <m:r>
                      <a:rPr lang="en-US" sz="3200" b="0" i="1" smtClean="0">
                        <a:latin typeface="Cambria Math" panose="02040503050406030204" pitchFamily="18" charset="0"/>
                      </a:rPr>
                      <m:t>, 0.0</m:t>
                    </m:r>
                    <m:r>
                      <a:rPr lang="ru-RU" sz="3200" b="0" i="1" smtClean="0">
                        <a:latin typeface="Cambria Math" panose="02040503050406030204" pitchFamily="18" charset="0"/>
                      </a:rPr>
                      <m:t>7</m:t>
                    </m:r>
                    <m:r>
                      <a:rPr lang="en-US" sz="3200" b="0" i="1" smtClean="0">
                        <a:latin typeface="Cambria Math" panose="02040503050406030204" pitchFamily="18" charset="0"/>
                      </a:rPr>
                      <m:t>]</m:t>
                    </m:r>
                  </m:oMath>
                </a14:m>
                <a:endParaRPr lang="ru-RU" sz="3200" b="0" dirty="0"/>
              </a:p>
              <a:p>
                <a:endParaRPr lang="ru-RU" dirty="0"/>
              </a:p>
            </p:txBody>
          </p:sp>
        </mc:Choice>
        <mc:Fallback xmlns="">
          <p:sp>
            <p:nvSpPr>
              <p:cNvPr id="7" name="Объект 6">
                <a:extLst>
                  <a:ext uri="{FF2B5EF4-FFF2-40B4-BE49-F238E27FC236}">
                    <a16:creationId xmlns:a16="http://schemas.microsoft.com/office/drawing/2014/main" id="{6245A06D-D31D-DEF7-AC9B-854DF32F38CB}"/>
                  </a:ext>
                </a:extLst>
              </p:cNvPr>
              <p:cNvSpPr txBox="1">
                <a:spLocks noRot="1" noChangeAspect="1" noMove="1" noResize="1" noEditPoints="1" noAdjustHandles="1" noChangeArrowheads="1" noChangeShapeType="1" noTextEdit="1"/>
              </p:cNvSpPr>
              <p:nvPr/>
            </p:nvSpPr>
            <p:spPr>
              <a:xfrm>
                <a:off x="7102587" y="1402559"/>
                <a:ext cx="5054285" cy="5041987"/>
              </a:xfrm>
              <a:prstGeom prst="rect">
                <a:avLst/>
              </a:prstGeom>
              <a:blipFill>
                <a:blip r:embed="rId2"/>
                <a:stretch>
                  <a:fillRect l="-1206" t="-1814"/>
                </a:stretch>
              </a:blipFill>
            </p:spPr>
            <p:txBody>
              <a:bodyPr/>
              <a:lstStyle/>
              <a:p>
                <a:r>
                  <a:rPr lang="ru-RU">
                    <a:noFill/>
                  </a:rPr>
                  <a:t> </a:t>
                </a:r>
              </a:p>
            </p:txBody>
          </p:sp>
        </mc:Fallback>
      </mc:AlternateContent>
    </p:spTree>
    <p:extLst>
      <p:ext uri="{BB962C8B-B14F-4D97-AF65-F5344CB8AC3E}">
        <p14:creationId xmlns:p14="http://schemas.microsoft.com/office/powerpoint/2010/main" val="1134154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21AA89-1104-65E7-EB7E-EA3FDBE2E17E}"/>
              </a:ext>
            </a:extLst>
          </p:cNvPr>
          <p:cNvSpPr>
            <a:spLocks noGrp="1"/>
          </p:cNvSpPr>
          <p:nvPr>
            <p:ph type="title"/>
          </p:nvPr>
        </p:nvSpPr>
        <p:spPr/>
        <p:txBody>
          <a:bodyPr>
            <a:noAutofit/>
          </a:bodyPr>
          <a:lstStyle/>
          <a:p>
            <a:r>
              <a:rPr lang="ru-RU" b="1" dirty="0"/>
              <a:t>Блок реконструкции</a:t>
            </a:r>
            <a:br>
              <a:rPr lang="ru-RU" b="1" dirty="0"/>
            </a:br>
            <a:endParaRPr lang="ru-RU" dirty="0"/>
          </a:p>
        </p:txBody>
      </p:sp>
      <p:sp>
        <p:nvSpPr>
          <p:cNvPr id="3" name="Номер слайда 2">
            <a:extLst>
              <a:ext uri="{FF2B5EF4-FFF2-40B4-BE49-F238E27FC236}">
                <a16:creationId xmlns:a16="http://schemas.microsoft.com/office/drawing/2014/main" id="{DB6D7C16-501D-2AF6-0AAC-B5C92AA42424}"/>
              </a:ext>
            </a:extLst>
          </p:cNvPr>
          <p:cNvSpPr>
            <a:spLocks noGrp="1"/>
          </p:cNvSpPr>
          <p:nvPr>
            <p:ph type="sldNum" sz="quarter" idx="12"/>
          </p:nvPr>
        </p:nvSpPr>
        <p:spPr/>
        <p:txBody>
          <a:bodyPr/>
          <a:lstStyle/>
          <a:p>
            <a:fld id="{B19B0651-EE4F-4900-A07F-96A6BFA9D0F0}" type="slidenum">
              <a:rPr lang="ru-RU" smtClean="0"/>
              <a:pPr/>
              <a:t>14</a:t>
            </a:fld>
            <a:endParaRPr lang="ru-RU"/>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1B76D9F-D70B-3A01-D511-C838640F3AFA}"/>
                  </a:ext>
                </a:extLst>
              </p:cNvPr>
              <p:cNvSpPr txBox="1"/>
              <p:nvPr/>
            </p:nvSpPr>
            <p:spPr>
              <a:xfrm>
                <a:off x="479376" y="1174830"/>
                <a:ext cx="11463064" cy="3231654"/>
              </a:xfrm>
              <a:prstGeom prst="rect">
                <a:avLst/>
              </a:prstGeom>
              <a:noFill/>
            </p:spPr>
            <p:txBody>
              <a:bodyPr wrap="square">
                <a:spAutoFit/>
              </a:bodyPr>
              <a:lstStyle/>
              <a:p>
                <a:r>
                  <a:rPr lang="ru-RU" sz="1700" b="1" dirty="0"/>
                  <a:t>1. Вход</a:t>
                </a:r>
                <a:r>
                  <a:rPr lang="en-US" sz="1700" b="1" dirty="0"/>
                  <a:t>.</a:t>
                </a:r>
                <a:r>
                  <a:rPr lang="ru-RU" sz="1700" b="1" dirty="0"/>
                  <a:t> </a:t>
                </a:r>
                <a:r>
                  <a:rPr lang="ru-RU" sz="1700" dirty="0"/>
                  <a:t>Матрица </a:t>
                </a:r>
                <a:r>
                  <a:rPr lang="ru-RU" sz="1700" dirty="0" err="1"/>
                  <a:t>эмбеддингов</a:t>
                </a:r>
                <a:r>
                  <a:rPr lang="ru-RU" sz="1700" dirty="0"/>
                  <a:t> генов после трансформера размерности [</a:t>
                </a:r>
                <a:r>
                  <a:rPr lang="ru-RU" sz="1700" dirty="0" err="1"/>
                  <a:t>batch</a:t>
                </a:r>
                <a:r>
                  <a:rPr lang="ru-RU" sz="1700" dirty="0"/>
                  <a:t>_</a:t>
                </a:r>
                <a:r>
                  <a:rPr lang="en-US" sz="1700" dirty="0"/>
                  <a:t>size</a:t>
                </a:r>
                <a:r>
                  <a:rPr lang="ru-RU" sz="1700" dirty="0"/>
                  <a:t>, </a:t>
                </a:r>
                <a14:m>
                  <m:oMath xmlns:m="http://schemas.openxmlformats.org/officeDocument/2006/math">
                    <m:sSub>
                      <m:sSubPr>
                        <m:ctrlPr>
                          <a:rPr lang="ru-RU" sz="1700" i="1">
                            <a:latin typeface="Cambria Math" panose="02040503050406030204" pitchFamily="18" charset="0"/>
                          </a:rPr>
                        </m:ctrlPr>
                      </m:sSubPr>
                      <m:e>
                        <m:r>
                          <a:rPr lang="ru-RU" sz="1700" i="1">
                            <a:latin typeface="Cambria Math" panose="02040503050406030204" pitchFamily="18" charset="0"/>
                          </a:rPr>
                          <m:t>𝑁</m:t>
                        </m:r>
                      </m:e>
                      <m:sub>
                        <m:r>
                          <m:rPr>
                            <m:nor/>
                          </m:rPr>
                          <a:rPr lang="ru-RU" sz="1700" b="0" i="1" smtClean="0"/>
                          <m:t>г</m:t>
                        </m:r>
                      </m:sub>
                    </m:sSub>
                  </m:oMath>
                </a14:m>
                <a:r>
                  <a:rPr lang="ru-RU" sz="1700" dirty="0"/>
                  <a:t>, d], где </a:t>
                </a:r>
                <a14:m>
                  <m:oMath xmlns:m="http://schemas.openxmlformats.org/officeDocument/2006/math">
                    <m:sSub>
                      <m:sSubPr>
                        <m:ctrlPr>
                          <a:rPr lang="ru-RU" sz="1700" i="1">
                            <a:latin typeface="Cambria Math" panose="02040503050406030204" pitchFamily="18" charset="0"/>
                          </a:rPr>
                        </m:ctrlPr>
                      </m:sSubPr>
                      <m:e>
                        <m:r>
                          <a:rPr lang="ru-RU" sz="1700" i="1">
                            <a:latin typeface="Cambria Math" panose="02040503050406030204" pitchFamily="18" charset="0"/>
                          </a:rPr>
                          <m:t>𝑁</m:t>
                        </m:r>
                      </m:e>
                      <m:sub>
                        <m:r>
                          <m:rPr>
                            <m:nor/>
                          </m:rPr>
                          <a:rPr lang="ru-RU" sz="1700" i="1"/>
                          <m:t>г</m:t>
                        </m:r>
                      </m:sub>
                    </m:sSub>
                    <m:r>
                      <a:rPr lang="en-US" sz="1700" b="0" i="1" smtClean="0">
                        <a:latin typeface="Cambria Math" panose="02040503050406030204" pitchFamily="18" charset="0"/>
                      </a:rPr>
                      <m:t> −</m:t>
                    </m:r>
                    <m:r>
                      <a:rPr lang="ru-RU" sz="1700" b="0" i="1" smtClean="0">
                        <a:latin typeface="Cambria Math" panose="02040503050406030204" pitchFamily="18" charset="0"/>
                      </a:rPr>
                      <m:t>количество генов</m:t>
                    </m:r>
                  </m:oMath>
                </a14:m>
                <a:endParaRPr lang="ru-RU" sz="1700" dirty="0"/>
              </a:p>
              <a:p>
                <a:r>
                  <a:rPr lang="ru-RU" sz="1700" b="1" dirty="0"/>
                  <a:t>2. </a:t>
                </a:r>
                <a:r>
                  <a:rPr lang="ru-RU" sz="1700" b="1" dirty="0" err="1"/>
                  <a:t>Flatten</a:t>
                </a:r>
                <a:r>
                  <a:rPr lang="ru-RU" sz="1700" b="1" dirty="0"/>
                  <a:t> (разворачивание)</a:t>
                </a:r>
                <a:r>
                  <a:rPr lang="en-US" sz="1700" dirty="0"/>
                  <a:t>. </a:t>
                </a:r>
                <a:r>
                  <a:rPr lang="ru-RU" sz="1700" dirty="0"/>
                  <a:t>«Склеивает» все </a:t>
                </a:r>
                <a:r>
                  <a:rPr lang="ru-RU" sz="1700" dirty="0" err="1"/>
                  <a:t>эмбеддинги</a:t>
                </a:r>
                <a:r>
                  <a:rPr lang="ru-RU" sz="1700" dirty="0"/>
                  <a:t> генов в один длинный вектор размерности [</a:t>
                </a:r>
                <a:r>
                  <a:rPr lang="ru-RU" sz="1700" dirty="0" err="1"/>
                  <a:t>batch</a:t>
                </a:r>
                <a:r>
                  <a:rPr lang="ru-RU" sz="1700" dirty="0"/>
                  <a:t>_</a:t>
                </a:r>
                <a:r>
                  <a:rPr lang="en-US" sz="1700" dirty="0"/>
                  <a:t>size,</a:t>
                </a:r>
                <a:r>
                  <a:rPr lang="ru-RU" sz="1700" dirty="0"/>
                  <a:t> </a:t>
                </a:r>
                <a14:m>
                  <m:oMath xmlns:m="http://schemas.openxmlformats.org/officeDocument/2006/math">
                    <m:sSub>
                      <m:sSubPr>
                        <m:ctrlPr>
                          <a:rPr lang="ru-RU" sz="1700" i="1">
                            <a:latin typeface="Cambria Math" panose="02040503050406030204" pitchFamily="18" charset="0"/>
                          </a:rPr>
                        </m:ctrlPr>
                      </m:sSubPr>
                      <m:e>
                        <m:r>
                          <a:rPr lang="ru-RU" sz="1700" i="1">
                            <a:latin typeface="Cambria Math" panose="02040503050406030204" pitchFamily="18" charset="0"/>
                          </a:rPr>
                          <m:t>𝑁</m:t>
                        </m:r>
                      </m:e>
                      <m:sub>
                        <m:r>
                          <m:rPr>
                            <m:nor/>
                          </m:rPr>
                          <a:rPr lang="ru-RU" sz="1700" i="1"/>
                          <m:t>г</m:t>
                        </m:r>
                      </m:sub>
                    </m:sSub>
                    <m:r>
                      <a:rPr lang="ru-RU" sz="1700" i="1">
                        <a:latin typeface="Cambria Math" panose="02040503050406030204" pitchFamily="18" charset="0"/>
                      </a:rPr>
                      <m:t> </m:t>
                    </m:r>
                  </m:oMath>
                </a14:m>
                <a:r>
                  <a:rPr lang="ru-RU" sz="1700" dirty="0"/>
                  <a:t>× d] </a:t>
                </a:r>
              </a:p>
              <a:p>
                <a:r>
                  <a:rPr lang="ru-RU" sz="1700" b="1" dirty="0"/>
                  <a:t>3. </a:t>
                </a:r>
                <a:r>
                  <a:rPr lang="ru-RU" sz="1700" b="1" dirty="0" err="1"/>
                  <a:t>Linear</a:t>
                </a:r>
                <a:r>
                  <a:rPr lang="ru-RU" sz="1700" b="1" dirty="0"/>
                  <a:t> (144k → 512)</a:t>
                </a:r>
                <a:r>
                  <a:rPr lang="en-US" sz="1700" dirty="0"/>
                  <a:t>. </a:t>
                </a:r>
                <a:r>
                  <a:rPr lang="ru-RU" sz="1700" dirty="0" err="1"/>
                  <a:t>Полносвязный</a:t>
                </a:r>
                <a:r>
                  <a:rPr lang="ru-RU" sz="1700" dirty="0"/>
                  <a:t> слой, сжимает вектор с </a:t>
                </a:r>
                <a14:m>
                  <m:oMath xmlns:m="http://schemas.openxmlformats.org/officeDocument/2006/math">
                    <m:sSub>
                      <m:sSubPr>
                        <m:ctrlPr>
                          <a:rPr lang="ru-RU" sz="1700" i="1">
                            <a:latin typeface="Cambria Math" panose="02040503050406030204" pitchFamily="18" charset="0"/>
                          </a:rPr>
                        </m:ctrlPr>
                      </m:sSubPr>
                      <m:e>
                        <m:r>
                          <a:rPr lang="ru-RU" sz="1700" i="1">
                            <a:latin typeface="Cambria Math" panose="02040503050406030204" pitchFamily="18" charset="0"/>
                          </a:rPr>
                          <m:t>𝑁</m:t>
                        </m:r>
                      </m:e>
                      <m:sub>
                        <m:r>
                          <m:rPr>
                            <m:nor/>
                          </m:rPr>
                          <a:rPr lang="ru-RU" sz="1700" i="1"/>
                          <m:t>г</m:t>
                        </m:r>
                      </m:sub>
                    </m:sSub>
                    <m:r>
                      <a:rPr lang="ru-RU" sz="1700" i="1">
                        <a:latin typeface="Cambria Math" panose="02040503050406030204" pitchFamily="18" charset="0"/>
                      </a:rPr>
                      <m:t> </m:t>
                    </m:r>
                  </m:oMath>
                </a14:m>
                <a:r>
                  <a:rPr lang="ru-RU" sz="1700" dirty="0"/>
                  <a:t>× d до 512 чисел. Обучаемая матрица весов [512, </a:t>
                </a:r>
                <a14:m>
                  <m:oMath xmlns:m="http://schemas.openxmlformats.org/officeDocument/2006/math">
                    <m:sSub>
                      <m:sSubPr>
                        <m:ctrlPr>
                          <a:rPr lang="ru-RU" sz="1700" i="1">
                            <a:latin typeface="Cambria Math" panose="02040503050406030204" pitchFamily="18" charset="0"/>
                          </a:rPr>
                        </m:ctrlPr>
                      </m:sSubPr>
                      <m:e>
                        <m:r>
                          <a:rPr lang="ru-RU" sz="1700" i="1">
                            <a:latin typeface="Cambria Math" panose="02040503050406030204" pitchFamily="18" charset="0"/>
                          </a:rPr>
                          <m:t>𝑁</m:t>
                        </m:r>
                      </m:e>
                      <m:sub>
                        <m:r>
                          <m:rPr>
                            <m:nor/>
                          </m:rPr>
                          <a:rPr lang="ru-RU" sz="1700" i="1"/>
                          <m:t>г</m:t>
                        </m:r>
                      </m:sub>
                    </m:sSub>
                    <m:r>
                      <a:rPr lang="ru-RU" sz="1700" i="1">
                        <a:latin typeface="Cambria Math" panose="02040503050406030204" pitchFamily="18" charset="0"/>
                      </a:rPr>
                      <m:t> </m:t>
                    </m:r>
                  </m:oMath>
                </a14:m>
                <a:r>
                  <a:rPr lang="ru-RU" sz="1700" dirty="0"/>
                  <a:t>× d] </a:t>
                </a:r>
              </a:p>
              <a:p>
                <a:r>
                  <a:rPr lang="ru-RU" sz="1700" b="1" dirty="0"/>
                  <a:t>4. </a:t>
                </a:r>
                <a:r>
                  <a:rPr lang="ru-RU" sz="1700" b="1" dirty="0" err="1"/>
                  <a:t>ReLU</a:t>
                </a:r>
                <a:r>
                  <a:rPr lang="ru-RU" sz="1700" b="1" dirty="0"/>
                  <a:t> (активация)</a:t>
                </a:r>
                <a:r>
                  <a:rPr lang="en-US" sz="1700" b="1" dirty="0"/>
                  <a:t>. </a:t>
                </a:r>
                <a:r>
                  <a:rPr lang="ru-RU" sz="1700" dirty="0"/>
                  <a:t>Обнуляет отрицательные значения: </a:t>
                </a:r>
                <a:r>
                  <a:rPr lang="ru-RU" sz="1700" dirty="0" err="1"/>
                  <a:t>ReLU</a:t>
                </a:r>
                <a:r>
                  <a:rPr lang="ru-RU" sz="1700" dirty="0"/>
                  <a:t>(x) = </a:t>
                </a:r>
                <a:r>
                  <a:rPr lang="ru-RU" sz="1700" dirty="0" err="1"/>
                  <a:t>max</a:t>
                </a:r>
                <a:r>
                  <a:rPr lang="ru-RU" sz="1700" dirty="0"/>
                  <a:t>(0, x). Вносит нелинейность, позволяет модели обучать сложные зависимости</a:t>
                </a:r>
              </a:p>
              <a:p>
                <a:r>
                  <a:rPr lang="ru-RU" sz="1700" b="1" dirty="0"/>
                  <a:t>5. </a:t>
                </a:r>
                <a:r>
                  <a:rPr lang="ru-RU" sz="1700" b="1" dirty="0" err="1"/>
                  <a:t>Linear</a:t>
                </a:r>
                <a:r>
                  <a:rPr lang="ru-RU" sz="1700" b="1" dirty="0"/>
                  <a:t> (512 → M)</a:t>
                </a:r>
                <a:r>
                  <a:rPr lang="en-US" sz="1700" b="1" dirty="0"/>
                  <a:t>. </a:t>
                </a:r>
                <a:r>
                  <a:rPr lang="ru-RU" sz="1700" dirty="0" err="1"/>
                  <a:t>Полносвязный</a:t>
                </a:r>
                <a:r>
                  <a:rPr lang="ru-RU" sz="1700" dirty="0"/>
                  <a:t> слой, восстанавливает вектор SNP длины M. M — количество SNP Обучаемая матрица весов [M, 512] </a:t>
                </a:r>
                <a:endParaRPr lang="en-US" sz="1700" dirty="0"/>
              </a:p>
              <a:p>
                <a:r>
                  <a:rPr lang="ru-RU" sz="1700" b="1" dirty="0"/>
                  <a:t>6. Выход</a:t>
                </a:r>
                <a:r>
                  <a:rPr lang="en-US" sz="1700" b="1" dirty="0"/>
                  <a:t>. </a:t>
                </a:r>
                <a:r>
                  <a:rPr lang="ru-RU" sz="1700" dirty="0"/>
                  <a:t>Вектор восстановленных SNP для каждого образца</a:t>
                </a:r>
                <a:r>
                  <a:rPr lang="en-US" sz="1700" dirty="0"/>
                  <a:t> </a:t>
                </a:r>
                <a:r>
                  <a:rPr lang="ru-RU" sz="1700" dirty="0"/>
                  <a:t>размерности [</a:t>
                </a:r>
                <a:r>
                  <a:rPr lang="ru-RU" sz="1700" dirty="0" err="1"/>
                  <a:t>batch</a:t>
                </a:r>
                <a:r>
                  <a:rPr lang="ru-RU" sz="1700" dirty="0"/>
                  <a:t>_</a:t>
                </a:r>
                <a:r>
                  <a:rPr lang="en-US" sz="1700" dirty="0"/>
                  <a:t>size</a:t>
                </a:r>
                <a:r>
                  <a:rPr lang="ru-RU" sz="1700" dirty="0"/>
                  <a:t>, M]. Сравнивается с исходными SNP через MSE</a:t>
                </a:r>
              </a:p>
            </p:txBody>
          </p:sp>
        </mc:Choice>
        <mc:Fallback xmlns="">
          <p:sp>
            <p:nvSpPr>
              <p:cNvPr id="14" name="TextBox 13">
                <a:extLst>
                  <a:ext uri="{FF2B5EF4-FFF2-40B4-BE49-F238E27FC236}">
                    <a16:creationId xmlns:a16="http://schemas.microsoft.com/office/drawing/2014/main" id="{A1B76D9F-D70B-3A01-D511-C838640F3AFA}"/>
                  </a:ext>
                </a:extLst>
              </p:cNvPr>
              <p:cNvSpPr txBox="1">
                <a:spLocks noRot="1" noChangeAspect="1" noMove="1" noResize="1" noEditPoints="1" noAdjustHandles="1" noChangeArrowheads="1" noChangeShapeType="1" noTextEdit="1"/>
              </p:cNvSpPr>
              <p:nvPr/>
            </p:nvSpPr>
            <p:spPr>
              <a:xfrm>
                <a:off x="479376" y="1174830"/>
                <a:ext cx="11463064" cy="3231654"/>
              </a:xfrm>
              <a:prstGeom prst="rect">
                <a:avLst/>
              </a:prstGeom>
              <a:blipFill>
                <a:blip r:embed="rId3"/>
                <a:stretch>
                  <a:fillRect l="-372" t="-755" r="-53" b="-1698"/>
                </a:stretch>
              </a:blipFill>
            </p:spPr>
            <p:txBody>
              <a:bodyPr/>
              <a:lstStyle/>
              <a:p>
                <a:r>
                  <a:rPr lang="ru-RU">
                    <a:noFill/>
                  </a:rPr>
                  <a:t> </a:t>
                </a:r>
              </a:p>
            </p:txBody>
          </p:sp>
        </mc:Fallback>
      </mc:AlternateContent>
      <p:pic>
        <p:nvPicPr>
          <p:cNvPr id="16" name="Рисунок 15">
            <a:extLst>
              <a:ext uri="{FF2B5EF4-FFF2-40B4-BE49-F238E27FC236}">
                <a16:creationId xmlns:a16="http://schemas.microsoft.com/office/drawing/2014/main" id="{4B831975-8C54-68CB-6AC7-6DA852F9B43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600" y="4293096"/>
            <a:ext cx="10972800" cy="1909479"/>
          </a:xfrm>
          <a:prstGeom prst="rect">
            <a:avLst/>
          </a:prstGeom>
        </p:spPr>
      </p:pic>
    </p:spTree>
    <p:extLst>
      <p:ext uri="{BB962C8B-B14F-4D97-AF65-F5344CB8AC3E}">
        <p14:creationId xmlns:p14="http://schemas.microsoft.com/office/powerpoint/2010/main" val="1470515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E289E1-2022-E044-FDE3-8B2176FC4DA5}"/>
              </a:ext>
            </a:extLst>
          </p:cNvPr>
          <p:cNvSpPr>
            <a:spLocks noGrp="1"/>
          </p:cNvSpPr>
          <p:nvPr>
            <p:ph type="title"/>
          </p:nvPr>
        </p:nvSpPr>
        <p:spPr/>
        <p:txBody>
          <a:bodyPr>
            <a:normAutofit fontScale="90000"/>
          </a:bodyPr>
          <a:lstStyle/>
          <a:p>
            <a:r>
              <a:rPr lang="ru-RU" sz="3600" b="1" dirty="0"/>
              <a:t>Блок трансформера и предсказания</a:t>
            </a:r>
            <a:br>
              <a:rPr lang="ru-RU" dirty="0"/>
            </a:br>
            <a:endParaRPr lang="ru-RU" dirty="0"/>
          </a:p>
        </p:txBody>
      </p:sp>
      <p:sp>
        <p:nvSpPr>
          <p:cNvPr id="3" name="Номер слайда 2">
            <a:extLst>
              <a:ext uri="{FF2B5EF4-FFF2-40B4-BE49-F238E27FC236}">
                <a16:creationId xmlns:a16="http://schemas.microsoft.com/office/drawing/2014/main" id="{4844FEF3-C43D-AFF3-AED7-35C2DD392895}"/>
              </a:ext>
            </a:extLst>
          </p:cNvPr>
          <p:cNvSpPr>
            <a:spLocks noGrp="1"/>
          </p:cNvSpPr>
          <p:nvPr>
            <p:ph type="sldNum" sz="quarter" idx="12"/>
          </p:nvPr>
        </p:nvSpPr>
        <p:spPr/>
        <p:txBody>
          <a:bodyPr/>
          <a:lstStyle/>
          <a:p>
            <a:fld id="{B19B0651-EE4F-4900-A07F-96A6BFA9D0F0}" type="slidenum">
              <a:rPr lang="ru-RU" smtClean="0"/>
              <a:pPr/>
              <a:t>15</a:t>
            </a:fld>
            <a:endParaRPr lang="ru-RU"/>
          </a:p>
        </p:txBody>
      </p:sp>
      <mc:AlternateContent xmlns:mc="http://schemas.openxmlformats.org/markup-compatibility/2006" xmlns:a14="http://schemas.microsoft.com/office/drawing/2010/main">
        <mc:Choice Requires="a14">
          <p:sp>
            <p:nvSpPr>
              <p:cNvPr id="5" name="Объект 4">
                <a:extLst>
                  <a:ext uri="{FF2B5EF4-FFF2-40B4-BE49-F238E27FC236}">
                    <a16:creationId xmlns:a16="http://schemas.microsoft.com/office/drawing/2014/main" id="{35DF27A5-D155-190D-41DD-6471D21297A4}"/>
                  </a:ext>
                </a:extLst>
              </p:cNvPr>
              <p:cNvSpPr>
                <a:spLocks noGrp="1"/>
              </p:cNvSpPr>
              <p:nvPr>
                <p:ph sz="quarter" idx="2"/>
              </p:nvPr>
            </p:nvSpPr>
            <p:spPr>
              <a:xfrm>
                <a:off x="5967244" y="1216152"/>
                <a:ext cx="5764120" cy="4937760"/>
              </a:xfrm>
            </p:spPr>
            <p:txBody>
              <a:bodyPr>
                <a:normAutofit/>
              </a:bodyPr>
              <a:lstStyle/>
              <a:p>
                <a:r>
                  <a:rPr lang="ru-RU" sz="2000" b="1" dirty="0"/>
                  <a:t>Блок прогнозирования </a:t>
                </a:r>
              </a:p>
              <a:p>
                <a:pPr lvl="1"/>
                <a:r>
                  <a:rPr lang="ru-RU" sz="2000" b="1" dirty="0"/>
                  <a:t>CLS-токен</a:t>
                </a:r>
                <a:r>
                  <a:rPr lang="ru-RU" sz="2000" dirty="0"/>
                  <a:t> — специальный вектор, добавляемый в начало последовательности. После трансформера он содержит глобальную информацию о геноме.</a:t>
                </a:r>
              </a:p>
              <a:p>
                <a:pPr lvl="1"/>
                <a:r>
                  <a:rPr lang="ru-RU" sz="2000" b="1" dirty="0"/>
                  <a:t>Гибридная агрегация:</a:t>
                </a:r>
                <a:r>
                  <a:rPr lang="ru-RU" sz="2000" dirty="0"/>
                  <a:t> комбинация CLS-токена и внимания ко всем генам</a:t>
                </a:r>
              </a:p>
              <a:p>
                <a:pPr lvl="1"/>
                <a:r>
                  <a:rPr lang="ru-RU" sz="2000" dirty="0"/>
                  <a:t>Два </a:t>
                </a:r>
                <a:r>
                  <a:rPr lang="ru-RU" sz="2000" dirty="0" err="1"/>
                  <a:t>полносвязных</a:t>
                </a:r>
                <a:r>
                  <a:rPr lang="ru-RU" sz="2000" dirty="0"/>
                  <a:t> слоя с активацией </a:t>
                </a:r>
                <a:r>
                  <a:rPr lang="ru-RU" sz="2000" dirty="0" err="1"/>
                  <a:t>ReLU</a:t>
                </a:r>
                <a:r>
                  <a:rPr lang="ru-RU" sz="2000" dirty="0"/>
                  <a:t> и </a:t>
                </a:r>
                <a:r>
                  <a:rPr lang="ru-RU" sz="2000" dirty="0" err="1"/>
                  <a:t>Dropout</a:t>
                </a:r>
                <a:r>
                  <a:rPr lang="ru-RU" sz="2000" dirty="0"/>
                  <a:t> (0.3)</a:t>
                </a:r>
              </a:p>
              <a:p>
                <a:r>
                  <a:rPr lang="ru-RU" sz="2000" b="1" i="1" dirty="0"/>
                  <a:t>Вход</a:t>
                </a:r>
                <a:r>
                  <a:rPr lang="ru-RU" sz="2000" i="1" dirty="0"/>
                  <a:t>: матрица </a:t>
                </a:r>
                <a:r>
                  <a:rPr lang="ru-RU" sz="2000" i="1" dirty="0" err="1"/>
                  <a:t>эмбеддингов</a:t>
                </a:r>
                <a:r>
                  <a:rPr lang="ru-RU" sz="2000" i="1" dirty="0"/>
                  <a:t> генов [</a:t>
                </a:r>
                <a14:m>
                  <m:oMath xmlns:m="http://schemas.openxmlformats.org/officeDocument/2006/math">
                    <m:sSub>
                      <m:sSubPr>
                        <m:ctrlPr>
                          <a:rPr lang="ru-RU" sz="2000" i="1">
                            <a:latin typeface="Cambria Math" panose="02040503050406030204" pitchFamily="18" charset="0"/>
                          </a:rPr>
                        </m:ctrlPr>
                      </m:sSubPr>
                      <m:e>
                        <m:r>
                          <a:rPr lang="ru-RU" sz="2000" i="1">
                            <a:latin typeface="Cambria Math" panose="02040503050406030204" pitchFamily="18" charset="0"/>
                          </a:rPr>
                          <m:t>𝑁</m:t>
                        </m:r>
                      </m:e>
                      <m:sub>
                        <m:r>
                          <m:rPr>
                            <m:nor/>
                          </m:rPr>
                          <a:rPr lang="ru-RU" sz="2000" i="1"/>
                          <m:t>генов</m:t>
                        </m:r>
                      </m:sub>
                    </m:sSub>
                    <m:r>
                      <a:rPr lang="ru-RU" sz="2000" i="1">
                        <a:latin typeface="Cambria Math" panose="02040503050406030204" pitchFamily="18" charset="0"/>
                      </a:rPr>
                      <m:t> </m:t>
                    </m:r>
                  </m:oMath>
                </a14:m>
                <a:r>
                  <a:rPr lang="ru-RU" sz="2000" i="1" dirty="0"/>
                  <a:t>× d]</a:t>
                </a:r>
              </a:p>
              <a:p>
                <a:r>
                  <a:rPr lang="ru-RU" sz="2000" b="1" i="1" dirty="0"/>
                  <a:t>Выход</a:t>
                </a:r>
                <a:r>
                  <a:rPr lang="ru-RU" sz="2000" i="1" dirty="0"/>
                  <a:t>: вектор</a:t>
                </a:r>
                <a:r>
                  <a:rPr lang="en-US" sz="2000" i="1" dirty="0"/>
                  <a:t> </a:t>
                </a:r>
                <a:r>
                  <a:rPr lang="ru-RU" sz="2000" i="1" dirty="0"/>
                  <a:t>[</a:t>
                </a:r>
                <a14:m>
                  <m:oMath xmlns:m="http://schemas.openxmlformats.org/officeDocument/2006/math">
                    <m:r>
                      <a:rPr lang="en-US" sz="2000" b="0" i="1" smtClean="0">
                        <a:latin typeface="Cambria Math" panose="02040503050406030204" pitchFamily="18" charset="0"/>
                      </a:rPr>
                      <m:t>𝑘</m:t>
                    </m:r>
                  </m:oMath>
                </a14:m>
                <a:r>
                  <a:rPr lang="ru-RU" sz="2000" i="1" dirty="0"/>
                  <a:t>]</a:t>
                </a:r>
                <a:r>
                  <a:rPr lang="en-US" sz="2000" i="1" dirty="0"/>
                  <a:t>, </a:t>
                </a:r>
                <a:r>
                  <a:rPr lang="ru-RU" sz="2000" i="1" dirty="0"/>
                  <a:t>где </a:t>
                </a:r>
                <a:r>
                  <a:rPr lang="en-US" sz="2000" i="1" dirty="0"/>
                  <a:t>k – </a:t>
                </a:r>
                <a:r>
                  <a:rPr lang="ru-RU" sz="2000" i="1" dirty="0"/>
                  <a:t>количество предсказываемых фенотипических признаков</a:t>
                </a:r>
                <a:endParaRPr lang="ru-RU" sz="2000" dirty="0"/>
              </a:p>
              <a:p>
                <a:pPr lvl="1"/>
                <a:endParaRPr lang="ru-RU" dirty="0"/>
              </a:p>
            </p:txBody>
          </p:sp>
        </mc:Choice>
        <mc:Fallback xmlns="">
          <p:sp>
            <p:nvSpPr>
              <p:cNvPr id="5" name="Объект 4">
                <a:extLst>
                  <a:ext uri="{FF2B5EF4-FFF2-40B4-BE49-F238E27FC236}">
                    <a16:creationId xmlns:a16="http://schemas.microsoft.com/office/drawing/2014/main" id="{35DF27A5-D155-190D-41DD-6471D21297A4}"/>
                  </a:ext>
                </a:extLst>
              </p:cNvPr>
              <p:cNvSpPr>
                <a:spLocks noGrp="1" noRot="1" noChangeAspect="1" noMove="1" noResize="1" noEditPoints="1" noAdjustHandles="1" noChangeArrowheads="1" noChangeShapeType="1" noTextEdit="1"/>
              </p:cNvSpPr>
              <p:nvPr>
                <p:ph sz="quarter" idx="2"/>
              </p:nvPr>
            </p:nvSpPr>
            <p:spPr>
              <a:xfrm>
                <a:off x="5967244" y="1216152"/>
                <a:ext cx="5764120" cy="4937760"/>
              </a:xfrm>
              <a:blipFill>
                <a:blip r:embed="rId2"/>
                <a:stretch>
                  <a:fillRect l="-423" t="-741" r="-847"/>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6" name="Объект 7">
                <a:extLst>
                  <a:ext uri="{FF2B5EF4-FFF2-40B4-BE49-F238E27FC236}">
                    <a16:creationId xmlns:a16="http://schemas.microsoft.com/office/drawing/2014/main" id="{A32BBC0E-D963-013A-18C5-7EE87CFB0B00}"/>
                  </a:ext>
                </a:extLst>
              </p:cNvPr>
              <p:cNvSpPr txBox="1">
                <a:spLocks/>
              </p:cNvSpPr>
              <p:nvPr/>
            </p:nvSpPr>
            <p:spPr>
              <a:xfrm>
                <a:off x="479376" y="1216152"/>
                <a:ext cx="5616624" cy="4733128"/>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ru-RU" sz="2000" b="1" dirty="0" err="1"/>
                  <a:t>Трансформерный</a:t>
                </a:r>
                <a:r>
                  <a:rPr lang="ru-RU" sz="2000" b="1" dirty="0"/>
                  <a:t> блок</a:t>
                </a:r>
                <a:endParaRPr lang="ru-RU" sz="2000" dirty="0"/>
              </a:p>
              <a:p>
                <a:pPr lvl="1"/>
                <a:r>
                  <a:rPr lang="ru-RU" sz="2000" dirty="0"/>
                  <a:t>Многослойный энкодер с механизмом многоголового </a:t>
                </a:r>
                <a:r>
                  <a:rPr lang="ru-RU" sz="2000" dirty="0" err="1"/>
                  <a:t>самовнимания</a:t>
                </a:r>
                <a:endParaRPr lang="ru-RU" sz="2000" dirty="0"/>
              </a:p>
              <a:p>
                <a:pPr lvl="1"/>
                <a:r>
                  <a:rPr lang="ru-RU" sz="2000" dirty="0"/>
                  <a:t>Каждый ген «видит» все остальные гены</a:t>
                </a:r>
              </a:p>
              <a:p>
                <a:pPr lvl="1"/>
                <a:r>
                  <a:rPr lang="ru-RU" sz="2000" dirty="0"/>
                  <a:t>Активация GELU в </a:t>
                </a:r>
                <a:r>
                  <a:rPr lang="ru-RU" sz="2000" dirty="0" err="1"/>
                  <a:t>feed-forward</a:t>
                </a:r>
                <a:r>
                  <a:rPr lang="ru-RU" sz="2000" dirty="0"/>
                  <a:t> слоях</a:t>
                </a:r>
              </a:p>
              <a:p>
                <a:pPr lvl="1"/>
                <a:r>
                  <a:rPr lang="ru-RU" sz="2000" dirty="0" err="1"/>
                  <a:t>Dropout</a:t>
                </a:r>
                <a:r>
                  <a:rPr lang="ru-RU" sz="2000" dirty="0"/>
                  <a:t> для регуляризации (p = 0.2)</a:t>
                </a:r>
              </a:p>
              <a:p>
                <a:r>
                  <a:rPr lang="ru-RU" sz="2000" b="1" i="1" dirty="0"/>
                  <a:t>Вход</a:t>
                </a:r>
                <a:r>
                  <a:rPr lang="ru-RU" sz="2000" i="1" dirty="0"/>
                  <a:t>: матрица </a:t>
                </a:r>
                <a:r>
                  <a:rPr lang="ru-RU" sz="2000" i="1" dirty="0" err="1"/>
                  <a:t>эмбеддингов</a:t>
                </a:r>
                <a:r>
                  <a:rPr lang="ru-RU" sz="2000" i="1" dirty="0"/>
                  <a:t> генов [</a:t>
                </a:r>
                <a14:m>
                  <m:oMath xmlns:m="http://schemas.openxmlformats.org/officeDocument/2006/math">
                    <m:sSub>
                      <m:sSubPr>
                        <m:ctrlPr>
                          <a:rPr lang="ru-RU" sz="2000" i="1">
                            <a:latin typeface="Cambria Math" panose="02040503050406030204" pitchFamily="18" charset="0"/>
                          </a:rPr>
                        </m:ctrlPr>
                      </m:sSubPr>
                      <m:e>
                        <m:r>
                          <a:rPr lang="ru-RU" sz="2000" i="1">
                            <a:latin typeface="Cambria Math" panose="02040503050406030204" pitchFamily="18" charset="0"/>
                          </a:rPr>
                          <m:t>𝑁</m:t>
                        </m:r>
                      </m:e>
                      <m:sub>
                        <m:r>
                          <m:rPr>
                            <m:nor/>
                          </m:rPr>
                          <a:rPr lang="ru-RU" sz="2000" i="1"/>
                          <m:t>г</m:t>
                        </m:r>
                        <m:r>
                          <m:rPr>
                            <m:nor/>
                          </m:rPr>
                          <a:rPr lang="ru-RU" sz="2000" b="0" i="1" smtClean="0"/>
                          <m:t>енов</m:t>
                        </m:r>
                      </m:sub>
                    </m:sSub>
                    <m:r>
                      <a:rPr lang="ru-RU" sz="2000" i="1">
                        <a:latin typeface="Cambria Math" panose="02040503050406030204" pitchFamily="18" charset="0"/>
                      </a:rPr>
                      <m:t> </m:t>
                    </m:r>
                  </m:oMath>
                </a14:m>
                <a:r>
                  <a:rPr lang="ru-RU" sz="2000" i="1" dirty="0"/>
                  <a:t>× d]</a:t>
                </a:r>
              </a:p>
              <a:p>
                <a:r>
                  <a:rPr lang="ru-RU" sz="2000" b="1" i="1" dirty="0"/>
                  <a:t>Выход</a:t>
                </a:r>
                <a:r>
                  <a:rPr lang="ru-RU" sz="2000" i="1" dirty="0"/>
                  <a:t>: матрица той же размерности [</a:t>
                </a:r>
                <a14:m>
                  <m:oMath xmlns:m="http://schemas.openxmlformats.org/officeDocument/2006/math">
                    <m:sSub>
                      <m:sSubPr>
                        <m:ctrlPr>
                          <a:rPr lang="ru-RU" sz="2000" i="1">
                            <a:latin typeface="Cambria Math" panose="02040503050406030204" pitchFamily="18" charset="0"/>
                          </a:rPr>
                        </m:ctrlPr>
                      </m:sSubPr>
                      <m:e>
                        <m:r>
                          <a:rPr lang="ru-RU" sz="2000" i="1">
                            <a:latin typeface="Cambria Math" panose="02040503050406030204" pitchFamily="18" charset="0"/>
                          </a:rPr>
                          <m:t>𝑁</m:t>
                        </m:r>
                      </m:e>
                      <m:sub>
                        <m:r>
                          <m:rPr>
                            <m:nor/>
                          </m:rPr>
                          <a:rPr lang="ru-RU" sz="2000" i="1"/>
                          <m:t>генов</m:t>
                        </m:r>
                      </m:sub>
                    </m:sSub>
                  </m:oMath>
                </a14:m>
                <a:r>
                  <a:rPr lang="ru-RU" sz="2000" i="1" dirty="0"/>
                  <a:t> × d]</a:t>
                </a:r>
                <a:endParaRPr lang="ru-RU" sz="2000" dirty="0"/>
              </a:p>
              <a:p>
                <a:endParaRPr lang="ru-RU" dirty="0"/>
              </a:p>
            </p:txBody>
          </p:sp>
        </mc:Choice>
        <mc:Fallback xmlns="">
          <p:sp>
            <p:nvSpPr>
              <p:cNvPr id="6" name="Объект 7">
                <a:extLst>
                  <a:ext uri="{FF2B5EF4-FFF2-40B4-BE49-F238E27FC236}">
                    <a16:creationId xmlns:a16="http://schemas.microsoft.com/office/drawing/2014/main" id="{A32BBC0E-D963-013A-18C5-7EE87CFB0B00}"/>
                  </a:ext>
                </a:extLst>
              </p:cNvPr>
              <p:cNvSpPr txBox="1">
                <a:spLocks noRot="1" noChangeAspect="1" noMove="1" noResize="1" noEditPoints="1" noAdjustHandles="1" noChangeArrowheads="1" noChangeShapeType="1" noTextEdit="1"/>
              </p:cNvSpPr>
              <p:nvPr/>
            </p:nvSpPr>
            <p:spPr>
              <a:xfrm>
                <a:off x="479376" y="1216152"/>
                <a:ext cx="5616624" cy="4733128"/>
              </a:xfrm>
              <a:prstGeom prst="rect">
                <a:avLst/>
              </a:prstGeom>
              <a:blipFill>
                <a:blip r:embed="rId3"/>
                <a:stretch>
                  <a:fillRect l="-434" t="-773"/>
                </a:stretch>
              </a:blipFill>
            </p:spPr>
            <p:txBody>
              <a:bodyPr/>
              <a:lstStyle/>
              <a:p>
                <a:r>
                  <a:rPr lang="ru-RU">
                    <a:noFill/>
                  </a:rPr>
                  <a:t> </a:t>
                </a:r>
              </a:p>
            </p:txBody>
          </p:sp>
        </mc:Fallback>
      </mc:AlternateContent>
    </p:spTree>
    <p:extLst>
      <p:ext uri="{BB962C8B-B14F-4D97-AF65-F5344CB8AC3E}">
        <p14:creationId xmlns:p14="http://schemas.microsoft.com/office/powerpoint/2010/main" val="2582652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DA398E4-5AAC-99C3-124D-5E6420F98170}"/>
              </a:ext>
            </a:extLst>
          </p:cNvPr>
          <p:cNvSpPr>
            <a:spLocks noGrp="1"/>
          </p:cNvSpPr>
          <p:nvPr>
            <p:ph type="title"/>
          </p:nvPr>
        </p:nvSpPr>
        <p:spPr/>
        <p:txBody>
          <a:bodyPr>
            <a:normAutofit fontScale="90000"/>
          </a:bodyPr>
          <a:lstStyle/>
          <a:p>
            <a:r>
              <a:rPr lang="ru-RU" b="1" dirty="0"/>
              <a:t>Результаты оптимизации </a:t>
            </a:r>
            <a:r>
              <a:rPr lang="ru-RU" b="1" dirty="0" err="1"/>
              <a:t>гиперпараметров</a:t>
            </a:r>
            <a:br>
              <a:rPr lang="ru-RU" b="1" dirty="0"/>
            </a:br>
            <a:endParaRPr lang="ru-RU" dirty="0"/>
          </a:p>
        </p:txBody>
      </p:sp>
      <p:sp>
        <p:nvSpPr>
          <p:cNvPr id="3" name="Номер слайда 2">
            <a:extLst>
              <a:ext uri="{FF2B5EF4-FFF2-40B4-BE49-F238E27FC236}">
                <a16:creationId xmlns:a16="http://schemas.microsoft.com/office/drawing/2014/main" id="{B4CDA132-3A64-0D95-4EB6-801B211551B7}"/>
              </a:ext>
            </a:extLst>
          </p:cNvPr>
          <p:cNvSpPr>
            <a:spLocks noGrp="1"/>
          </p:cNvSpPr>
          <p:nvPr>
            <p:ph type="sldNum" sz="quarter" idx="12"/>
          </p:nvPr>
        </p:nvSpPr>
        <p:spPr/>
        <p:txBody>
          <a:bodyPr/>
          <a:lstStyle/>
          <a:p>
            <a:fld id="{B19B0651-EE4F-4900-A07F-96A6BFA9D0F0}" type="slidenum">
              <a:rPr lang="ru-RU" smtClean="0"/>
              <a:pPr/>
              <a:t>16</a:t>
            </a:fld>
            <a:endParaRPr lang="ru-RU"/>
          </a:p>
        </p:txBody>
      </p:sp>
      <p:sp>
        <p:nvSpPr>
          <p:cNvPr id="10" name="TextBox 9">
            <a:extLst>
              <a:ext uri="{FF2B5EF4-FFF2-40B4-BE49-F238E27FC236}">
                <a16:creationId xmlns:a16="http://schemas.microsoft.com/office/drawing/2014/main" id="{BFA6310C-D2DA-EC5C-8259-CA69170A0874}"/>
              </a:ext>
            </a:extLst>
          </p:cNvPr>
          <p:cNvSpPr txBox="1"/>
          <p:nvPr/>
        </p:nvSpPr>
        <p:spPr>
          <a:xfrm>
            <a:off x="609600" y="4287520"/>
            <a:ext cx="10972800" cy="1938992"/>
          </a:xfrm>
          <a:prstGeom prst="rect">
            <a:avLst/>
          </a:prstGeom>
          <a:noFill/>
        </p:spPr>
        <p:txBody>
          <a:bodyPr wrap="square">
            <a:spAutoFit/>
          </a:bodyPr>
          <a:lstStyle/>
          <a:p>
            <a:r>
              <a:rPr lang="ru-RU" sz="2000" b="1" dirty="0"/>
              <a:t>Выводы:</a:t>
            </a:r>
            <a:endParaRPr lang="ru-RU" sz="2000" dirty="0"/>
          </a:p>
          <a:p>
            <a:pPr marL="285750" indent="-285750">
              <a:buFont typeface="Arial" panose="020B0604020202020204" pitchFamily="34" charset="0"/>
              <a:buChar char="•"/>
            </a:pPr>
            <a:r>
              <a:rPr lang="ru-RU" sz="2000" dirty="0"/>
              <a:t>Оптимизация </a:t>
            </a:r>
            <a:r>
              <a:rPr lang="ru-RU" sz="2000" dirty="0" err="1"/>
              <a:t>гиперпараметров</a:t>
            </a:r>
            <a:r>
              <a:rPr lang="ru-RU" sz="2000" dirty="0"/>
              <a:t> повышает корреляцию, но не устраняет нестабильность</a:t>
            </a:r>
          </a:p>
          <a:p>
            <a:pPr marL="285750" indent="-285750">
              <a:buFont typeface="Arial" panose="020B0604020202020204" pitchFamily="34" charset="0"/>
              <a:buChar char="•"/>
            </a:pPr>
            <a:r>
              <a:rPr lang="ru-RU" sz="2000" dirty="0"/>
              <a:t>Механизм внимания на уровне SNP стабилизирует обучение и лучше сохраняет дисперсию</a:t>
            </a:r>
          </a:p>
          <a:p>
            <a:pPr marL="285750" indent="-285750">
              <a:buFont typeface="Arial" panose="020B0604020202020204" pitchFamily="34" charset="0"/>
              <a:buChar char="•"/>
            </a:pPr>
            <a:r>
              <a:rPr lang="ru-RU" sz="2000" dirty="0"/>
              <a:t>Итоговая архитектура выбирает стабильность и сохранение индивидуальных различий в ущерб максимальной корреляции</a:t>
            </a:r>
          </a:p>
        </p:txBody>
      </p:sp>
      <p:graphicFrame>
        <p:nvGraphicFramePr>
          <p:cNvPr id="11" name="Таблица 10">
            <a:extLst>
              <a:ext uri="{FF2B5EF4-FFF2-40B4-BE49-F238E27FC236}">
                <a16:creationId xmlns:a16="http://schemas.microsoft.com/office/drawing/2014/main" id="{D555FE78-6E5C-0655-D6EF-62F07D79CB94}"/>
              </a:ext>
            </a:extLst>
          </p:cNvPr>
          <p:cNvGraphicFramePr>
            <a:graphicFrameLocks noGrp="1"/>
          </p:cNvGraphicFramePr>
          <p:nvPr>
            <p:extLst>
              <p:ext uri="{D42A27DB-BD31-4B8C-83A1-F6EECF244321}">
                <p14:modId xmlns:p14="http://schemas.microsoft.com/office/powerpoint/2010/main" val="765929381"/>
              </p:ext>
            </p:extLst>
          </p:nvPr>
        </p:nvGraphicFramePr>
        <p:xfrm>
          <a:off x="614176" y="1329118"/>
          <a:ext cx="10234352" cy="2852420"/>
        </p:xfrm>
        <a:graphic>
          <a:graphicData uri="http://schemas.openxmlformats.org/drawingml/2006/table">
            <a:tbl>
              <a:tblPr firstRow="1" bandRow="1">
                <a:tableStyleId>{5C22544A-7EE6-4342-B048-85BDC9FD1C3A}</a:tableStyleId>
              </a:tblPr>
              <a:tblGrid>
                <a:gridCol w="1665400">
                  <a:extLst>
                    <a:ext uri="{9D8B030D-6E8A-4147-A177-3AD203B41FA5}">
                      <a16:colId xmlns:a16="http://schemas.microsoft.com/office/drawing/2014/main" val="1320445612"/>
                    </a:ext>
                  </a:extLst>
                </a:gridCol>
                <a:gridCol w="3816424">
                  <a:extLst>
                    <a:ext uri="{9D8B030D-6E8A-4147-A177-3AD203B41FA5}">
                      <a16:colId xmlns:a16="http://schemas.microsoft.com/office/drawing/2014/main" val="2078672616"/>
                    </a:ext>
                  </a:extLst>
                </a:gridCol>
                <a:gridCol w="936104">
                  <a:extLst>
                    <a:ext uri="{9D8B030D-6E8A-4147-A177-3AD203B41FA5}">
                      <a16:colId xmlns:a16="http://schemas.microsoft.com/office/drawing/2014/main" val="1239095769"/>
                    </a:ext>
                  </a:extLst>
                </a:gridCol>
                <a:gridCol w="894221">
                  <a:extLst>
                    <a:ext uri="{9D8B030D-6E8A-4147-A177-3AD203B41FA5}">
                      <a16:colId xmlns:a16="http://schemas.microsoft.com/office/drawing/2014/main" val="2761494004"/>
                    </a:ext>
                  </a:extLst>
                </a:gridCol>
                <a:gridCol w="1410035">
                  <a:extLst>
                    <a:ext uri="{9D8B030D-6E8A-4147-A177-3AD203B41FA5}">
                      <a16:colId xmlns:a16="http://schemas.microsoft.com/office/drawing/2014/main" val="1127206464"/>
                    </a:ext>
                  </a:extLst>
                </a:gridCol>
                <a:gridCol w="1512168">
                  <a:extLst>
                    <a:ext uri="{9D8B030D-6E8A-4147-A177-3AD203B41FA5}">
                      <a16:colId xmlns:a16="http://schemas.microsoft.com/office/drawing/2014/main" val="1128168407"/>
                    </a:ext>
                  </a:extLst>
                </a:gridCol>
              </a:tblGrid>
              <a:tr h="872485">
                <a:tc>
                  <a:txBody>
                    <a:bodyPr/>
                    <a:lstStyle/>
                    <a:p>
                      <a:pPr algn="ctr">
                        <a:lnSpc>
                          <a:spcPct val="250000"/>
                        </a:lnSpc>
                      </a:pPr>
                      <a:r>
                        <a:rPr lang="ru-RU" b="1" dirty="0">
                          <a:latin typeface="+mn-lt"/>
                        </a:rPr>
                        <a:t>Эксперимент</a:t>
                      </a:r>
                    </a:p>
                  </a:txBody>
                  <a:tcPr/>
                </a:tc>
                <a:tc>
                  <a:txBody>
                    <a:bodyPr/>
                    <a:lstStyle/>
                    <a:p>
                      <a:pPr algn="ctr">
                        <a:lnSpc>
                          <a:spcPct val="250000"/>
                        </a:lnSpc>
                      </a:pPr>
                      <a:r>
                        <a:rPr lang="ru-RU" b="1" dirty="0">
                          <a:latin typeface="+mn-lt"/>
                        </a:rPr>
                        <a:t>Ключевое изменение</a:t>
                      </a:r>
                    </a:p>
                  </a:txBody>
                  <a:tcPr/>
                </a:tc>
                <a:tc>
                  <a:txBody>
                    <a:bodyPr/>
                    <a:lstStyle/>
                    <a:p>
                      <a:pPr algn="ctr">
                        <a:lnSpc>
                          <a:spcPts val="1875"/>
                        </a:lnSpc>
                        <a:buNone/>
                      </a:pPr>
                      <a:r>
                        <a:rPr lang="ru-RU" b="1" dirty="0">
                          <a:effectLst/>
                          <a:latin typeface="+mn-lt"/>
                        </a:rPr>
                        <a:t>TSW (r)</a:t>
                      </a:r>
                    </a:p>
                  </a:txBody>
                  <a:tcPr marL="121920" marR="121920" marT="76200" marB="76200" anchor="ctr"/>
                </a:tc>
                <a:tc>
                  <a:txBody>
                    <a:bodyPr/>
                    <a:lstStyle/>
                    <a:p>
                      <a:pPr algn="ctr">
                        <a:lnSpc>
                          <a:spcPts val="1875"/>
                        </a:lnSpc>
                        <a:buNone/>
                      </a:pPr>
                      <a:r>
                        <a:rPr lang="ru-RU" b="1" dirty="0" err="1">
                          <a:effectLst/>
                          <a:latin typeface="+mn-lt"/>
                        </a:rPr>
                        <a:t>Pht</a:t>
                      </a:r>
                      <a:r>
                        <a:rPr lang="ru-RU" b="1" dirty="0">
                          <a:effectLst/>
                          <a:latin typeface="+mn-lt"/>
                        </a:rPr>
                        <a:t> (r)</a:t>
                      </a:r>
                    </a:p>
                  </a:txBody>
                  <a:tcPr marL="121920" marR="121920" marT="76200" marB="762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dirty="0"/>
                        <a:t>Сжатие дисперсии </a:t>
                      </a:r>
                      <a:r>
                        <a:rPr lang="ru-RU" b="1" dirty="0">
                          <a:effectLst/>
                          <a:latin typeface="+mn-lt"/>
                        </a:rPr>
                        <a:t>TSW </a:t>
                      </a:r>
                    </a:p>
                    <a:p>
                      <a:pPr algn="ctr"/>
                      <a:endParaRPr lang="ru-RU" dirty="0"/>
                    </a:p>
                  </a:txBody>
                  <a:tcPr/>
                </a:tc>
                <a:tc>
                  <a:txBody>
                    <a:bodyPr/>
                    <a:lstStyle/>
                    <a:p>
                      <a:pPr algn="ctr"/>
                      <a:r>
                        <a:rPr lang="ru-RU" dirty="0"/>
                        <a:t>Сжатие дисперсии </a:t>
                      </a:r>
                      <a:r>
                        <a:rPr lang="en-US" dirty="0" err="1"/>
                        <a:t>Pht</a:t>
                      </a:r>
                      <a:endParaRPr lang="ru-RU" dirty="0"/>
                    </a:p>
                  </a:txBody>
                  <a:tcPr/>
                </a:tc>
                <a:extLst>
                  <a:ext uri="{0D108BD9-81ED-4DB2-BD59-A6C34878D82A}">
                    <a16:rowId xmlns:a16="http://schemas.microsoft.com/office/drawing/2014/main" val="2665055475"/>
                  </a:ext>
                </a:extLst>
              </a:tr>
              <a:tr h="375653">
                <a:tc>
                  <a:txBody>
                    <a:bodyPr/>
                    <a:lstStyle/>
                    <a:p>
                      <a:pPr>
                        <a:lnSpc>
                          <a:spcPts val="1875"/>
                        </a:lnSpc>
                        <a:buNone/>
                      </a:pPr>
                      <a:r>
                        <a:rPr lang="ru-RU" b="0">
                          <a:effectLst/>
                          <a:latin typeface="+mn-lt"/>
                        </a:rPr>
                        <a:t>Базовый</a:t>
                      </a:r>
                    </a:p>
                  </a:txBody>
                  <a:tcPr marR="121920" marT="76200" marB="76200" anchor="ctr"/>
                </a:tc>
                <a:tc>
                  <a:txBody>
                    <a:bodyPr/>
                    <a:lstStyle/>
                    <a:p>
                      <a:pPr>
                        <a:lnSpc>
                          <a:spcPts val="1875"/>
                        </a:lnSpc>
                        <a:buNone/>
                      </a:pPr>
                      <a:r>
                        <a:rPr lang="ru-RU" b="0">
                          <a:effectLst/>
                          <a:latin typeface="+mn-lt"/>
                        </a:rPr>
                        <a:t>Свёрточная агрегация SNP, MSE</a:t>
                      </a:r>
                    </a:p>
                  </a:txBody>
                  <a:tcPr marL="121920" marR="121920" marT="76200" marB="76200" anchor="ctr"/>
                </a:tc>
                <a:tc>
                  <a:txBody>
                    <a:bodyPr/>
                    <a:lstStyle/>
                    <a:p>
                      <a:pPr>
                        <a:lnSpc>
                          <a:spcPts val="1875"/>
                        </a:lnSpc>
                        <a:buNone/>
                      </a:pPr>
                      <a:r>
                        <a:rPr lang="ru-RU" b="0">
                          <a:effectLst/>
                          <a:latin typeface="+mn-lt"/>
                        </a:rPr>
                        <a:t>0.907</a:t>
                      </a:r>
                    </a:p>
                  </a:txBody>
                  <a:tcPr marL="121920" marR="121920" marT="76200" marB="76200" anchor="ctr"/>
                </a:tc>
                <a:tc>
                  <a:txBody>
                    <a:bodyPr/>
                    <a:lstStyle/>
                    <a:p>
                      <a:pPr>
                        <a:lnSpc>
                          <a:spcPts val="1875"/>
                        </a:lnSpc>
                        <a:buNone/>
                      </a:pPr>
                      <a:r>
                        <a:rPr lang="ru-RU" b="0" dirty="0">
                          <a:effectLst/>
                          <a:latin typeface="+mn-lt"/>
                        </a:rPr>
                        <a:t>0.775</a:t>
                      </a:r>
                    </a:p>
                  </a:txBody>
                  <a:tcPr marL="121920" marR="121920" marT="76200" marB="76200" anchor="ctr"/>
                </a:tc>
                <a:tc>
                  <a:txBody>
                    <a:bodyPr/>
                    <a:lstStyle/>
                    <a:p>
                      <a:r>
                        <a:rPr lang="ru-RU" dirty="0"/>
                        <a:t>31%</a:t>
                      </a:r>
                    </a:p>
                  </a:txBody>
                  <a:tcPr/>
                </a:tc>
                <a:tc>
                  <a:txBody>
                    <a:bodyPr/>
                    <a:lstStyle/>
                    <a:p>
                      <a:r>
                        <a:rPr lang="en-US" dirty="0"/>
                        <a:t>40%</a:t>
                      </a:r>
                      <a:endParaRPr lang="ru-RU" dirty="0"/>
                    </a:p>
                  </a:txBody>
                  <a:tcPr/>
                </a:tc>
                <a:extLst>
                  <a:ext uri="{0D108BD9-81ED-4DB2-BD59-A6C34878D82A}">
                    <a16:rowId xmlns:a16="http://schemas.microsoft.com/office/drawing/2014/main" val="973586276"/>
                  </a:ext>
                </a:extLst>
              </a:tr>
              <a:tr h="605892">
                <a:tc>
                  <a:txBody>
                    <a:bodyPr/>
                    <a:lstStyle/>
                    <a:p>
                      <a:pPr>
                        <a:lnSpc>
                          <a:spcPts val="1875"/>
                        </a:lnSpc>
                        <a:buNone/>
                      </a:pPr>
                      <a:r>
                        <a:rPr lang="ru-RU" b="0" dirty="0">
                          <a:effectLst/>
                          <a:latin typeface="+mn-lt"/>
                        </a:rPr>
                        <a:t>Первый эксперимент</a:t>
                      </a:r>
                    </a:p>
                  </a:txBody>
                  <a:tcPr marR="121920" marT="76200" marB="76200" anchor="ctr"/>
                </a:tc>
                <a:tc>
                  <a:txBody>
                    <a:bodyPr/>
                    <a:lstStyle/>
                    <a:p>
                      <a:pPr>
                        <a:lnSpc>
                          <a:spcPts val="1875"/>
                        </a:lnSpc>
                        <a:buNone/>
                      </a:pPr>
                      <a:r>
                        <a:rPr lang="ru-RU" b="0">
                          <a:effectLst/>
                          <a:latin typeface="+mn-lt"/>
                        </a:rPr>
                        <a:t>+ SmoothL1Loss + MixUp + scheduler</a:t>
                      </a:r>
                    </a:p>
                  </a:txBody>
                  <a:tcPr marL="121920" marR="121920" marT="76200" marB="76200" anchor="ctr"/>
                </a:tc>
                <a:tc>
                  <a:txBody>
                    <a:bodyPr/>
                    <a:lstStyle/>
                    <a:p>
                      <a:pPr>
                        <a:lnSpc>
                          <a:spcPts val="1875"/>
                        </a:lnSpc>
                        <a:buNone/>
                      </a:pPr>
                      <a:r>
                        <a:rPr lang="ru-RU" b="0">
                          <a:effectLst/>
                          <a:latin typeface="+mn-lt"/>
                        </a:rPr>
                        <a:t>0.910</a:t>
                      </a:r>
                    </a:p>
                  </a:txBody>
                  <a:tcPr marL="121920" marR="121920" marT="76200" marB="76200" anchor="ctr"/>
                </a:tc>
                <a:tc>
                  <a:txBody>
                    <a:bodyPr/>
                    <a:lstStyle/>
                    <a:p>
                      <a:pPr>
                        <a:lnSpc>
                          <a:spcPts val="1875"/>
                        </a:lnSpc>
                        <a:buNone/>
                      </a:pPr>
                      <a:r>
                        <a:rPr lang="ru-RU" b="0" dirty="0">
                          <a:effectLst/>
                          <a:latin typeface="+mn-lt"/>
                        </a:rPr>
                        <a:t>0.790</a:t>
                      </a:r>
                    </a:p>
                  </a:txBody>
                  <a:tcPr marL="121920" marR="121920" marT="76200" marB="76200" anchor="ctr"/>
                </a:tc>
                <a:tc>
                  <a:txBody>
                    <a:bodyPr/>
                    <a:lstStyle/>
                    <a:p>
                      <a:r>
                        <a:rPr lang="ru-RU" dirty="0"/>
                        <a:t>31%</a:t>
                      </a:r>
                    </a:p>
                  </a:txBody>
                  <a:tcPr/>
                </a:tc>
                <a:tc>
                  <a:txBody>
                    <a:bodyPr/>
                    <a:lstStyle/>
                    <a:p>
                      <a:r>
                        <a:rPr lang="ru-RU" dirty="0"/>
                        <a:t>40</a:t>
                      </a:r>
                      <a:r>
                        <a:rPr lang="en-US" dirty="0"/>
                        <a:t>%</a:t>
                      </a:r>
                      <a:endParaRPr lang="ru-RU" dirty="0"/>
                    </a:p>
                  </a:txBody>
                  <a:tcPr/>
                </a:tc>
                <a:extLst>
                  <a:ext uri="{0D108BD9-81ED-4DB2-BD59-A6C34878D82A}">
                    <a16:rowId xmlns:a16="http://schemas.microsoft.com/office/drawing/2014/main" val="1197500610"/>
                  </a:ext>
                </a:extLst>
              </a:tr>
              <a:tr h="605892">
                <a:tc>
                  <a:txBody>
                    <a:bodyPr/>
                    <a:lstStyle/>
                    <a:p>
                      <a:pPr>
                        <a:lnSpc>
                          <a:spcPts val="1875"/>
                        </a:lnSpc>
                        <a:buNone/>
                      </a:pPr>
                      <a:r>
                        <a:rPr lang="ru-RU" b="0" dirty="0">
                          <a:effectLst/>
                          <a:latin typeface="+mn-lt"/>
                        </a:rPr>
                        <a:t>Второй эксперимент</a:t>
                      </a:r>
                    </a:p>
                  </a:txBody>
                  <a:tcPr marR="121920" marT="76200" marB="76200" anchor="ctr"/>
                </a:tc>
                <a:tc>
                  <a:txBody>
                    <a:bodyPr/>
                    <a:lstStyle/>
                    <a:p>
                      <a:pPr>
                        <a:lnSpc>
                          <a:spcPts val="1875"/>
                        </a:lnSpc>
                        <a:buNone/>
                      </a:pPr>
                      <a:r>
                        <a:rPr lang="ru-RU" b="0">
                          <a:effectLst/>
                          <a:latin typeface="+mn-lt"/>
                        </a:rPr>
                        <a:t>+ внимание на уровне SNP + LayerNorm + реконструкция</a:t>
                      </a:r>
                    </a:p>
                  </a:txBody>
                  <a:tcPr marL="121920" marR="121920" marT="76200" marB="76200" anchor="ctr"/>
                </a:tc>
                <a:tc>
                  <a:txBody>
                    <a:bodyPr/>
                    <a:lstStyle/>
                    <a:p>
                      <a:pPr>
                        <a:lnSpc>
                          <a:spcPts val="1875"/>
                        </a:lnSpc>
                        <a:buNone/>
                      </a:pPr>
                      <a:r>
                        <a:rPr lang="ru-RU" b="0">
                          <a:effectLst/>
                          <a:latin typeface="+mn-lt"/>
                        </a:rPr>
                        <a:t>0.881</a:t>
                      </a:r>
                    </a:p>
                  </a:txBody>
                  <a:tcPr marL="121920" marR="121920" marT="76200" marB="76200" anchor="ctr"/>
                </a:tc>
                <a:tc>
                  <a:txBody>
                    <a:bodyPr/>
                    <a:lstStyle/>
                    <a:p>
                      <a:pPr>
                        <a:lnSpc>
                          <a:spcPts val="1875"/>
                        </a:lnSpc>
                        <a:buNone/>
                      </a:pPr>
                      <a:r>
                        <a:rPr lang="ru-RU" b="0" dirty="0">
                          <a:effectLst/>
                          <a:latin typeface="+mn-lt"/>
                        </a:rPr>
                        <a:t>0.773</a:t>
                      </a:r>
                    </a:p>
                  </a:txBody>
                  <a:tcPr marL="121920" marR="121920" marT="76200" marB="76200" anchor="ctr"/>
                </a:tc>
                <a:tc>
                  <a:txBody>
                    <a:bodyPr/>
                    <a:lstStyle/>
                    <a:p>
                      <a:r>
                        <a:rPr lang="en-US" dirty="0"/>
                        <a:t>2</a:t>
                      </a:r>
                      <a:r>
                        <a:rPr lang="ru-RU" dirty="0"/>
                        <a:t>6</a:t>
                      </a:r>
                      <a:r>
                        <a:rPr lang="en-US" dirty="0"/>
                        <a:t>%</a:t>
                      </a:r>
                      <a:endParaRPr lang="ru-RU" dirty="0"/>
                    </a:p>
                  </a:txBody>
                  <a:tcPr/>
                </a:tc>
                <a:tc>
                  <a:txBody>
                    <a:bodyPr/>
                    <a:lstStyle/>
                    <a:p>
                      <a:r>
                        <a:rPr lang="ru-RU" dirty="0"/>
                        <a:t>36</a:t>
                      </a:r>
                      <a:r>
                        <a:rPr lang="en-US" dirty="0"/>
                        <a:t>%</a:t>
                      </a:r>
                      <a:endParaRPr lang="ru-RU" dirty="0"/>
                    </a:p>
                  </a:txBody>
                  <a:tcPr/>
                </a:tc>
                <a:extLst>
                  <a:ext uri="{0D108BD9-81ED-4DB2-BD59-A6C34878D82A}">
                    <a16:rowId xmlns:a16="http://schemas.microsoft.com/office/drawing/2014/main" val="3207686098"/>
                  </a:ext>
                </a:extLst>
              </a:tr>
            </a:tbl>
          </a:graphicData>
        </a:graphic>
      </p:graphicFrame>
    </p:spTree>
    <p:extLst>
      <p:ext uri="{BB962C8B-B14F-4D97-AF65-F5344CB8AC3E}">
        <p14:creationId xmlns:p14="http://schemas.microsoft.com/office/powerpoint/2010/main" val="251648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8B37D6C-DEFF-32F0-D294-C78E5E73DEB1}"/>
              </a:ext>
            </a:extLst>
          </p:cNvPr>
          <p:cNvSpPr>
            <a:spLocks noGrp="1"/>
          </p:cNvSpPr>
          <p:nvPr>
            <p:ph type="title"/>
          </p:nvPr>
        </p:nvSpPr>
        <p:spPr/>
        <p:txBody>
          <a:bodyPr>
            <a:normAutofit fontScale="90000"/>
          </a:bodyPr>
          <a:lstStyle/>
          <a:p>
            <a:r>
              <a:rPr lang="ru-RU" b="1" dirty="0"/>
              <a:t>Результаты модифицированной модели на нуте и рисе</a:t>
            </a:r>
            <a:br>
              <a:rPr lang="ru-RU" b="1" dirty="0"/>
            </a:br>
            <a:endParaRPr lang="ru-RU" dirty="0"/>
          </a:p>
        </p:txBody>
      </p:sp>
      <p:sp>
        <p:nvSpPr>
          <p:cNvPr id="3" name="Номер слайда 2">
            <a:extLst>
              <a:ext uri="{FF2B5EF4-FFF2-40B4-BE49-F238E27FC236}">
                <a16:creationId xmlns:a16="http://schemas.microsoft.com/office/drawing/2014/main" id="{B37E9D8A-E7B4-5BD9-FD70-4F39CBEBE7B1}"/>
              </a:ext>
            </a:extLst>
          </p:cNvPr>
          <p:cNvSpPr>
            <a:spLocks noGrp="1"/>
          </p:cNvSpPr>
          <p:nvPr>
            <p:ph type="sldNum" sz="quarter" idx="12"/>
          </p:nvPr>
        </p:nvSpPr>
        <p:spPr/>
        <p:txBody>
          <a:bodyPr/>
          <a:lstStyle/>
          <a:p>
            <a:fld id="{B19B0651-EE4F-4900-A07F-96A6BFA9D0F0}" type="slidenum">
              <a:rPr lang="ru-RU" smtClean="0"/>
              <a:pPr/>
              <a:t>17</a:t>
            </a:fld>
            <a:endParaRPr lang="ru-RU"/>
          </a:p>
        </p:txBody>
      </p:sp>
      <p:sp>
        <p:nvSpPr>
          <p:cNvPr id="5" name="Объект 4">
            <a:extLst>
              <a:ext uri="{FF2B5EF4-FFF2-40B4-BE49-F238E27FC236}">
                <a16:creationId xmlns:a16="http://schemas.microsoft.com/office/drawing/2014/main" id="{30C95E59-922B-F811-1721-5C0D762AE067}"/>
              </a:ext>
            </a:extLst>
          </p:cNvPr>
          <p:cNvSpPr>
            <a:spLocks noGrp="1"/>
          </p:cNvSpPr>
          <p:nvPr>
            <p:ph sz="quarter" idx="2"/>
          </p:nvPr>
        </p:nvSpPr>
        <p:spPr>
          <a:xfrm>
            <a:off x="609600" y="4799846"/>
            <a:ext cx="4995487" cy="1922264"/>
          </a:xfrm>
        </p:spPr>
        <p:txBody>
          <a:bodyPr>
            <a:normAutofit/>
          </a:bodyPr>
          <a:lstStyle/>
          <a:p>
            <a:r>
              <a:rPr lang="ru-RU" sz="1800" b="1" dirty="0"/>
              <a:t>Гипотеза</a:t>
            </a:r>
            <a:endParaRPr lang="ru-RU" sz="1800" dirty="0"/>
          </a:p>
          <a:p>
            <a:pPr marL="0" indent="0">
              <a:buNone/>
            </a:pPr>
            <a:r>
              <a:rPr lang="en-US" sz="1800" i="1" dirty="0"/>
              <a:t>     </a:t>
            </a:r>
            <a:r>
              <a:rPr lang="ru-RU" sz="1800" i="1" dirty="0"/>
              <a:t>Эффективность модифицированной модели (внимание на уровне SNP + реконструкция) зависит от плотности SNP на ген.</a:t>
            </a:r>
            <a:endParaRPr lang="ru-RU" sz="1800" dirty="0"/>
          </a:p>
          <a:p>
            <a:endParaRPr lang="ru-RU" sz="2400" dirty="0"/>
          </a:p>
        </p:txBody>
      </p:sp>
      <p:sp>
        <p:nvSpPr>
          <p:cNvPr id="14" name="TextBox 13">
            <a:extLst>
              <a:ext uri="{FF2B5EF4-FFF2-40B4-BE49-F238E27FC236}">
                <a16:creationId xmlns:a16="http://schemas.microsoft.com/office/drawing/2014/main" id="{EE47AA7A-8193-1146-2E4A-BE1E81410961}"/>
              </a:ext>
            </a:extLst>
          </p:cNvPr>
          <p:cNvSpPr txBox="1"/>
          <p:nvPr/>
        </p:nvSpPr>
        <p:spPr>
          <a:xfrm>
            <a:off x="639173" y="3555806"/>
            <a:ext cx="4995487" cy="1200329"/>
          </a:xfrm>
          <a:prstGeom prst="rect">
            <a:avLst/>
          </a:prstGeom>
          <a:noFill/>
        </p:spPr>
        <p:txBody>
          <a:bodyPr wrap="square">
            <a:spAutoFit/>
          </a:bodyPr>
          <a:lstStyle/>
          <a:p>
            <a:r>
              <a:rPr lang="ru-RU" dirty="0"/>
              <a:t>Модифицированная модель обучается стабильнее и достигает минимального значения функции потерь на 10 процентов меньше по сравнению с базовой моделью.</a:t>
            </a:r>
          </a:p>
        </p:txBody>
      </p:sp>
      <p:pic>
        <p:nvPicPr>
          <p:cNvPr id="16" name="Рисунок 15">
            <a:extLst>
              <a:ext uri="{FF2B5EF4-FFF2-40B4-BE49-F238E27FC236}">
                <a16:creationId xmlns:a16="http://schemas.microsoft.com/office/drawing/2014/main" id="{22BA81E0-D0E1-7AD9-FB7D-FC76518211D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76163" y="1228398"/>
            <a:ext cx="5976664" cy="5104916"/>
          </a:xfrm>
          <a:prstGeom prst="rect">
            <a:avLst/>
          </a:prstGeom>
        </p:spPr>
      </p:pic>
      <p:sp>
        <p:nvSpPr>
          <p:cNvPr id="22" name="TextBox 21">
            <a:extLst>
              <a:ext uri="{FF2B5EF4-FFF2-40B4-BE49-F238E27FC236}">
                <a16:creationId xmlns:a16="http://schemas.microsoft.com/office/drawing/2014/main" id="{0AAAABC1-8EF8-9C77-663F-DD105AFB1F73}"/>
              </a:ext>
            </a:extLst>
          </p:cNvPr>
          <p:cNvSpPr txBox="1"/>
          <p:nvPr/>
        </p:nvSpPr>
        <p:spPr>
          <a:xfrm>
            <a:off x="551102" y="1228398"/>
            <a:ext cx="4517985" cy="2308324"/>
          </a:xfrm>
          <a:prstGeom prst="rect">
            <a:avLst/>
          </a:prstGeom>
          <a:noFill/>
        </p:spPr>
        <p:txBody>
          <a:bodyPr wrap="square">
            <a:spAutoFit/>
          </a:bodyPr>
          <a:lstStyle/>
          <a:p>
            <a:pPr marL="342900" indent="-342900">
              <a:buFont typeface="Arial" panose="020B0604020202020204" pitchFamily="34" charset="0"/>
              <a:buChar char="•"/>
            </a:pPr>
            <a:r>
              <a:rPr lang="ru-RU" dirty="0"/>
              <a:t>Нут: </a:t>
            </a:r>
          </a:p>
          <a:p>
            <a:pPr marL="800100" lvl="1" indent="-342900">
              <a:buFont typeface="Arial" panose="020B0604020202020204" pitchFamily="34" charset="0"/>
              <a:buChar char="•"/>
            </a:pPr>
            <a:r>
              <a:rPr lang="ru-RU" dirty="0"/>
              <a:t>TSW 0.901 (база 0.910), </a:t>
            </a:r>
          </a:p>
          <a:p>
            <a:pPr marL="800100" lvl="1" indent="-342900">
              <a:buFont typeface="Arial" panose="020B0604020202020204" pitchFamily="34" charset="0"/>
              <a:buChar char="•"/>
            </a:pPr>
            <a:r>
              <a:rPr lang="ru-RU" dirty="0" err="1"/>
              <a:t>Pht</a:t>
            </a:r>
            <a:r>
              <a:rPr lang="ru-RU" dirty="0"/>
              <a:t> 0.773 (база 0.790) — проигрыш 1–2%</a:t>
            </a:r>
          </a:p>
          <a:p>
            <a:pPr marL="342900" indent="-342900">
              <a:buFont typeface="Arial" panose="020B0604020202020204" pitchFamily="34" charset="0"/>
              <a:buChar char="•"/>
            </a:pPr>
            <a:r>
              <a:rPr lang="ru-RU" dirty="0"/>
              <a:t>Рис: </a:t>
            </a:r>
          </a:p>
          <a:p>
            <a:pPr marL="800100" lvl="1" indent="-342900">
              <a:buFont typeface="Arial" panose="020B0604020202020204" pitchFamily="34" charset="0"/>
              <a:buChar char="•"/>
            </a:pPr>
            <a:r>
              <a:rPr lang="ru-RU" dirty="0"/>
              <a:t>высота 0.830 (база 0.847),</a:t>
            </a:r>
          </a:p>
          <a:p>
            <a:pPr marL="800100" lvl="1" indent="-342900">
              <a:buFont typeface="Arial" panose="020B0604020202020204" pitchFamily="34" charset="0"/>
              <a:buChar char="•"/>
            </a:pPr>
            <a:r>
              <a:rPr lang="ru-RU" dirty="0"/>
              <a:t>побеги 0.576 (база 0.600) — проигрыш 2–4%</a:t>
            </a:r>
          </a:p>
        </p:txBody>
      </p:sp>
    </p:spTree>
    <p:extLst>
      <p:ext uri="{BB962C8B-B14F-4D97-AF65-F5344CB8AC3E}">
        <p14:creationId xmlns:p14="http://schemas.microsoft.com/office/powerpoint/2010/main" val="3673118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99DBA2D4-3F74-FD1D-C193-C4ADD8DB3BC4}"/>
              </a:ext>
            </a:extLst>
          </p:cNvPr>
          <p:cNvSpPr>
            <a:spLocks noGrp="1"/>
          </p:cNvSpPr>
          <p:nvPr>
            <p:ph type="title"/>
          </p:nvPr>
        </p:nvSpPr>
        <p:spPr>
          <a:xfrm>
            <a:off x="609600" y="0"/>
            <a:ext cx="10972800" cy="1143000"/>
          </a:xfrm>
        </p:spPr>
        <p:txBody>
          <a:bodyPr>
            <a:normAutofit/>
          </a:bodyPr>
          <a:lstStyle/>
          <a:p>
            <a:r>
              <a:rPr lang="ru-RU" b="1" dirty="0"/>
              <a:t>Стратегии отбора генов</a:t>
            </a:r>
            <a:br>
              <a:rPr lang="ru-RU" b="1" dirty="0"/>
            </a:br>
            <a:endParaRPr lang="ru-RU" dirty="0"/>
          </a:p>
        </p:txBody>
      </p:sp>
      <p:sp>
        <p:nvSpPr>
          <p:cNvPr id="3" name="Номер слайда 2">
            <a:extLst>
              <a:ext uri="{FF2B5EF4-FFF2-40B4-BE49-F238E27FC236}">
                <a16:creationId xmlns:a16="http://schemas.microsoft.com/office/drawing/2014/main" id="{E4FE728E-2B3D-EEF3-720E-884EE335F672}"/>
              </a:ext>
            </a:extLst>
          </p:cNvPr>
          <p:cNvSpPr>
            <a:spLocks noGrp="1"/>
          </p:cNvSpPr>
          <p:nvPr>
            <p:ph type="sldNum" sz="quarter" idx="12"/>
          </p:nvPr>
        </p:nvSpPr>
        <p:spPr/>
        <p:txBody>
          <a:bodyPr/>
          <a:lstStyle/>
          <a:p>
            <a:fld id="{B19B0651-EE4F-4900-A07F-96A6BFA9D0F0}" type="slidenum">
              <a:rPr lang="ru-RU" smtClean="0"/>
              <a:pPr/>
              <a:t>18</a:t>
            </a:fld>
            <a:endParaRPr lang="ru-RU"/>
          </a:p>
        </p:txBody>
      </p:sp>
      <p:sp>
        <p:nvSpPr>
          <p:cNvPr id="8" name="Объект 7">
            <a:extLst>
              <a:ext uri="{FF2B5EF4-FFF2-40B4-BE49-F238E27FC236}">
                <a16:creationId xmlns:a16="http://schemas.microsoft.com/office/drawing/2014/main" id="{93A0F9C6-D525-EF04-313E-A3F6437D5DF3}"/>
              </a:ext>
            </a:extLst>
          </p:cNvPr>
          <p:cNvSpPr>
            <a:spLocks noGrp="1"/>
          </p:cNvSpPr>
          <p:nvPr>
            <p:ph sz="quarter" idx="2"/>
          </p:nvPr>
        </p:nvSpPr>
        <p:spPr>
          <a:xfrm>
            <a:off x="4629604" y="1120215"/>
            <a:ext cx="7290284" cy="5384680"/>
          </a:xfrm>
        </p:spPr>
        <p:txBody>
          <a:bodyPr>
            <a:normAutofit fontScale="25000" lnSpcReduction="20000"/>
          </a:bodyPr>
          <a:lstStyle/>
          <a:p>
            <a:pPr marL="0" indent="0">
              <a:buNone/>
            </a:pPr>
            <a:br>
              <a:rPr lang="ru-RU" dirty="0"/>
            </a:br>
            <a:endParaRPr lang="ru-RU" sz="3600" dirty="0"/>
          </a:p>
          <a:p>
            <a:r>
              <a:rPr lang="ru-RU" sz="7200" b="1" dirty="0"/>
              <a:t>2. Равномерный отбор по геному (</a:t>
            </a:r>
            <a:r>
              <a:rPr lang="ru-RU" sz="7200" b="1" dirty="0" err="1"/>
              <a:t>uniform</a:t>
            </a:r>
            <a:r>
              <a:rPr lang="ru-RU" sz="7200" b="1" dirty="0"/>
              <a:t> </a:t>
            </a:r>
            <a:r>
              <a:rPr lang="ru-RU" sz="7200" b="1" dirty="0" err="1"/>
              <a:t>position</a:t>
            </a:r>
            <a:r>
              <a:rPr lang="ru-RU" sz="7200" b="1" dirty="0"/>
              <a:t> </a:t>
            </a:r>
            <a:r>
              <a:rPr lang="ru-RU" sz="7200" b="1" dirty="0" err="1"/>
              <a:t>selection</a:t>
            </a:r>
            <a:r>
              <a:rPr lang="ru-RU" sz="7200" b="1" dirty="0"/>
              <a:t>)</a:t>
            </a:r>
            <a:endParaRPr lang="ru-RU" sz="7200" dirty="0"/>
          </a:p>
          <a:p>
            <a:r>
              <a:rPr lang="ru-RU" sz="7200" dirty="0"/>
              <a:t>Для каждого гена вычисляется глобальная позиция на геноме (с учётом длины хромосом)</a:t>
            </a:r>
          </a:p>
          <a:p>
            <a:r>
              <a:rPr lang="ru-RU" sz="7200" dirty="0"/>
              <a:t>Гены сортируются по глобальной позиции</a:t>
            </a:r>
          </a:p>
          <a:p>
            <a:r>
              <a:rPr lang="ru-RU" sz="7200" dirty="0"/>
              <a:t>Отбираются гены с равномерным шагом по всей длине генома</a:t>
            </a:r>
          </a:p>
          <a:p>
            <a:r>
              <a:rPr lang="ru-RU" sz="7200" b="1" dirty="0"/>
              <a:t>Идея:</a:t>
            </a:r>
            <a:r>
              <a:rPr lang="ru-RU" sz="7200" dirty="0"/>
              <a:t> равномерно покрыть весь геном, независимо от плотности генов</a:t>
            </a:r>
          </a:p>
          <a:p>
            <a:endParaRPr lang="ru-RU" sz="7200" dirty="0"/>
          </a:p>
          <a:p>
            <a:r>
              <a:rPr lang="ru-RU" sz="7200" b="1" dirty="0"/>
              <a:t>3. Равномерный отбор внутри хромосом (</a:t>
            </a:r>
            <a:r>
              <a:rPr lang="ru-RU" sz="7200" b="1" dirty="0" err="1"/>
              <a:t>uniform</a:t>
            </a:r>
            <a:r>
              <a:rPr lang="ru-RU" sz="7200" b="1" dirty="0"/>
              <a:t> </a:t>
            </a:r>
            <a:r>
              <a:rPr lang="ru-RU" sz="7200" b="1" dirty="0" err="1"/>
              <a:t>per</a:t>
            </a:r>
            <a:r>
              <a:rPr lang="ru-RU" sz="7200" b="1" dirty="0"/>
              <a:t> </a:t>
            </a:r>
            <a:r>
              <a:rPr lang="ru-RU" sz="7200" b="1" dirty="0" err="1"/>
              <a:t>chromosome</a:t>
            </a:r>
            <a:r>
              <a:rPr lang="ru-RU" sz="7200" b="1" dirty="0"/>
              <a:t> </a:t>
            </a:r>
            <a:r>
              <a:rPr lang="ru-RU" sz="7200" b="1" dirty="0" err="1"/>
              <a:t>selection</a:t>
            </a:r>
            <a:r>
              <a:rPr lang="ru-RU" sz="7200" b="1" dirty="0"/>
              <a:t>)</a:t>
            </a:r>
            <a:endParaRPr lang="ru-RU" sz="7200" dirty="0"/>
          </a:p>
          <a:p>
            <a:r>
              <a:rPr lang="ru-RU" sz="7200" dirty="0"/>
              <a:t>Для каждой хромосомы определяется целевое количество генов:</a:t>
            </a:r>
          </a:p>
          <a:p>
            <a:pPr lvl="1"/>
            <a:r>
              <a:rPr lang="ru-RU" sz="6400" dirty="0"/>
              <a:t>Пропорционально физической длине хромосомы</a:t>
            </a:r>
          </a:p>
          <a:p>
            <a:pPr lvl="1"/>
            <a:r>
              <a:rPr lang="ru-RU" sz="6400" dirty="0"/>
              <a:t>Минимум — 1 ген на хромосому</a:t>
            </a:r>
          </a:p>
          <a:p>
            <a:r>
              <a:rPr lang="ru-RU" sz="7200" dirty="0"/>
              <a:t>Внутри каждой хромосомы гены сортируются по позиции</a:t>
            </a:r>
          </a:p>
          <a:p>
            <a:r>
              <a:rPr lang="ru-RU" sz="7200" dirty="0"/>
              <a:t>Отбираются с равномерным шагом внутри хромосомы</a:t>
            </a:r>
          </a:p>
          <a:p>
            <a:r>
              <a:rPr lang="ru-RU" sz="7200" b="1" dirty="0"/>
              <a:t>Идея:</a:t>
            </a:r>
            <a:r>
              <a:rPr lang="ru-RU" sz="7200" dirty="0"/>
              <a:t> равномерное покрытие как по хромосомам, так и внутри них</a:t>
            </a:r>
          </a:p>
        </p:txBody>
      </p:sp>
      <p:sp>
        <p:nvSpPr>
          <p:cNvPr id="9" name="Объект 7">
            <a:extLst>
              <a:ext uri="{FF2B5EF4-FFF2-40B4-BE49-F238E27FC236}">
                <a16:creationId xmlns:a16="http://schemas.microsoft.com/office/drawing/2014/main" id="{61178C0E-D8F5-4E82-4D0D-2653A86F1934}"/>
              </a:ext>
            </a:extLst>
          </p:cNvPr>
          <p:cNvSpPr txBox="1">
            <a:spLocks/>
          </p:cNvSpPr>
          <p:nvPr/>
        </p:nvSpPr>
        <p:spPr>
          <a:xfrm>
            <a:off x="479376" y="1268760"/>
            <a:ext cx="4118248" cy="5087590"/>
          </a:xfrm>
          <a:prstGeom prst="rect">
            <a:avLst/>
          </a:prstGeom>
        </p:spPr>
        <p:txBody>
          <a:bodyPr vert="horz">
            <a:normAutofit fontScale="775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ru-RU" b="1" dirty="0"/>
              <a:t>1. Взвешенный отбор (</a:t>
            </a:r>
            <a:r>
              <a:rPr lang="ru-RU" b="1" dirty="0" err="1"/>
              <a:t>weighted</a:t>
            </a:r>
            <a:r>
              <a:rPr lang="ru-RU" b="1" dirty="0"/>
              <a:t> </a:t>
            </a:r>
            <a:r>
              <a:rPr lang="ru-RU" b="1" dirty="0" err="1"/>
              <a:t>selection</a:t>
            </a:r>
            <a:r>
              <a:rPr lang="ru-RU" b="1" dirty="0"/>
              <a:t>)</a:t>
            </a:r>
            <a:endParaRPr lang="ru-RU" dirty="0"/>
          </a:p>
          <a:p>
            <a:r>
              <a:rPr lang="ru-RU" dirty="0"/>
              <a:t>Гены ранжируются по количеству SNP (от большего к меньшему)</a:t>
            </a:r>
          </a:p>
          <a:p>
            <a:r>
              <a:rPr lang="ru-RU" dirty="0"/>
              <a:t>Разбиваются на 4 квартиля</a:t>
            </a:r>
          </a:p>
          <a:p>
            <a:r>
              <a:rPr lang="ru-RU" dirty="0"/>
              <a:t>Целевое распределение отбираемых генов:</a:t>
            </a:r>
          </a:p>
          <a:p>
            <a:pPr lvl="1"/>
            <a:r>
              <a:rPr lang="ru-RU" dirty="0"/>
              <a:t>1-й квартиль (меньше всего SNP) → вес 0.1</a:t>
            </a:r>
          </a:p>
          <a:p>
            <a:pPr lvl="1"/>
            <a:r>
              <a:rPr lang="ru-RU" dirty="0"/>
              <a:t>2-й квартиль → вес 0.2</a:t>
            </a:r>
          </a:p>
          <a:p>
            <a:pPr lvl="1"/>
            <a:r>
              <a:rPr lang="ru-RU" dirty="0"/>
              <a:t>3-й квартиль → вес 0.3</a:t>
            </a:r>
          </a:p>
          <a:p>
            <a:pPr lvl="1"/>
            <a:r>
              <a:rPr lang="ru-RU" dirty="0"/>
              <a:t>4-й квартиль (больше всего SNP) → вес 0.4</a:t>
            </a:r>
          </a:p>
          <a:p>
            <a:r>
              <a:rPr lang="ru-RU" b="1" dirty="0"/>
              <a:t>Идея:</a:t>
            </a:r>
            <a:r>
              <a:rPr lang="ru-RU" dirty="0"/>
              <a:t> гены с большим числом SNP потенциально несут больше информации</a:t>
            </a:r>
            <a:br>
              <a:rPr lang="ru-RU" dirty="0"/>
            </a:br>
            <a:endParaRPr lang="ru-RU" dirty="0"/>
          </a:p>
          <a:p>
            <a:endParaRPr lang="ru-RU" dirty="0"/>
          </a:p>
        </p:txBody>
      </p:sp>
    </p:spTree>
    <p:extLst>
      <p:ext uri="{BB962C8B-B14F-4D97-AF65-F5344CB8AC3E}">
        <p14:creationId xmlns:p14="http://schemas.microsoft.com/office/powerpoint/2010/main" val="120855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986CF3-20E3-C6EC-AA29-DD8059C2FA48}"/>
              </a:ext>
            </a:extLst>
          </p:cNvPr>
          <p:cNvSpPr>
            <a:spLocks noGrp="1"/>
          </p:cNvSpPr>
          <p:nvPr>
            <p:ph type="title"/>
          </p:nvPr>
        </p:nvSpPr>
        <p:spPr/>
        <p:txBody>
          <a:bodyPr>
            <a:normAutofit fontScale="90000"/>
          </a:bodyPr>
          <a:lstStyle/>
          <a:p>
            <a:r>
              <a:rPr lang="ru-RU" b="1" dirty="0"/>
              <a:t>Сравнение стратегий отбора генов</a:t>
            </a:r>
            <a:br>
              <a:rPr lang="ru-RU" b="1" dirty="0"/>
            </a:br>
            <a:endParaRPr lang="ru-RU" dirty="0"/>
          </a:p>
        </p:txBody>
      </p:sp>
      <p:sp>
        <p:nvSpPr>
          <p:cNvPr id="3" name="Номер слайда 2">
            <a:extLst>
              <a:ext uri="{FF2B5EF4-FFF2-40B4-BE49-F238E27FC236}">
                <a16:creationId xmlns:a16="http://schemas.microsoft.com/office/drawing/2014/main" id="{9306C9C2-345C-CDEF-E7FE-8F89F640D2C8}"/>
              </a:ext>
            </a:extLst>
          </p:cNvPr>
          <p:cNvSpPr>
            <a:spLocks noGrp="1"/>
          </p:cNvSpPr>
          <p:nvPr>
            <p:ph type="sldNum" sz="quarter" idx="12"/>
          </p:nvPr>
        </p:nvSpPr>
        <p:spPr/>
        <p:txBody>
          <a:bodyPr/>
          <a:lstStyle/>
          <a:p>
            <a:fld id="{B19B0651-EE4F-4900-A07F-96A6BFA9D0F0}" type="slidenum">
              <a:rPr lang="ru-RU" smtClean="0"/>
              <a:pPr/>
              <a:t>19</a:t>
            </a:fld>
            <a:endParaRPr lang="ru-RU"/>
          </a:p>
        </p:txBody>
      </p:sp>
      <p:sp>
        <p:nvSpPr>
          <p:cNvPr id="11" name="TextBox 10">
            <a:extLst>
              <a:ext uri="{FF2B5EF4-FFF2-40B4-BE49-F238E27FC236}">
                <a16:creationId xmlns:a16="http://schemas.microsoft.com/office/drawing/2014/main" id="{541DB8D6-E5FD-A8A9-BC5F-37B8410C19EE}"/>
              </a:ext>
            </a:extLst>
          </p:cNvPr>
          <p:cNvSpPr txBox="1"/>
          <p:nvPr/>
        </p:nvSpPr>
        <p:spPr>
          <a:xfrm>
            <a:off x="1343472" y="5806457"/>
            <a:ext cx="11411940" cy="400110"/>
          </a:xfrm>
          <a:prstGeom prst="rect">
            <a:avLst/>
          </a:prstGeom>
          <a:noFill/>
        </p:spPr>
        <p:txBody>
          <a:bodyPr wrap="square">
            <a:spAutoFit/>
          </a:bodyPr>
          <a:lstStyle/>
          <a:p>
            <a:r>
              <a:rPr lang="ru-RU" sz="2000" b="1" dirty="0"/>
              <a:t>Вывод</a:t>
            </a:r>
            <a:r>
              <a:rPr lang="ru-RU" sz="2000" dirty="0"/>
              <a:t>: равномерные стратегии дают +6.5% корреляции при на 26% меньше SNP.</a:t>
            </a:r>
            <a:r>
              <a:rPr lang="en-US" sz="2000" dirty="0"/>
              <a:t> </a:t>
            </a:r>
            <a:endParaRPr lang="ru-RU" sz="2000" dirty="0"/>
          </a:p>
        </p:txBody>
      </p:sp>
      <p:graphicFrame>
        <p:nvGraphicFramePr>
          <p:cNvPr id="6" name="Таблица 5">
            <a:extLst>
              <a:ext uri="{FF2B5EF4-FFF2-40B4-BE49-F238E27FC236}">
                <a16:creationId xmlns:a16="http://schemas.microsoft.com/office/drawing/2014/main" id="{09E6B5DB-1820-CE9C-102A-FF8812398AD6}"/>
              </a:ext>
            </a:extLst>
          </p:cNvPr>
          <p:cNvGraphicFramePr>
            <a:graphicFrameLocks noGrp="1"/>
          </p:cNvGraphicFramePr>
          <p:nvPr>
            <p:extLst>
              <p:ext uri="{D42A27DB-BD31-4B8C-83A1-F6EECF244321}">
                <p14:modId xmlns:p14="http://schemas.microsoft.com/office/powerpoint/2010/main" val="3472285220"/>
              </p:ext>
            </p:extLst>
          </p:nvPr>
        </p:nvGraphicFramePr>
        <p:xfrm>
          <a:off x="1448783" y="1380734"/>
          <a:ext cx="9294434" cy="4275940"/>
        </p:xfrm>
        <a:graphic>
          <a:graphicData uri="http://schemas.openxmlformats.org/drawingml/2006/table">
            <a:tbl>
              <a:tblPr firstRow="1" bandRow="1">
                <a:tableStyleId>{5C22544A-7EE6-4342-B048-85BDC9FD1C3A}</a:tableStyleId>
              </a:tblPr>
              <a:tblGrid>
                <a:gridCol w="1746878">
                  <a:extLst>
                    <a:ext uri="{9D8B030D-6E8A-4147-A177-3AD203B41FA5}">
                      <a16:colId xmlns:a16="http://schemas.microsoft.com/office/drawing/2014/main" val="1132191346"/>
                    </a:ext>
                  </a:extLst>
                </a:gridCol>
                <a:gridCol w="3456384">
                  <a:extLst>
                    <a:ext uri="{9D8B030D-6E8A-4147-A177-3AD203B41FA5}">
                      <a16:colId xmlns:a16="http://schemas.microsoft.com/office/drawing/2014/main" val="2083574639"/>
                    </a:ext>
                  </a:extLst>
                </a:gridCol>
                <a:gridCol w="936104">
                  <a:extLst>
                    <a:ext uri="{9D8B030D-6E8A-4147-A177-3AD203B41FA5}">
                      <a16:colId xmlns:a16="http://schemas.microsoft.com/office/drawing/2014/main" val="72442671"/>
                    </a:ext>
                  </a:extLst>
                </a:gridCol>
                <a:gridCol w="1584176">
                  <a:extLst>
                    <a:ext uri="{9D8B030D-6E8A-4147-A177-3AD203B41FA5}">
                      <a16:colId xmlns:a16="http://schemas.microsoft.com/office/drawing/2014/main" val="1610329937"/>
                    </a:ext>
                  </a:extLst>
                </a:gridCol>
                <a:gridCol w="1570892">
                  <a:extLst>
                    <a:ext uri="{9D8B030D-6E8A-4147-A177-3AD203B41FA5}">
                      <a16:colId xmlns:a16="http://schemas.microsoft.com/office/drawing/2014/main" val="2960921854"/>
                    </a:ext>
                  </a:extLst>
                </a:gridCol>
              </a:tblGrid>
              <a:tr h="464013">
                <a:tc>
                  <a:txBody>
                    <a:bodyPr/>
                    <a:lstStyle/>
                    <a:p>
                      <a:pPr algn="l">
                        <a:lnSpc>
                          <a:spcPts val="1875"/>
                        </a:lnSpc>
                        <a:buNone/>
                      </a:pPr>
                      <a:r>
                        <a:rPr lang="ru-RU" b="0" dirty="0">
                          <a:effectLst/>
                          <a:latin typeface="+mn-lt"/>
                        </a:rPr>
                        <a:t>Стратегия</a:t>
                      </a:r>
                    </a:p>
                  </a:txBody>
                  <a:tcPr marR="121920" marT="76200" marB="76200" anchor="ctr"/>
                </a:tc>
                <a:tc>
                  <a:txBody>
                    <a:bodyPr/>
                    <a:lstStyle/>
                    <a:p>
                      <a:pPr algn="l">
                        <a:lnSpc>
                          <a:spcPts val="1875"/>
                        </a:lnSpc>
                        <a:buNone/>
                      </a:pPr>
                      <a:r>
                        <a:rPr lang="ru-RU" b="0">
                          <a:effectLst/>
                          <a:latin typeface="+mn-lt"/>
                        </a:rPr>
                        <a:t>Принцип</a:t>
                      </a:r>
                    </a:p>
                  </a:txBody>
                  <a:tcPr marL="121920" marR="121920" marT="76200" marB="76200" anchor="ctr"/>
                </a:tc>
                <a:tc>
                  <a:txBody>
                    <a:bodyPr/>
                    <a:lstStyle/>
                    <a:p>
                      <a:pPr algn="l">
                        <a:lnSpc>
                          <a:spcPts val="1875"/>
                        </a:lnSpc>
                        <a:buNone/>
                      </a:pPr>
                      <a:r>
                        <a:rPr lang="ru-RU" b="0" dirty="0">
                          <a:effectLst/>
                          <a:latin typeface="+mn-lt"/>
                        </a:rPr>
                        <a:t>SNP</a:t>
                      </a:r>
                    </a:p>
                  </a:txBody>
                  <a:tcPr marL="121920" marR="121920" marT="76200" marB="76200" anchor="ctr"/>
                </a:tc>
                <a:tc>
                  <a:txBody>
                    <a:bodyPr/>
                    <a:lstStyle/>
                    <a:p>
                      <a:pPr algn="l">
                        <a:lnSpc>
                          <a:spcPts val="1875"/>
                        </a:lnSpc>
                        <a:buNone/>
                      </a:pPr>
                      <a:r>
                        <a:rPr lang="ru-RU" b="0" dirty="0">
                          <a:effectLst/>
                          <a:latin typeface="+mn-lt"/>
                        </a:rPr>
                        <a:t>Корреляция (FT)</a:t>
                      </a:r>
                    </a:p>
                  </a:txBody>
                  <a:tcPr marL="121920" marR="121920" marT="76200" marB="76200" anchor="ctr"/>
                </a:tc>
                <a:tc>
                  <a:txBody>
                    <a:bodyPr/>
                    <a:lstStyle/>
                    <a:p>
                      <a:pPr algn="l">
                        <a:lnSpc>
                          <a:spcPts val="1875"/>
                        </a:lnSpc>
                        <a:buNone/>
                      </a:pPr>
                      <a:r>
                        <a:rPr lang="ru-RU" b="0" dirty="0">
                          <a:effectLst/>
                          <a:latin typeface="+mn-lt"/>
                        </a:rPr>
                        <a:t>Корреляция (</a:t>
                      </a:r>
                      <a:r>
                        <a:rPr lang="ru-RU" b="0" dirty="0" err="1">
                          <a:effectLst/>
                          <a:latin typeface="+mn-lt"/>
                        </a:rPr>
                        <a:t>Gluco</a:t>
                      </a:r>
                      <a:r>
                        <a:rPr lang="ru-RU" b="0" dirty="0">
                          <a:effectLst/>
                          <a:latin typeface="+mn-lt"/>
                        </a:rPr>
                        <a:t>)</a:t>
                      </a:r>
                    </a:p>
                  </a:txBody>
                  <a:tcPr marL="121920" marR="121920" marT="76200" marB="76200" anchor="ctr"/>
                </a:tc>
                <a:extLst>
                  <a:ext uri="{0D108BD9-81ED-4DB2-BD59-A6C34878D82A}">
                    <a16:rowId xmlns:a16="http://schemas.microsoft.com/office/drawing/2014/main" val="2162837281"/>
                  </a:ext>
                </a:extLst>
              </a:tr>
              <a:tr h="1531706">
                <a:tc>
                  <a:txBody>
                    <a:bodyPr/>
                    <a:lstStyle/>
                    <a:p>
                      <a:pPr>
                        <a:lnSpc>
                          <a:spcPts val="1875"/>
                        </a:lnSpc>
                        <a:buNone/>
                      </a:pPr>
                      <a:r>
                        <a:rPr lang="ru-RU" b="1">
                          <a:effectLst/>
                          <a:latin typeface="+mn-lt"/>
                        </a:rPr>
                        <a:t>Взвешенная (weighted)</a:t>
                      </a:r>
                      <a:endParaRPr lang="ru-RU" b="0">
                        <a:effectLst/>
                        <a:latin typeface="+mn-lt"/>
                      </a:endParaRPr>
                    </a:p>
                  </a:txBody>
                  <a:tcPr marR="121920" marT="76200" marB="76200" anchor="ctr"/>
                </a:tc>
                <a:tc>
                  <a:txBody>
                    <a:bodyPr/>
                    <a:lstStyle/>
                    <a:p>
                      <a:pPr>
                        <a:lnSpc>
                          <a:spcPts val="1875"/>
                        </a:lnSpc>
                        <a:buNone/>
                      </a:pPr>
                      <a:r>
                        <a:rPr lang="ru-RU" b="0" dirty="0">
                          <a:effectLst/>
                          <a:latin typeface="+mn-lt"/>
                        </a:rPr>
                        <a:t>Больше SNP → выше шанс попасть в выборку (веса квартилей 0.1/0.2/0.3/0.4)</a:t>
                      </a:r>
                    </a:p>
                  </a:txBody>
                  <a:tcPr marL="121920" marR="121920" marT="76200" marB="76200" anchor="ctr"/>
                </a:tc>
                <a:tc>
                  <a:txBody>
                    <a:bodyPr/>
                    <a:lstStyle/>
                    <a:p>
                      <a:pPr>
                        <a:lnSpc>
                          <a:spcPts val="1875"/>
                        </a:lnSpc>
                        <a:buNone/>
                      </a:pPr>
                      <a:r>
                        <a:rPr lang="ru-RU" b="0" dirty="0">
                          <a:effectLst/>
                          <a:latin typeface="+mn-lt"/>
                        </a:rPr>
                        <a:t>85 208</a:t>
                      </a:r>
                    </a:p>
                  </a:txBody>
                  <a:tcPr marL="121920" marR="121920" marT="76200" marB="76200" anchor="ctr"/>
                </a:tc>
                <a:tc>
                  <a:txBody>
                    <a:bodyPr/>
                    <a:lstStyle/>
                    <a:p>
                      <a:pPr>
                        <a:lnSpc>
                          <a:spcPts val="1875"/>
                        </a:lnSpc>
                        <a:buNone/>
                      </a:pPr>
                      <a:r>
                        <a:rPr lang="ru-RU" b="0" dirty="0">
                          <a:effectLst/>
                          <a:latin typeface="+mn-lt"/>
                        </a:rPr>
                        <a:t>0.798</a:t>
                      </a:r>
                    </a:p>
                  </a:txBody>
                  <a:tcPr marL="121920" marR="121920" marT="76200" marB="76200" anchor="ctr"/>
                </a:tc>
                <a:tc>
                  <a:txBody>
                    <a:bodyPr/>
                    <a:lstStyle/>
                    <a:p>
                      <a:pPr>
                        <a:lnSpc>
                          <a:spcPts val="1875"/>
                        </a:lnSpc>
                        <a:buNone/>
                      </a:pPr>
                      <a:r>
                        <a:rPr lang="ru-RU" b="0" dirty="0">
                          <a:effectLst/>
                          <a:latin typeface="+mn-lt"/>
                        </a:rPr>
                        <a:t>0.7</a:t>
                      </a:r>
                      <a:r>
                        <a:rPr lang="en-US" b="0" dirty="0">
                          <a:effectLst/>
                          <a:latin typeface="+mn-lt"/>
                        </a:rPr>
                        <a:t>7</a:t>
                      </a:r>
                      <a:r>
                        <a:rPr lang="ru-RU" b="0" dirty="0">
                          <a:effectLst/>
                          <a:latin typeface="+mn-lt"/>
                        </a:rPr>
                        <a:t>3</a:t>
                      </a:r>
                    </a:p>
                  </a:txBody>
                  <a:tcPr marL="121920" marT="76200" marB="76200" anchor="ctr"/>
                </a:tc>
                <a:extLst>
                  <a:ext uri="{0D108BD9-81ED-4DB2-BD59-A6C34878D82A}">
                    <a16:rowId xmlns:a16="http://schemas.microsoft.com/office/drawing/2014/main" val="1859599464"/>
                  </a:ext>
                </a:extLst>
              </a:tr>
              <a:tr h="1054617">
                <a:tc>
                  <a:txBody>
                    <a:bodyPr/>
                    <a:lstStyle/>
                    <a:p>
                      <a:pPr>
                        <a:lnSpc>
                          <a:spcPts val="1875"/>
                        </a:lnSpc>
                        <a:buNone/>
                      </a:pPr>
                      <a:r>
                        <a:rPr lang="ru-RU" b="1">
                          <a:effectLst/>
                          <a:latin typeface="+mn-lt"/>
                        </a:rPr>
                        <a:t>Равномерная по геному</a:t>
                      </a:r>
                      <a:endParaRPr lang="ru-RU" b="0">
                        <a:effectLst/>
                        <a:latin typeface="+mn-lt"/>
                      </a:endParaRPr>
                    </a:p>
                  </a:txBody>
                  <a:tcPr marR="121920" marT="76200" marB="76200" anchor="ctr"/>
                </a:tc>
                <a:tc>
                  <a:txBody>
                    <a:bodyPr/>
                    <a:lstStyle/>
                    <a:p>
                      <a:pPr>
                        <a:lnSpc>
                          <a:spcPts val="1875"/>
                        </a:lnSpc>
                        <a:buNone/>
                      </a:pPr>
                      <a:r>
                        <a:rPr lang="ru-RU" b="0">
                          <a:effectLst/>
                          <a:latin typeface="+mn-lt"/>
                        </a:rPr>
                        <a:t>Равномерный шаг по всей длине генома (все хромосомы склеены)</a:t>
                      </a:r>
                    </a:p>
                  </a:txBody>
                  <a:tcPr marL="121920" marR="121920" marT="76200" marB="76200" anchor="ctr"/>
                </a:tc>
                <a:tc>
                  <a:txBody>
                    <a:bodyPr/>
                    <a:lstStyle/>
                    <a:p>
                      <a:pPr>
                        <a:lnSpc>
                          <a:spcPts val="1875"/>
                        </a:lnSpc>
                        <a:buNone/>
                      </a:pPr>
                      <a:r>
                        <a:rPr lang="ru-RU" b="0">
                          <a:effectLst/>
                          <a:latin typeface="+mn-lt"/>
                        </a:rPr>
                        <a:t>63 035</a:t>
                      </a:r>
                    </a:p>
                  </a:txBody>
                  <a:tcPr marL="121920" marR="121920" marT="76200" marB="76200" anchor="ctr"/>
                </a:tc>
                <a:tc>
                  <a:txBody>
                    <a:bodyPr/>
                    <a:lstStyle/>
                    <a:p>
                      <a:pPr>
                        <a:lnSpc>
                          <a:spcPts val="1875"/>
                        </a:lnSpc>
                        <a:buNone/>
                      </a:pPr>
                      <a:r>
                        <a:rPr lang="ru-RU" b="0">
                          <a:effectLst/>
                          <a:latin typeface="+mn-lt"/>
                        </a:rPr>
                        <a:t>0.850</a:t>
                      </a:r>
                    </a:p>
                  </a:txBody>
                  <a:tcPr marL="121920" marR="121920" marT="76200" marB="76200" anchor="ctr"/>
                </a:tc>
                <a:tc>
                  <a:txBody>
                    <a:bodyPr/>
                    <a:lstStyle/>
                    <a:p>
                      <a:pPr>
                        <a:lnSpc>
                          <a:spcPts val="1875"/>
                        </a:lnSpc>
                        <a:buNone/>
                      </a:pPr>
                      <a:r>
                        <a:rPr lang="ru-RU" b="0" dirty="0">
                          <a:effectLst/>
                          <a:latin typeface="+mn-lt"/>
                        </a:rPr>
                        <a:t>0.776</a:t>
                      </a:r>
                    </a:p>
                  </a:txBody>
                  <a:tcPr marL="121920" marT="76200" marB="76200" anchor="ctr"/>
                </a:tc>
                <a:extLst>
                  <a:ext uri="{0D108BD9-81ED-4DB2-BD59-A6C34878D82A}">
                    <a16:rowId xmlns:a16="http://schemas.microsoft.com/office/drawing/2014/main" val="993963442"/>
                  </a:ext>
                </a:extLst>
              </a:tr>
              <a:tr h="1054617">
                <a:tc>
                  <a:txBody>
                    <a:bodyPr/>
                    <a:lstStyle/>
                    <a:p>
                      <a:pPr>
                        <a:lnSpc>
                          <a:spcPts val="1875"/>
                        </a:lnSpc>
                        <a:buNone/>
                      </a:pPr>
                      <a:r>
                        <a:rPr lang="ru-RU" b="1">
                          <a:effectLst/>
                          <a:latin typeface="+mn-lt"/>
                        </a:rPr>
                        <a:t>Равномерная по хромосомам</a:t>
                      </a:r>
                      <a:endParaRPr lang="ru-RU" b="0">
                        <a:effectLst/>
                        <a:latin typeface="+mn-lt"/>
                      </a:endParaRPr>
                    </a:p>
                  </a:txBody>
                  <a:tcPr marR="121920" marT="76200" marB="76200" anchor="ctr"/>
                </a:tc>
                <a:tc>
                  <a:txBody>
                    <a:bodyPr/>
                    <a:lstStyle/>
                    <a:p>
                      <a:pPr>
                        <a:lnSpc>
                          <a:spcPts val="1875"/>
                        </a:lnSpc>
                        <a:buNone/>
                      </a:pPr>
                      <a:r>
                        <a:rPr lang="ru-RU" b="0">
                          <a:effectLst/>
                          <a:latin typeface="+mn-lt"/>
                        </a:rPr>
                        <a:t>Пропорционально длине хромосомы + равномерный шаг внутри</a:t>
                      </a:r>
                    </a:p>
                  </a:txBody>
                  <a:tcPr marL="121920" marR="121920" marT="76200" marB="76200" anchor="ctr"/>
                </a:tc>
                <a:tc>
                  <a:txBody>
                    <a:bodyPr/>
                    <a:lstStyle/>
                    <a:p>
                      <a:pPr>
                        <a:lnSpc>
                          <a:spcPts val="1875"/>
                        </a:lnSpc>
                        <a:buNone/>
                      </a:pPr>
                      <a:r>
                        <a:rPr lang="ru-RU" b="0">
                          <a:effectLst/>
                          <a:latin typeface="+mn-lt"/>
                        </a:rPr>
                        <a:t>63 005</a:t>
                      </a:r>
                    </a:p>
                  </a:txBody>
                  <a:tcPr marL="121920" marR="121920" marT="76200" marB="76200" anchor="ctr"/>
                </a:tc>
                <a:tc>
                  <a:txBody>
                    <a:bodyPr/>
                    <a:lstStyle/>
                    <a:p>
                      <a:pPr>
                        <a:lnSpc>
                          <a:spcPts val="1875"/>
                        </a:lnSpc>
                        <a:buNone/>
                      </a:pPr>
                      <a:r>
                        <a:rPr lang="ru-RU" b="0">
                          <a:effectLst/>
                          <a:latin typeface="+mn-lt"/>
                        </a:rPr>
                        <a:t>0.850</a:t>
                      </a:r>
                    </a:p>
                  </a:txBody>
                  <a:tcPr marL="121920" marR="121920" marT="76200" marB="76200" anchor="ctr"/>
                </a:tc>
                <a:tc>
                  <a:txBody>
                    <a:bodyPr/>
                    <a:lstStyle/>
                    <a:p>
                      <a:pPr>
                        <a:lnSpc>
                          <a:spcPts val="1875"/>
                        </a:lnSpc>
                        <a:buNone/>
                      </a:pPr>
                      <a:r>
                        <a:rPr lang="ru-RU" b="0" dirty="0">
                          <a:effectLst/>
                          <a:latin typeface="+mn-lt"/>
                        </a:rPr>
                        <a:t>0.783</a:t>
                      </a:r>
                    </a:p>
                  </a:txBody>
                  <a:tcPr marL="121920" marT="76200" marB="76200" anchor="ctr"/>
                </a:tc>
                <a:extLst>
                  <a:ext uri="{0D108BD9-81ED-4DB2-BD59-A6C34878D82A}">
                    <a16:rowId xmlns:a16="http://schemas.microsoft.com/office/drawing/2014/main" val="2875684188"/>
                  </a:ext>
                </a:extLst>
              </a:tr>
            </a:tbl>
          </a:graphicData>
        </a:graphic>
      </p:graphicFrame>
    </p:spTree>
    <p:extLst>
      <p:ext uri="{BB962C8B-B14F-4D97-AF65-F5344CB8AC3E}">
        <p14:creationId xmlns:p14="http://schemas.microsoft.com/office/powerpoint/2010/main" val="3217233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2888716-DEAB-6941-1D3C-2F7CD8F9F7FF}"/>
              </a:ext>
            </a:extLst>
          </p:cNvPr>
          <p:cNvSpPr>
            <a:spLocks noGrp="1"/>
          </p:cNvSpPr>
          <p:nvPr>
            <p:ph type="title"/>
          </p:nvPr>
        </p:nvSpPr>
        <p:spPr/>
        <p:txBody>
          <a:bodyPr>
            <a:normAutofit fontScale="90000"/>
          </a:bodyPr>
          <a:lstStyle/>
          <a:p>
            <a:r>
              <a:rPr lang="ru-RU" b="1" dirty="0"/>
              <a:t>Результаты на рапсе</a:t>
            </a:r>
            <a:br>
              <a:rPr lang="ru-RU" b="1" dirty="0"/>
            </a:br>
            <a:endParaRPr lang="ru-RU" dirty="0"/>
          </a:p>
        </p:txBody>
      </p:sp>
      <p:sp>
        <p:nvSpPr>
          <p:cNvPr id="3" name="Номер слайда 2">
            <a:extLst>
              <a:ext uri="{FF2B5EF4-FFF2-40B4-BE49-F238E27FC236}">
                <a16:creationId xmlns:a16="http://schemas.microsoft.com/office/drawing/2014/main" id="{78E14359-DC4A-9255-46DB-35F5BE2CD955}"/>
              </a:ext>
            </a:extLst>
          </p:cNvPr>
          <p:cNvSpPr>
            <a:spLocks noGrp="1"/>
          </p:cNvSpPr>
          <p:nvPr>
            <p:ph type="sldNum" sz="quarter" idx="12"/>
          </p:nvPr>
        </p:nvSpPr>
        <p:spPr/>
        <p:txBody>
          <a:bodyPr/>
          <a:lstStyle/>
          <a:p>
            <a:fld id="{B19B0651-EE4F-4900-A07F-96A6BFA9D0F0}" type="slidenum">
              <a:rPr lang="ru-RU" smtClean="0"/>
              <a:pPr/>
              <a:t>20</a:t>
            </a:fld>
            <a:endParaRPr lang="ru-RU" dirty="0"/>
          </a:p>
        </p:txBody>
      </p:sp>
      <p:graphicFrame>
        <p:nvGraphicFramePr>
          <p:cNvPr id="5" name="Объект 4">
            <a:extLst>
              <a:ext uri="{FF2B5EF4-FFF2-40B4-BE49-F238E27FC236}">
                <a16:creationId xmlns:a16="http://schemas.microsoft.com/office/drawing/2014/main" id="{7EA7AA4D-FFF8-DB19-E3DB-0CEE0081BBA6}"/>
              </a:ext>
            </a:extLst>
          </p:cNvPr>
          <p:cNvGraphicFramePr>
            <a:graphicFrameLocks noGrp="1"/>
          </p:cNvGraphicFramePr>
          <p:nvPr>
            <p:ph sz="quarter" idx="1"/>
            <p:extLst>
              <p:ext uri="{D42A27DB-BD31-4B8C-83A1-F6EECF244321}">
                <p14:modId xmlns:p14="http://schemas.microsoft.com/office/powerpoint/2010/main" val="3664454130"/>
              </p:ext>
            </p:extLst>
          </p:nvPr>
        </p:nvGraphicFramePr>
        <p:xfrm>
          <a:off x="609600" y="1561524"/>
          <a:ext cx="6566520" cy="1816100"/>
        </p:xfrm>
        <a:graphic>
          <a:graphicData uri="http://schemas.openxmlformats.org/drawingml/2006/table">
            <a:tbl>
              <a:tblPr firstRow="1" bandRow="1">
                <a:tableStyleId>{5C22544A-7EE6-4342-B048-85BDC9FD1C3A}</a:tableStyleId>
              </a:tblPr>
              <a:tblGrid>
                <a:gridCol w="2822104">
                  <a:extLst>
                    <a:ext uri="{9D8B030D-6E8A-4147-A177-3AD203B41FA5}">
                      <a16:colId xmlns:a16="http://schemas.microsoft.com/office/drawing/2014/main" val="1989311117"/>
                    </a:ext>
                  </a:extLst>
                </a:gridCol>
                <a:gridCol w="1008112">
                  <a:extLst>
                    <a:ext uri="{9D8B030D-6E8A-4147-A177-3AD203B41FA5}">
                      <a16:colId xmlns:a16="http://schemas.microsoft.com/office/drawing/2014/main" val="2825708622"/>
                    </a:ext>
                  </a:extLst>
                </a:gridCol>
                <a:gridCol w="936104">
                  <a:extLst>
                    <a:ext uri="{9D8B030D-6E8A-4147-A177-3AD203B41FA5}">
                      <a16:colId xmlns:a16="http://schemas.microsoft.com/office/drawing/2014/main" val="1702043154"/>
                    </a:ext>
                  </a:extLst>
                </a:gridCol>
                <a:gridCol w="1800200">
                  <a:extLst>
                    <a:ext uri="{9D8B030D-6E8A-4147-A177-3AD203B41FA5}">
                      <a16:colId xmlns:a16="http://schemas.microsoft.com/office/drawing/2014/main" val="3485771960"/>
                    </a:ext>
                  </a:extLst>
                </a:gridCol>
              </a:tblGrid>
              <a:tr h="370840">
                <a:tc>
                  <a:txBody>
                    <a:bodyPr/>
                    <a:lstStyle/>
                    <a:p>
                      <a:pPr algn="ctr">
                        <a:lnSpc>
                          <a:spcPts val="1875"/>
                        </a:lnSpc>
                        <a:buNone/>
                      </a:pPr>
                      <a:r>
                        <a:rPr lang="ru-RU" b="1">
                          <a:effectLst/>
                          <a:latin typeface="+mn-lt"/>
                        </a:rPr>
                        <a:t>Метод агрегации</a:t>
                      </a:r>
                    </a:p>
                  </a:txBody>
                  <a:tcPr marR="121920" marT="76200" marB="76200" anchor="ctr"/>
                </a:tc>
                <a:tc>
                  <a:txBody>
                    <a:bodyPr/>
                    <a:lstStyle/>
                    <a:p>
                      <a:pPr algn="ctr">
                        <a:lnSpc>
                          <a:spcPts val="1875"/>
                        </a:lnSpc>
                        <a:buNone/>
                      </a:pPr>
                      <a:r>
                        <a:rPr lang="ru-RU" b="1" dirty="0">
                          <a:effectLst/>
                          <a:latin typeface="+mn-lt"/>
                        </a:rPr>
                        <a:t>FT (r)</a:t>
                      </a:r>
                    </a:p>
                  </a:txBody>
                  <a:tcPr marL="121920" marR="121920" marT="76200" marB="76200" anchor="ctr"/>
                </a:tc>
                <a:tc>
                  <a:txBody>
                    <a:bodyPr/>
                    <a:lstStyle/>
                    <a:p>
                      <a:pPr algn="ctr">
                        <a:lnSpc>
                          <a:spcPts val="1875"/>
                        </a:lnSpc>
                        <a:buNone/>
                      </a:pPr>
                      <a:r>
                        <a:rPr lang="ru-RU" b="1" dirty="0">
                          <a:effectLst/>
                          <a:latin typeface="+mn-lt"/>
                        </a:rPr>
                        <a:t>GC (r)</a:t>
                      </a:r>
                    </a:p>
                  </a:txBody>
                  <a:tcPr marL="121920" marR="121920" marT="76200" marB="76200" anchor="ctr"/>
                </a:tc>
                <a:tc>
                  <a:txBody>
                    <a:bodyPr/>
                    <a:lstStyle/>
                    <a:p>
                      <a:pPr algn="ctr">
                        <a:lnSpc>
                          <a:spcPts val="1875"/>
                        </a:lnSpc>
                        <a:buNone/>
                      </a:pPr>
                      <a:r>
                        <a:rPr lang="ru-RU" b="1" dirty="0">
                          <a:effectLst/>
                          <a:latin typeface="+mn-lt"/>
                        </a:rPr>
                        <a:t>Число параметров</a:t>
                      </a:r>
                    </a:p>
                  </a:txBody>
                  <a:tcPr marL="121920" marR="121920" marT="76200" marB="76200" anchor="ctr"/>
                </a:tc>
                <a:extLst>
                  <a:ext uri="{0D108BD9-81ED-4DB2-BD59-A6C34878D82A}">
                    <a16:rowId xmlns:a16="http://schemas.microsoft.com/office/drawing/2014/main" val="3457276744"/>
                  </a:ext>
                </a:extLst>
              </a:tr>
              <a:tr h="370840">
                <a:tc>
                  <a:txBody>
                    <a:bodyPr/>
                    <a:lstStyle/>
                    <a:p>
                      <a:pPr>
                        <a:lnSpc>
                          <a:spcPts val="1875"/>
                        </a:lnSpc>
                        <a:buNone/>
                      </a:pPr>
                      <a:r>
                        <a:rPr lang="ru-RU" b="0">
                          <a:effectLst/>
                          <a:latin typeface="+mn-lt"/>
                        </a:rPr>
                        <a:t>Свёртка (Conv1d)</a:t>
                      </a:r>
                    </a:p>
                  </a:txBody>
                  <a:tcPr marR="121920" marT="76200" marB="76200" anchor="ctr"/>
                </a:tc>
                <a:tc>
                  <a:txBody>
                    <a:bodyPr/>
                    <a:lstStyle/>
                    <a:p>
                      <a:pPr>
                        <a:lnSpc>
                          <a:spcPts val="1875"/>
                        </a:lnSpc>
                        <a:buNone/>
                      </a:pPr>
                      <a:r>
                        <a:rPr lang="ru-RU" b="0" dirty="0">
                          <a:effectLst/>
                          <a:latin typeface="+mn-lt"/>
                        </a:rPr>
                        <a:t>0.854</a:t>
                      </a:r>
                    </a:p>
                  </a:txBody>
                  <a:tcPr marL="121920" marR="121920" marT="76200" marB="76200" anchor="ctr"/>
                </a:tc>
                <a:tc>
                  <a:txBody>
                    <a:bodyPr/>
                    <a:lstStyle/>
                    <a:p>
                      <a:pPr>
                        <a:lnSpc>
                          <a:spcPts val="1875"/>
                        </a:lnSpc>
                        <a:buNone/>
                      </a:pPr>
                      <a:r>
                        <a:rPr lang="ru-RU" b="0">
                          <a:effectLst/>
                          <a:latin typeface="+mn-lt"/>
                        </a:rPr>
                        <a:t>0.749</a:t>
                      </a:r>
                    </a:p>
                  </a:txBody>
                  <a:tcPr marL="121920" marR="121920" marT="76200" marB="76200" anchor="ctr"/>
                </a:tc>
                <a:tc>
                  <a:txBody>
                    <a:bodyPr/>
                    <a:lstStyle/>
                    <a:p>
                      <a:pPr>
                        <a:lnSpc>
                          <a:spcPts val="1875"/>
                        </a:lnSpc>
                        <a:buNone/>
                      </a:pPr>
                      <a:r>
                        <a:rPr lang="ru-RU" b="0" dirty="0">
                          <a:effectLst/>
                          <a:latin typeface="+mn-lt"/>
                        </a:rPr>
                        <a:t>6.47M</a:t>
                      </a:r>
                    </a:p>
                  </a:txBody>
                  <a:tcPr marL="121920" marT="76200" marB="76200" anchor="ctr"/>
                </a:tc>
                <a:extLst>
                  <a:ext uri="{0D108BD9-81ED-4DB2-BD59-A6C34878D82A}">
                    <a16:rowId xmlns:a16="http://schemas.microsoft.com/office/drawing/2014/main" val="2784475122"/>
                  </a:ext>
                </a:extLst>
              </a:tr>
              <a:tr h="185420">
                <a:tc>
                  <a:txBody>
                    <a:bodyPr/>
                    <a:lstStyle/>
                    <a:p>
                      <a:pPr>
                        <a:lnSpc>
                          <a:spcPts val="1875"/>
                        </a:lnSpc>
                        <a:buNone/>
                      </a:pPr>
                      <a:r>
                        <a:rPr lang="ru-RU" b="0">
                          <a:effectLst/>
                          <a:latin typeface="+mn-lt"/>
                        </a:rPr>
                        <a:t>Внимание (Attention)</a:t>
                      </a:r>
                    </a:p>
                  </a:txBody>
                  <a:tcPr marR="121920" marT="76200" marB="76200" anchor="ctr"/>
                </a:tc>
                <a:tc>
                  <a:txBody>
                    <a:bodyPr/>
                    <a:lstStyle/>
                    <a:p>
                      <a:pPr>
                        <a:lnSpc>
                          <a:spcPts val="1875"/>
                        </a:lnSpc>
                        <a:buNone/>
                      </a:pPr>
                      <a:r>
                        <a:rPr lang="ru-RU" b="0">
                          <a:effectLst/>
                          <a:latin typeface="+mn-lt"/>
                        </a:rPr>
                        <a:t>0.890</a:t>
                      </a:r>
                    </a:p>
                  </a:txBody>
                  <a:tcPr marL="121920" marR="121920" marT="76200" marB="76200" anchor="ctr"/>
                </a:tc>
                <a:tc>
                  <a:txBody>
                    <a:bodyPr/>
                    <a:lstStyle/>
                    <a:p>
                      <a:pPr>
                        <a:lnSpc>
                          <a:spcPts val="1875"/>
                        </a:lnSpc>
                        <a:buNone/>
                      </a:pPr>
                      <a:r>
                        <a:rPr lang="ru-RU" b="0">
                          <a:effectLst/>
                          <a:latin typeface="+mn-lt"/>
                        </a:rPr>
                        <a:t>0.772</a:t>
                      </a:r>
                    </a:p>
                  </a:txBody>
                  <a:tcPr marL="121920" marR="121920" marT="76200" marB="76200" anchor="ctr"/>
                </a:tc>
                <a:tc>
                  <a:txBody>
                    <a:bodyPr/>
                    <a:lstStyle/>
                    <a:p>
                      <a:pPr>
                        <a:lnSpc>
                          <a:spcPts val="1875"/>
                        </a:lnSpc>
                        <a:buNone/>
                      </a:pPr>
                      <a:r>
                        <a:rPr lang="ru-RU" b="0" dirty="0">
                          <a:effectLst/>
                          <a:latin typeface="+mn-lt"/>
                        </a:rPr>
                        <a:t>4.85M</a:t>
                      </a:r>
                    </a:p>
                  </a:txBody>
                  <a:tcPr marL="121920" marT="76200" marB="76200" anchor="ctr"/>
                </a:tc>
                <a:extLst>
                  <a:ext uri="{0D108BD9-81ED-4DB2-BD59-A6C34878D82A}">
                    <a16:rowId xmlns:a16="http://schemas.microsoft.com/office/drawing/2014/main" val="1781639793"/>
                  </a:ext>
                </a:extLst>
              </a:tr>
              <a:tr h="185420">
                <a:tc>
                  <a:txBody>
                    <a:bodyPr/>
                    <a:lstStyle/>
                    <a:p>
                      <a:pPr>
                        <a:lnSpc>
                          <a:spcPts val="1875"/>
                        </a:lnSpc>
                        <a:buNone/>
                      </a:pPr>
                      <a:r>
                        <a:rPr lang="ru-RU" b="0" dirty="0">
                          <a:effectLst/>
                          <a:latin typeface="+mn-lt"/>
                        </a:rPr>
                        <a:t>Изменение</a:t>
                      </a:r>
                    </a:p>
                  </a:txBody>
                  <a:tcPr marR="121920" marT="76200" marB="76200" anchor="ctr"/>
                </a:tc>
                <a:tc>
                  <a:txBody>
                    <a:bodyPr/>
                    <a:lstStyle/>
                    <a:p>
                      <a:pPr>
                        <a:lnSpc>
                          <a:spcPts val="1875"/>
                        </a:lnSpc>
                        <a:buNone/>
                      </a:pPr>
                      <a:r>
                        <a:rPr lang="ru-RU" b="0">
                          <a:effectLst/>
                          <a:latin typeface="+mn-lt"/>
                        </a:rPr>
                        <a:t>+3.6%</a:t>
                      </a:r>
                    </a:p>
                  </a:txBody>
                  <a:tcPr marL="121920" marR="121920" marT="76200" marB="76200" anchor="ctr"/>
                </a:tc>
                <a:tc>
                  <a:txBody>
                    <a:bodyPr/>
                    <a:lstStyle/>
                    <a:p>
                      <a:pPr>
                        <a:lnSpc>
                          <a:spcPts val="1875"/>
                        </a:lnSpc>
                        <a:buNone/>
                      </a:pPr>
                      <a:r>
                        <a:rPr lang="ru-RU" b="0">
                          <a:effectLst/>
                          <a:latin typeface="+mn-lt"/>
                        </a:rPr>
                        <a:t>+2.3%</a:t>
                      </a:r>
                    </a:p>
                  </a:txBody>
                  <a:tcPr marL="121920" marR="121920" marT="76200" marB="76200" anchor="ctr"/>
                </a:tc>
                <a:tc>
                  <a:txBody>
                    <a:bodyPr/>
                    <a:lstStyle/>
                    <a:p>
                      <a:pPr>
                        <a:lnSpc>
                          <a:spcPts val="1875"/>
                        </a:lnSpc>
                        <a:buNone/>
                      </a:pPr>
                      <a:r>
                        <a:rPr lang="ru-RU" b="0" dirty="0">
                          <a:effectLst/>
                          <a:latin typeface="+mn-lt"/>
                        </a:rPr>
                        <a:t>-25%</a:t>
                      </a:r>
                    </a:p>
                  </a:txBody>
                  <a:tcPr marL="121920" marT="76200" marB="76200" anchor="ctr"/>
                </a:tc>
                <a:extLst>
                  <a:ext uri="{0D108BD9-81ED-4DB2-BD59-A6C34878D82A}">
                    <a16:rowId xmlns:a16="http://schemas.microsoft.com/office/drawing/2014/main" val="1365511622"/>
                  </a:ext>
                </a:extLst>
              </a:tr>
            </a:tbl>
          </a:graphicData>
        </a:graphic>
      </p:graphicFrame>
      <p:graphicFrame>
        <p:nvGraphicFramePr>
          <p:cNvPr id="6" name="Таблица 5">
            <a:extLst>
              <a:ext uri="{FF2B5EF4-FFF2-40B4-BE49-F238E27FC236}">
                <a16:creationId xmlns:a16="http://schemas.microsoft.com/office/drawing/2014/main" id="{1147BB01-5AF6-29B9-3F6A-C2F895AE01D3}"/>
              </a:ext>
            </a:extLst>
          </p:cNvPr>
          <p:cNvGraphicFramePr>
            <a:graphicFrameLocks noGrp="1"/>
          </p:cNvGraphicFramePr>
          <p:nvPr>
            <p:extLst>
              <p:ext uri="{D42A27DB-BD31-4B8C-83A1-F6EECF244321}">
                <p14:modId xmlns:p14="http://schemas.microsoft.com/office/powerpoint/2010/main" val="1784898558"/>
              </p:ext>
            </p:extLst>
          </p:nvPr>
        </p:nvGraphicFramePr>
        <p:xfrm>
          <a:off x="609600" y="3796148"/>
          <a:ext cx="6926560" cy="1181100"/>
        </p:xfrm>
        <a:graphic>
          <a:graphicData uri="http://schemas.openxmlformats.org/drawingml/2006/table">
            <a:tbl>
              <a:tblPr firstRow="1" bandRow="1">
                <a:tableStyleId>{5C22544A-7EE6-4342-B048-85BDC9FD1C3A}</a:tableStyleId>
              </a:tblPr>
              <a:tblGrid>
                <a:gridCol w="1165920">
                  <a:extLst>
                    <a:ext uri="{9D8B030D-6E8A-4147-A177-3AD203B41FA5}">
                      <a16:colId xmlns:a16="http://schemas.microsoft.com/office/drawing/2014/main" val="3321723462"/>
                    </a:ext>
                  </a:extLst>
                </a:gridCol>
                <a:gridCol w="2232248">
                  <a:extLst>
                    <a:ext uri="{9D8B030D-6E8A-4147-A177-3AD203B41FA5}">
                      <a16:colId xmlns:a16="http://schemas.microsoft.com/office/drawing/2014/main" val="1706190216"/>
                    </a:ext>
                  </a:extLst>
                </a:gridCol>
                <a:gridCol w="2016224">
                  <a:extLst>
                    <a:ext uri="{9D8B030D-6E8A-4147-A177-3AD203B41FA5}">
                      <a16:colId xmlns:a16="http://schemas.microsoft.com/office/drawing/2014/main" val="3302743435"/>
                    </a:ext>
                  </a:extLst>
                </a:gridCol>
                <a:gridCol w="1512168">
                  <a:extLst>
                    <a:ext uri="{9D8B030D-6E8A-4147-A177-3AD203B41FA5}">
                      <a16:colId xmlns:a16="http://schemas.microsoft.com/office/drawing/2014/main" val="1234680932"/>
                    </a:ext>
                  </a:extLst>
                </a:gridCol>
              </a:tblGrid>
              <a:tr h="370840">
                <a:tc>
                  <a:txBody>
                    <a:bodyPr/>
                    <a:lstStyle/>
                    <a:p>
                      <a:pPr algn="l">
                        <a:lnSpc>
                          <a:spcPts val="1875"/>
                        </a:lnSpc>
                        <a:buNone/>
                      </a:pPr>
                      <a:r>
                        <a:rPr lang="ru-RU" b="1" dirty="0">
                          <a:effectLst/>
                          <a:latin typeface="+mn-lt"/>
                        </a:rPr>
                        <a:t>Ошибка</a:t>
                      </a:r>
                    </a:p>
                  </a:txBody>
                  <a:tcPr marL="121920" marR="121920" marT="76200" marB="76200" anchor="ctr"/>
                </a:tc>
                <a:tc>
                  <a:txBody>
                    <a:bodyPr/>
                    <a:lstStyle/>
                    <a:p>
                      <a:pPr algn="l">
                        <a:lnSpc>
                          <a:spcPts val="1875"/>
                        </a:lnSpc>
                        <a:buNone/>
                      </a:pPr>
                      <a:r>
                        <a:rPr lang="ru-RU" b="1" dirty="0">
                          <a:effectLst/>
                          <a:latin typeface="+mn-lt"/>
                        </a:rPr>
                        <a:t>Без аугментации</a:t>
                      </a:r>
                    </a:p>
                  </a:txBody>
                  <a:tcPr marL="121920" marR="121920" marT="76200" marB="76200" anchor="ctr"/>
                </a:tc>
                <a:tc>
                  <a:txBody>
                    <a:bodyPr/>
                    <a:lstStyle/>
                    <a:p>
                      <a:pPr algn="l">
                        <a:lnSpc>
                          <a:spcPts val="1875"/>
                        </a:lnSpc>
                        <a:buNone/>
                      </a:pPr>
                      <a:r>
                        <a:rPr lang="ru-RU" b="1" dirty="0">
                          <a:effectLst/>
                          <a:latin typeface="+mn-lt"/>
                        </a:rPr>
                        <a:t>С аугментацией</a:t>
                      </a:r>
                    </a:p>
                  </a:txBody>
                  <a:tcPr marL="121920" marR="121920" marT="76200" marB="76200" anchor="ctr"/>
                </a:tc>
                <a:tc>
                  <a:txBody>
                    <a:bodyPr/>
                    <a:lstStyle/>
                    <a:p>
                      <a:pPr algn="l">
                        <a:lnSpc>
                          <a:spcPts val="1875"/>
                        </a:lnSpc>
                        <a:buNone/>
                      </a:pPr>
                      <a:r>
                        <a:rPr lang="ru-RU" b="1" dirty="0">
                          <a:effectLst/>
                          <a:latin typeface="+mn-lt"/>
                        </a:rPr>
                        <a:t>Изменение</a:t>
                      </a:r>
                    </a:p>
                  </a:txBody>
                  <a:tcPr marL="121920" marR="121920" marT="76200" marB="76200" anchor="ctr"/>
                </a:tc>
                <a:extLst>
                  <a:ext uri="{0D108BD9-81ED-4DB2-BD59-A6C34878D82A}">
                    <a16:rowId xmlns:a16="http://schemas.microsoft.com/office/drawing/2014/main" val="4083426902"/>
                  </a:ext>
                </a:extLst>
              </a:tr>
              <a:tr h="370840">
                <a:tc>
                  <a:txBody>
                    <a:bodyPr/>
                    <a:lstStyle/>
                    <a:p>
                      <a:pPr>
                        <a:lnSpc>
                          <a:spcPts val="1875"/>
                        </a:lnSpc>
                        <a:buNone/>
                      </a:pPr>
                      <a:r>
                        <a:rPr lang="ru-RU" b="0">
                          <a:effectLst/>
                          <a:latin typeface="+mn-lt"/>
                        </a:rPr>
                        <a:t>MAPE</a:t>
                      </a:r>
                    </a:p>
                  </a:txBody>
                  <a:tcPr marR="121920" marT="76200" marB="76200" anchor="ctr"/>
                </a:tc>
                <a:tc>
                  <a:txBody>
                    <a:bodyPr/>
                    <a:lstStyle/>
                    <a:p>
                      <a:pPr>
                        <a:lnSpc>
                          <a:spcPts val="1875"/>
                        </a:lnSpc>
                        <a:buNone/>
                      </a:pPr>
                      <a:r>
                        <a:rPr lang="ru-RU" b="0" dirty="0">
                          <a:effectLst/>
                          <a:latin typeface="+mn-lt"/>
                        </a:rPr>
                        <a:t>44.5%</a:t>
                      </a:r>
                    </a:p>
                  </a:txBody>
                  <a:tcPr marL="121920" marR="121920" marT="76200" marB="76200" anchor="ctr"/>
                </a:tc>
                <a:tc>
                  <a:txBody>
                    <a:bodyPr/>
                    <a:lstStyle/>
                    <a:p>
                      <a:pPr>
                        <a:lnSpc>
                          <a:spcPts val="1875"/>
                        </a:lnSpc>
                        <a:buNone/>
                      </a:pPr>
                      <a:r>
                        <a:rPr lang="ru-RU" b="0">
                          <a:effectLst/>
                          <a:latin typeface="+mn-lt"/>
                        </a:rPr>
                        <a:t>35.5%</a:t>
                      </a:r>
                    </a:p>
                  </a:txBody>
                  <a:tcPr marL="121920" marR="121920" marT="76200" marB="76200" anchor="ctr"/>
                </a:tc>
                <a:tc>
                  <a:txBody>
                    <a:bodyPr/>
                    <a:lstStyle/>
                    <a:p>
                      <a:pPr>
                        <a:lnSpc>
                          <a:spcPts val="1875"/>
                        </a:lnSpc>
                        <a:buNone/>
                      </a:pPr>
                      <a:r>
                        <a:rPr lang="ru-RU" b="0">
                          <a:effectLst/>
                          <a:latin typeface="+mn-lt"/>
                        </a:rPr>
                        <a:t>-9%</a:t>
                      </a:r>
                    </a:p>
                  </a:txBody>
                  <a:tcPr marL="121920" marT="76200" marB="76200" anchor="ctr"/>
                </a:tc>
                <a:extLst>
                  <a:ext uri="{0D108BD9-81ED-4DB2-BD59-A6C34878D82A}">
                    <a16:rowId xmlns:a16="http://schemas.microsoft.com/office/drawing/2014/main" val="3893482034"/>
                  </a:ext>
                </a:extLst>
              </a:tr>
              <a:tr h="370840">
                <a:tc>
                  <a:txBody>
                    <a:bodyPr/>
                    <a:lstStyle/>
                    <a:p>
                      <a:pPr>
                        <a:lnSpc>
                          <a:spcPts val="1875"/>
                        </a:lnSpc>
                        <a:buNone/>
                      </a:pPr>
                      <a:r>
                        <a:rPr lang="ru-RU" b="0">
                          <a:effectLst/>
                          <a:latin typeface="+mn-lt"/>
                        </a:rPr>
                        <a:t>MAE</a:t>
                      </a:r>
                    </a:p>
                  </a:txBody>
                  <a:tcPr marR="121920" marT="76200" marB="76200" anchor="ctr"/>
                </a:tc>
                <a:tc>
                  <a:txBody>
                    <a:bodyPr/>
                    <a:lstStyle/>
                    <a:p>
                      <a:pPr>
                        <a:lnSpc>
                          <a:spcPts val="1875"/>
                        </a:lnSpc>
                        <a:buNone/>
                      </a:pPr>
                      <a:r>
                        <a:rPr lang="ru-RU" b="0">
                          <a:effectLst/>
                          <a:latin typeface="+mn-lt"/>
                        </a:rPr>
                        <a:t>28.19</a:t>
                      </a:r>
                    </a:p>
                  </a:txBody>
                  <a:tcPr marL="121920" marR="121920" marT="76200" marB="76200" anchor="ctr"/>
                </a:tc>
                <a:tc>
                  <a:txBody>
                    <a:bodyPr/>
                    <a:lstStyle/>
                    <a:p>
                      <a:pPr>
                        <a:lnSpc>
                          <a:spcPts val="1875"/>
                        </a:lnSpc>
                        <a:buNone/>
                      </a:pPr>
                      <a:r>
                        <a:rPr lang="ru-RU" b="0">
                          <a:effectLst/>
                          <a:latin typeface="+mn-lt"/>
                        </a:rPr>
                        <a:t>24.38</a:t>
                      </a:r>
                    </a:p>
                  </a:txBody>
                  <a:tcPr marL="121920" marR="121920" marT="76200" marB="76200" anchor="ctr"/>
                </a:tc>
                <a:tc>
                  <a:txBody>
                    <a:bodyPr/>
                    <a:lstStyle/>
                    <a:p>
                      <a:pPr>
                        <a:lnSpc>
                          <a:spcPts val="1875"/>
                        </a:lnSpc>
                        <a:buNone/>
                      </a:pPr>
                      <a:r>
                        <a:rPr lang="ru-RU" b="0" dirty="0">
                          <a:effectLst/>
                          <a:latin typeface="+mn-lt"/>
                        </a:rPr>
                        <a:t>-3.81</a:t>
                      </a:r>
                    </a:p>
                  </a:txBody>
                  <a:tcPr marL="121920" marT="76200" marB="76200" anchor="ctr"/>
                </a:tc>
                <a:extLst>
                  <a:ext uri="{0D108BD9-81ED-4DB2-BD59-A6C34878D82A}">
                    <a16:rowId xmlns:a16="http://schemas.microsoft.com/office/drawing/2014/main" val="3567837980"/>
                  </a:ext>
                </a:extLst>
              </a:tr>
            </a:tbl>
          </a:graphicData>
        </a:graphic>
      </p:graphicFrame>
      <p:sp>
        <p:nvSpPr>
          <p:cNvPr id="10" name="TextBox 9">
            <a:extLst>
              <a:ext uri="{FF2B5EF4-FFF2-40B4-BE49-F238E27FC236}">
                <a16:creationId xmlns:a16="http://schemas.microsoft.com/office/drawing/2014/main" id="{D50801F7-6815-E8CF-210D-570EA6F66433}"/>
              </a:ext>
            </a:extLst>
          </p:cNvPr>
          <p:cNvSpPr txBox="1"/>
          <p:nvPr/>
        </p:nvSpPr>
        <p:spPr>
          <a:xfrm>
            <a:off x="7590874" y="1484784"/>
            <a:ext cx="4337774" cy="4524315"/>
          </a:xfrm>
          <a:prstGeom prst="rect">
            <a:avLst/>
          </a:prstGeom>
          <a:noFill/>
        </p:spPr>
        <p:txBody>
          <a:bodyPr wrap="square">
            <a:spAutoFit/>
          </a:bodyPr>
          <a:lstStyle/>
          <a:p>
            <a:r>
              <a:rPr lang="ru-RU" dirty="0"/>
              <a:t>Гипотеза подтверждена: </a:t>
            </a:r>
          </a:p>
          <a:p>
            <a:pPr marL="285750" indent="-285750">
              <a:buFont typeface="Arial" panose="020B0604020202020204" pitchFamily="34" charset="0"/>
              <a:buChar char="•"/>
            </a:pPr>
            <a:r>
              <a:rPr lang="ru-RU" dirty="0"/>
              <a:t>механизм внимания на уровне SNP наиболее эффективен при высокой плотности SNP на ген. Для обоих признаков достигнут прирост корреляции: +3.6% для времени цветения, +2.3% для </a:t>
            </a:r>
            <a:r>
              <a:rPr lang="ru-RU" dirty="0" err="1"/>
              <a:t>глюкозинолатов</a:t>
            </a:r>
            <a:r>
              <a:rPr lang="ru-RU" dirty="0"/>
              <a:t>, при этом число параметров сократилось на 25%.</a:t>
            </a:r>
          </a:p>
          <a:p>
            <a:pPr marL="285750" indent="-285750">
              <a:buFont typeface="Arial" panose="020B0604020202020204" pitchFamily="34" charset="0"/>
              <a:buChar char="•"/>
            </a:pPr>
            <a:r>
              <a:rPr lang="ru-RU" dirty="0"/>
              <a:t>Аугментация </a:t>
            </a:r>
            <a:r>
              <a:rPr lang="ru-RU" dirty="0" err="1"/>
              <a:t>MixUp</a:t>
            </a:r>
            <a:r>
              <a:rPr lang="ru-RU" dirty="0"/>
              <a:t> существенно улучшает абсолютную точность предсказания сложных признаков (MAPE </a:t>
            </a:r>
            <a:r>
              <a:rPr lang="ru-RU" dirty="0" err="1"/>
              <a:t>глюкозинолатов</a:t>
            </a:r>
            <a:r>
              <a:rPr lang="ru-RU" dirty="0"/>
              <a:t> ↓ на 9%), что особенно важно при ограниченном количестве обучающих образцов (189).</a:t>
            </a:r>
          </a:p>
        </p:txBody>
      </p:sp>
    </p:spTree>
    <p:extLst>
      <p:ext uri="{BB962C8B-B14F-4D97-AF65-F5344CB8AC3E}">
        <p14:creationId xmlns:p14="http://schemas.microsoft.com/office/powerpoint/2010/main" val="3340933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F690E55-0492-3132-C3D4-98AF4A1190D7}"/>
              </a:ext>
            </a:extLst>
          </p:cNvPr>
          <p:cNvSpPr>
            <a:spLocks noGrp="1"/>
          </p:cNvSpPr>
          <p:nvPr>
            <p:ph type="title"/>
          </p:nvPr>
        </p:nvSpPr>
        <p:spPr/>
        <p:txBody>
          <a:bodyPr>
            <a:normAutofit fontScale="90000"/>
          </a:bodyPr>
          <a:lstStyle/>
          <a:p>
            <a:r>
              <a:rPr lang="ru-RU" sz="3600" b="1" dirty="0"/>
              <a:t>Выявление взаимодействий генов с помощью значений Шепли</a:t>
            </a:r>
            <a:endParaRPr lang="ru-RU" dirty="0"/>
          </a:p>
        </p:txBody>
      </p:sp>
      <p:sp>
        <p:nvSpPr>
          <p:cNvPr id="3" name="Номер слайда 2">
            <a:extLst>
              <a:ext uri="{FF2B5EF4-FFF2-40B4-BE49-F238E27FC236}">
                <a16:creationId xmlns:a16="http://schemas.microsoft.com/office/drawing/2014/main" id="{C46770DC-4B54-86AD-987C-CD1155C17BED}"/>
              </a:ext>
            </a:extLst>
          </p:cNvPr>
          <p:cNvSpPr>
            <a:spLocks noGrp="1"/>
          </p:cNvSpPr>
          <p:nvPr>
            <p:ph type="sldNum" sz="quarter" idx="12"/>
          </p:nvPr>
        </p:nvSpPr>
        <p:spPr/>
        <p:txBody>
          <a:bodyPr/>
          <a:lstStyle/>
          <a:p>
            <a:fld id="{B19B0651-EE4F-4900-A07F-96A6BFA9D0F0}" type="slidenum">
              <a:rPr lang="ru-RU" smtClean="0"/>
              <a:pPr/>
              <a:t>21</a:t>
            </a:fld>
            <a:endParaRPr lang="ru-RU" dirty="0"/>
          </a:p>
        </p:txBody>
      </p:sp>
      <mc:AlternateContent xmlns:mc="http://schemas.openxmlformats.org/markup-compatibility/2006" xmlns:a14="http://schemas.microsoft.com/office/drawing/2010/main">
        <mc:Choice Requires="a14">
          <p:sp>
            <p:nvSpPr>
              <p:cNvPr id="4" name="Объект 3">
                <a:extLst>
                  <a:ext uri="{FF2B5EF4-FFF2-40B4-BE49-F238E27FC236}">
                    <a16:creationId xmlns:a16="http://schemas.microsoft.com/office/drawing/2014/main" id="{859C7DD4-CEC5-1B88-F33B-0D22E163C4A3}"/>
                  </a:ext>
                </a:extLst>
              </p:cNvPr>
              <p:cNvSpPr>
                <a:spLocks noGrp="1"/>
              </p:cNvSpPr>
              <p:nvPr>
                <p:ph sz="quarter" idx="1"/>
              </p:nvPr>
            </p:nvSpPr>
            <p:spPr/>
            <p:txBody>
              <a:bodyPr>
                <a:normAutofit lnSpcReduction="10000"/>
              </a:bodyPr>
              <a:lstStyle/>
              <a:p>
                <a:r>
                  <a:rPr lang="ru-RU" b="1" dirty="0"/>
                  <a:t>Метод:</a:t>
                </a:r>
                <a:r>
                  <a:rPr lang="ru-RU" dirty="0"/>
                  <a:t> анализ парных взаимодействий генов</a:t>
                </a:r>
                <a:endParaRPr lang="en-US" dirty="0"/>
              </a:p>
              <a:p>
                <a:r>
                  <a:rPr lang="ru-RU" b="1" dirty="0"/>
                  <a:t>Идея:</a:t>
                </a:r>
                <a:br>
                  <a:rPr lang="ru-RU" dirty="0"/>
                </a:br>
                <a:r>
                  <a:rPr lang="ru-RU" dirty="0"/>
                  <a:t>Посмотреть, насколько совместное добавление генов </a:t>
                </a:r>
                <a14:m>
                  <m:oMath xmlns:m="http://schemas.openxmlformats.org/officeDocument/2006/math">
                    <m:r>
                      <a:rPr lang="ru-RU" b="0" i="1">
                        <a:latin typeface="Cambria Math" panose="02040503050406030204" pitchFamily="18" charset="0"/>
                      </a:rPr>
                      <m:t>𝑖</m:t>
                    </m:r>
                  </m:oMath>
                </a14:m>
                <a:r>
                  <a:rPr lang="ru-RU" dirty="0"/>
                  <a:t> и </a:t>
                </a:r>
                <a14:m>
                  <m:oMath xmlns:m="http://schemas.openxmlformats.org/officeDocument/2006/math">
                    <m:r>
                      <a:rPr lang="ru-RU" b="0" i="1">
                        <a:latin typeface="Cambria Math" panose="02040503050406030204" pitchFamily="18" charset="0"/>
                      </a:rPr>
                      <m:t>𝑗</m:t>
                    </m:r>
                  </m:oMath>
                </a14:m>
                <a:r>
                  <a:rPr lang="ru-RU" dirty="0"/>
                  <a:t> отличается от суммы их индивидуальных эффектов.</a:t>
                </a:r>
              </a:p>
              <a:p>
                <a:r>
                  <a:rPr lang="ru-RU" b="1" dirty="0"/>
                  <a:t>Формула парного взаимодействия</a:t>
                </a:r>
                <a:r>
                  <a:rPr lang="ru-RU" dirty="0"/>
                  <a:t>:</a:t>
                </a:r>
              </a:p>
              <a:p>
                <a:pPr marL="0" indent="0">
                  <a:buNone/>
                </a:pPr>
                <a14:m>
                  <m:oMathPara xmlns:m="http://schemas.openxmlformats.org/officeDocument/2006/math">
                    <m:oMathParaPr>
                      <m:jc m:val="centerGroup"/>
                    </m:oMathParaPr>
                    <m:oMath xmlns:m="http://schemas.openxmlformats.org/officeDocument/2006/math">
                      <m:sSub>
                        <m:sSubPr>
                          <m:ctrlPr>
                            <a:rPr lang="ru-RU" i="1">
                              <a:latin typeface="Cambria Math" panose="02040503050406030204" pitchFamily="18" charset="0"/>
                            </a:rPr>
                          </m:ctrlPr>
                        </m:sSubPr>
                        <m:e>
                          <m:r>
                            <a:rPr lang="ru-RU" i="1">
                              <a:latin typeface="Cambria Math" panose="02040503050406030204" pitchFamily="18" charset="0"/>
                            </a:rPr>
                            <m:t>𝜑</m:t>
                          </m:r>
                        </m:e>
                        <m:sub>
                          <m:r>
                            <a:rPr lang="ru-RU" i="1">
                              <a:latin typeface="Cambria Math" panose="02040503050406030204" pitchFamily="18" charset="0"/>
                            </a:rPr>
                            <m:t>𝑖</m:t>
                          </m:r>
                          <m:r>
                            <a:rPr lang="ru-RU">
                              <a:latin typeface="Cambria Math" panose="02040503050406030204" pitchFamily="18" charset="0"/>
                            </a:rPr>
                            <m:t>,</m:t>
                          </m:r>
                          <m:r>
                            <a:rPr lang="ru-RU" i="1">
                              <a:latin typeface="Cambria Math" panose="02040503050406030204" pitchFamily="18" charset="0"/>
                            </a:rPr>
                            <m:t>𝑗</m:t>
                          </m:r>
                        </m:sub>
                      </m:sSub>
                      <m:r>
                        <a:rPr lang="ru-RU">
                          <a:latin typeface="Cambria Math" panose="02040503050406030204" pitchFamily="18" charset="0"/>
                        </a:rPr>
                        <m:t>=</m:t>
                      </m:r>
                      <m:sSub>
                        <m:sSubPr>
                          <m:ctrlPr>
                            <a:rPr lang="ru-RU" i="1">
                              <a:latin typeface="Cambria Math" panose="02040503050406030204" pitchFamily="18" charset="0"/>
                            </a:rPr>
                          </m:ctrlPr>
                        </m:sSubPr>
                        <m:e>
                          <m:r>
                            <a:rPr lang="ru-RU">
                              <a:latin typeface="Cambria Math" panose="02040503050406030204" pitchFamily="18" charset="0"/>
                            </a:rPr>
                            <m:t>𝔼</m:t>
                          </m:r>
                        </m:e>
                        <m:sub>
                          <m:r>
                            <a:rPr lang="ru-RU" i="1">
                              <a:latin typeface="Cambria Math" panose="02040503050406030204" pitchFamily="18" charset="0"/>
                            </a:rPr>
                            <m:t>𝑆</m:t>
                          </m:r>
                          <m:r>
                            <a:rPr lang="ru-RU">
                              <a:latin typeface="Cambria Math" panose="02040503050406030204" pitchFamily="18" charset="0"/>
                            </a:rPr>
                            <m:t>⊆</m:t>
                          </m:r>
                          <m:r>
                            <a:rPr lang="ru-RU" i="1">
                              <a:latin typeface="Cambria Math" panose="02040503050406030204" pitchFamily="18" charset="0"/>
                            </a:rPr>
                            <m:t>𝑁</m:t>
                          </m:r>
                          <m:r>
                            <a:rPr lang="ru-RU">
                              <a:latin typeface="Cambria Math" panose="02040503050406030204" pitchFamily="18" charset="0"/>
                            </a:rPr>
                            <m:t>∖</m:t>
                          </m:r>
                          <m:d>
                            <m:dPr>
                              <m:begChr m:val="{"/>
                              <m:endChr m:val="}"/>
                              <m:sepChr m:val=","/>
                              <m:ctrlPr>
                                <a:rPr lang="ru-RU" i="1">
                                  <a:latin typeface="Cambria Math" panose="02040503050406030204" pitchFamily="18" charset="0"/>
                                </a:rPr>
                              </m:ctrlPr>
                            </m:dPr>
                            <m:e>
                              <m:r>
                                <a:rPr lang="ru-RU" i="1">
                                  <a:latin typeface="Cambria Math" panose="02040503050406030204" pitchFamily="18" charset="0"/>
                                </a:rPr>
                                <m:t>𝑖</m:t>
                              </m:r>
                            </m:e>
                            <m:e>
                              <m:r>
                                <a:rPr lang="ru-RU" i="1">
                                  <a:latin typeface="Cambria Math" panose="02040503050406030204" pitchFamily="18" charset="0"/>
                                </a:rPr>
                                <m:t>𝑗</m:t>
                              </m:r>
                            </m:e>
                          </m:d>
                        </m:sub>
                      </m:sSub>
                      <m:d>
                        <m:dPr>
                          <m:begChr m:val="["/>
                          <m:endChr m:val="]"/>
                          <m:ctrlPr>
                            <a:rPr lang="ru-RU" i="1">
                              <a:latin typeface="Cambria Math" panose="02040503050406030204" pitchFamily="18" charset="0"/>
                            </a:rPr>
                          </m:ctrlPr>
                        </m:dPr>
                        <m:e>
                          <m:limLow>
                            <m:limLowPr>
                              <m:ctrlPr>
                                <a:rPr lang="ru-RU" i="1">
                                  <a:latin typeface="Cambria Math" panose="02040503050406030204" pitchFamily="18" charset="0"/>
                                </a:rPr>
                              </m:ctrlPr>
                            </m:limLowPr>
                            <m:e>
                              <m:groupChr>
                                <m:groupChrPr>
                                  <m:chr m:val="⏟"/>
                                  <m:ctrlPr>
                                    <a:rPr lang="ru-RU" i="1">
                                      <a:latin typeface="Cambria Math" panose="02040503050406030204" pitchFamily="18" charset="0"/>
                                    </a:rPr>
                                  </m:ctrlPr>
                                </m:groupChrPr>
                                <m:e>
                                  <m:r>
                                    <a:rPr lang="ru-RU" i="1">
                                      <a:latin typeface="Cambria Math" panose="02040503050406030204" pitchFamily="18" charset="0"/>
                                    </a:rPr>
                                    <m:t>𝑓</m:t>
                                  </m:r>
                                  <m:d>
                                    <m:dPr>
                                      <m:ctrlPr>
                                        <a:rPr lang="ru-RU" i="1">
                                          <a:latin typeface="Cambria Math" panose="02040503050406030204" pitchFamily="18" charset="0"/>
                                        </a:rPr>
                                      </m:ctrlPr>
                                    </m:dPr>
                                    <m:e>
                                      <m:r>
                                        <a:rPr lang="ru-RU" i="1">
                                          <a:latin typeface="Cambria Math" panose="02040503050406030204" pitchFamily="18" charset="0"/>
                                        </a:rPr>
                                        <m:t>𝑆</m:t>
                                      </m:r>
                                      <m:r>
                                        <a:rPr lang="ru-RU">
                                          <a:latin typeface="Cambria Math" panose="02040503050406030204" pitchFamily="18" charset="0"/>
                                        </a:rPr>
                                        <m:t>∪</m:t>
                                      </m:r>
                                      <m:d>
                                        <m:dPr>
                                          <m:begChr m:val="{"/>
                                          <m:endChr m:val="}"/>
                                          <m:sepChr m:val=","/>
                                          <m:ctrlPr>
                                            <a:rPr lang="ru-RU" i="1">
                                              <a:latin typeface="Cambria Math" panose="02040503050406030204" pitchFamily="18" charset="0"/>
                                            </a:rPr>
                                          </m:ctrlPr>
                                        </m:dPr>
                                        <m:e>
                                          <m:r>
                                            <a:rPr lang="ru-RU" i="1">
                                              <a:latin typeface="Cambria Math" panose="02040503050406030204" pitchFamily="18" charset="0"/>
                                            </a:rPr>
                                            <m:t>𝑖</m:t>
                                          </m:r>
                                        </m:e>
                                        <m:e>
                                          <m:r>
                                            <a:rPr lang="ru-RU" i="1">
                                              <a:latin typeface="Cambria Math" panose="02040503050406030204" pitchFamily="18" charset="0"/>
                                            </a:rPr>
                                            <m:t>𝑗</m:t>
                                          </m:r>
                                        </m:e>
                                      </m:d>
                                    </m:e>
                                  </m:d>
                                </m:e>
                              </m:groupChr>
                            </m:e>
                            <m:lim>
                              <m:r>
                                <m:rPr>
                                  <m:nor/>
                                </m:rPr>
                                <a:rPr lang="ru-RU" i="1"/>
                                <m:t>оба</m:t>
                              </m:r>
                            </m:lim>
                          </m:limLow>
                          <m:r>
                            <a:rPr lang="ru-RU">
                              <a:latin typeface="Cambria Math" panose="02040503050406030204" pitchFamily="18" charset="0"/>
                            </a:rPr>
                            <m:t>−</m:t>
                          </m:r>
                          <m:limLow>
                            <m:limLowPr>
                              <m:ctrlPr>
                                <a:rPr lang="ru-RU" i="1">
                                  <a:latin typeface="Cambria Math" panose="02040503050406030204" pitchFamily="18" charset="0"/>
                                </a:rPr>
                              </m:ctrlPr>
                            </m:limLowPr>
                            <m:e>
                              <m:groupChr>
                                <m:groupChrPr>
                                  <m:chr m:val="⏟"/>
                                  <m:ctrlPr>
                                    <a:rPr lang="ru-RU" i="1">
                                      <a:latin typeface="Cambria Math" panose="02040503050406030204" pitchFamily="18" charset="0"/>
                                    </a:rPr>
                                  </m:ctrlPr>
                                </m:groupChrPr>
                                <m:e>
                                  <m:r>
                                    <a:rPr lang="ru-RU" i="1">
                                      <a:latin typeface="Cambria Math" panose="02040503050406030204" pitchFamily="18" charset="0"/>
                                    </a:rPr>
                                    <m:t>𝑓</m:t>
                                  </m:r>
                                  <m:d>
                                    <m:dPr>
                                      <m:ctrlPr>
                                        <a:rPr lang="ru-RU" i="1">
                                          <a:latin typeface="Cambria Math" panose="02040503050406030204" pitchFamily="18" charset="0"/>
                                        </a:rPr>
                                      </m:ctrlPr>
                                    </m:dPr>
                                    <m:e>
                                      <m:r>
                                        <a:rPr lang="ru-RU" i="1">
                                          <a:latin typeface="Cambria Math" panose="02040503050406030204" pitchFamily="18" charset="0"/>
                                        </a:rPr>
                                        <m:t>𝑆</m:t>
                                      </m:r>
                                      <m:r>
                                        <a:rPr lang="ru-RU">
                                          <a:latin typeface="Cambria Math" panose="02040503050406030204" pitchFamily="18" charset="0"/>
                                        </a:rPr>
                                        <m:t>∪</m:t>
                                      </m:r>
                                      <m:d>
                                        <m:dPr>
                                          <m:begChr m:val="{"/>
                                          <m:endChr m:val="}"/>
                                          <m:ctrlPr>
                                            <a:rPr lang="ru-RU" i="1">
                                              <a:latin typeface="Cambria Math" panose="02040503050406030204" pitchFamily="18" charset="0"/>
                                            </a:rPr>
                                          </m:ctrlPr>
                                        </m:dPr>
                                        <m:e>
                                          <m:r>
                                            <a:rPr lang="ru-RU" i="1">
                                              <a:latin typeface="Cambria Math" panose="02040503050406030204" pitchFamily="18" charset="0"/>
                                            </a:rPr>
                                            <m:t>𝑖</m:t>
                                          </m:r>
                                        </m:e>
                                      </m:d>
                                    </m:e>
                                  </m:d>
                                </m:e>
                              </m:groupChr>
                            </m:e>
                            <m:lim>
                              <m:r>
                                <m:rPr>
                                  <m:nor/>
                                </m:rPr>
                                <a:rPr lang="ru-RU" i="1"/>
                                <m:t>только </m:t>
                              </m:r>
                              <m:r>
                                <a:rPr lang="ru-RU" i="1">
                                  <a:latin typeface="Cambria Math" panose="02040503050406030204" pitchFamily="18" charset="0"/>
                                </a:rPr>
                                <m:t>𝑖</m:t>
                              </m:r>
                            </m:lim>
                          </m:limLow>
                          <m:r>
                            <a:rPr lang="ru-RU">
                              <a:latin typeface="Cambria Math" panose="02040503050406030204" pitchFamily="18" charset="0"/>
                            </a:rPr>
                            <m:t>−</m:t>
                          </m:r>
                          <m:limLow>
                            <m:limLowPr>
                              <m:ctrlPr>
                                <a:rPr lang="ru-RU" i="1">
                                  <a:latin typeface="Cambria Math" panose="02040503050406030204" pitchFamily="18" charset="0"/>
                                </a:rPr>
                              </m:ctrlPr>
                            </m:limLowPr>
                            <m:e>
                              <m:groupChr>
                                <m:groupChrPr>
                                  <m:chr m:val="⏟"/>
                                  <m:ctrlPr>
                                    <a:rPr lang="ru-RU" i="1">
                                      <a:latin typeface="Cambria Math" panose="02040503050406030204" pitchFamily="18" charset="0"/>
                                    </a:rPr>
                                  </m:ctrlPr>
                                </m:groupChrPr>
                                <m:e>
                                  <m:r>
                                    <a:rPr lang="ru-RU" i="1">
                                      <a:latin typeface="Cambria Math" panose="02040503050406030204" pitchFamily="18" charset="0"/>
                                    </a:rPr>
                                    <m:t>𝑓</m:t>
                                  </m:r>
                                  <m:d>
                                    <m:dPr>
                                      <m:ctrlPr>
                                        <a:rPr lang="ru-RU" i="1">
                                          <a:latin typeface="Cambria Math" panose="02040503050406030204" pitchFamily="18" charset="0"/>
                                        </a:rPr>
                                      </m:ctrlPr>
                                    </m:dPr>
                                    <m:e>
                                      <m:r>
                                        <a:rPr lang="ru-RU" i="1">
                                          <a:latin typeface="Cambria Math" panose="02040503050406030204" pitchFamily="18" charset="0"/>
                                        </a:rPr>
                                        <m:t>𝑆</m:t>
                                      </m:r>
                                      <m:r>
                                        <a:rPr lang="ru-RU">
                                          <a:latin typeface="Cambria Math" panose="02040503050406030204" pitchFamily="18" charset="0"/>
                                        </a:rPr>
                                        <m:t>∪</m:t>
                                      </m:r>
                                      <m:d>
                                        <m:dPr>
                                          <m:begChr m:val="{"/>
                                          <m:endChr m:val="}"/>
                                          <m:ctrlPr>
                                            <a:rPr lang="ru-RU" i="1">
                                              <a:latin typeface="Cambria Math" panose="02040503050406030204" pitchFamily="18" charset="0"/>
                                            </a:rPr>
                                          </m:ctrlPr>
                                        </m:dPr>
                                        <m:e>
                                          <m:r>
                                            <a:rPr lang="ru-RU" i="1">
                                              <a:latin typeface="Cambria Math" panose="02040503050406030204" pitchFamily="18" charset="0"/>
                                            </a:rPr>
                                            <m:t>𝑗</m:t>
                                          </m:r>
                                        </m:e>
                                      </m:d>
                                    </m:e>
                                  </m:d>
                                </m:e>
                              </m:groupChr>
                            </m:e>
                            <m:lim>
                              <m:r>
                                <m:rPr>
                                  <m:nor/>
                                </m:rPr>
                                <a:rPr lang="ru-RU" i="1"/>
                                <m:t>только </m:t>
                              </m:r>
                              <m:r>
                                <a:rPr lang="ru-RU" i="1">
                                  <a:latin typeface="Cambria Math" panose="02040503050406030204" pitchFamily="18" charset="0"/>
                                </a:rPr>
                                <m:t>𝑗</m:t>
                              </m:r>
                            </m:lim>
                          </m:limLow>
                          <m:r>
                            <a:rPr lang="ru-RU">
                              <a:latin typeface="Cambria Math" panose="02040503050406030204" pitchFamily="18" charset="0"/>
                            </a:rPr>
                            <m:t>+</m:t>
                          </m:r>
                          <m:limLow>
                            <m:limLowPr>
                              <m:ctrlPr>
                                <a:rPr lang="ru-RU" i="1">
                                  <a:latin typeface="Cambria Math" panose="02040503050406030204" pitchFamily="18" charset="0"/>
                                </a:rPr>
                              </m:ctrlPr>
                            </m:limLowPr>
                            <m:e>
                              <m:groupChr>
                                <m:groupChrPr>
                                  <m:chr m:val="⏟"/>
                                  <m:ctrlPr>
                                    <a:rPr lang="ru-RU" i="1">
                                      <a:latin typeface="Cambria Math" panose="02040503050406030204" pitchFamily="18" charset="0"/>
                                    </a:rPr>
                                  </m:ctrlPr>
                                </m:groupChrPr>
                                <m:e>
                                  <m:r>
                                    <a:rPr lang="ru-RU" i="1">
                                      <a:latin typeface="Cambria Math" panose="02040503050406030204" pitchFamily="18" charset="0"/>
                                    </a:rPr>
                                    <m:t>𝑓</m:t>
                                  </m:r>
                                  <m:d>
                                    <m:dPr>
                                      <m:ctrlPr>
                                        <a:rPr lang="ru-RU" i="1">
                                          <a:latin typeface="Cambria Math" panose="02040503050406030204" pitchFamily="18" charset="0"/>
                                        </a:rPr>
                                      </m:ctrlPr>
                                    </m:dPr>
                                    <m:e>
                                      <m:r>
                                        <a:rPr lang="ru-RU" i="1">
                                          <a:latin typeface="Cambria Math" panose="02040503050406030204" pitchFamily="18" charset="0"/>
                                        </a:rPr>
                                        <m:t>𝑆</m:t>
                                      </m:r>
                                    </m:e>
                                  </m:d>
                                </m:e>
                              </m:groupChr>
                            </m:e>
                            <m:lim>
                              <m:r>
                                <m:rPr>
                                  <m:nor/>
                                </m:rPr>
                                <a:rPr lang="ru-RU" i="1"/>
                                <m:t>ни одного</m:t>
                              </m:r>
                            </m:lim>
                          </m:limLow>
                        </m:e>
                      </m:d>
                    </m:oMath>
                  </m:oMathPara>
                </a14:m>
                <a:endParaRPr lang="ru-RU" b="0" dirty="0"/>
              </a:p>
              <a:p>
                <a:endParaRPr lang="ru-RU" dirty="0"/>
              </a:p>
              <a:p>
                <a:r>
                  <a:rPr lang="ru-RU" b="1" dirty="0"/>
                  <a:t>Центральность гена </a:t>
                </a:r>
                <a14:m>
                  <m:oMath xmlns:m="http://schemas.openxmlformats.org/officeDocument/2006/math">
                    <m:r>
                      <a:rPr lang="ru-RU" i="1">
                        <a:latin typeface="Cambria Math" panose="02040503050406030204" pitchFamily="18" charset="0"/>
                      </a:rPr>
                      <m:t>𝑔</m:t>
                    </m:r>
                  </m:oMath>
                </a14:m>
                <a:r>
                  <a:rPr lang="ru-RU" b="1" dirty="0"/>
                  <a:t>:</a:t>
                </a:r>
                <a:endParaRPr lang="ru-RU" dirty="0"/>
              </a:p>
              <a:p>
                <a:pPr marL="0" indent="0">
                  <a:buNone/>
                </a:pPr>
                <a14:m>
                  <m:oMathPara xmlns:m="http://schemas.openxmlformats.org/officeDocument/2006/math">
                    <m:oMathParaPr>
                      <m:jc m:val="centerGroup"/>
                    </m:oMathParaPr>
                    <m:oMath xmlns:m="http://schemas.openxmlformats.org/officeDocument/2006/math">
                      <m:sSub>
                        <m:sSubPr>
                          <m:ctrlPr>
                            <a:rPr lang="ru-RU" i="1">
                              <a:latin typeface="Cambria Math" panose="02040503050406030204" pitchFamily="18" charset="0"/>
                            </a:rPr>
                          </m:ctrlPr>
                        </m:sSubPr>
                        <m:e>
                          <m:r>
                            <a:rPr lang="ru-RU" i="1">
                              <a:latin typeface="Cambria Math" panose="02040503050406030204" pitchFamily="18" charset="0"/>
                            </a:rPr>
                            <m:t>𝐶</m:t>
                          </m:r>
                        </m:e>
                        <m:sub>
                          <m:r>
                            <a:rPr lang="ru-RU" i="1">
                              <a:latin typeface="Cambria Math" panose="02040503050406030204" pitchFamily="18" charset="0"/>
                            </a:rPr>
                            <m:t>𝑔</m:t>
                          </m:r>
                        </m:sub>
                      </m:sSub>
                      <m:r>
                        <a:rPr lang="ru-RU">
                          <a:latin typeface="Cambria Math" panose="02040503050406030204" pitchFamily="18" charset="0"/>
                        </a:rPr>
                        <m:t>=</m:t>
                      </m:r>
                      <m:nary>
                        <m:naryPr>
                          <m:chr m:val="∑"/>
                          <m:grow m:val="on"/>
                          <m:supHide m:val="on"/>
                          <m:ctrlPr>
                            <a:rPr lang="ru-RU" i="1">
                              <a:latin typeface="Cambria Math" panose="02040503050406030204" pitchFamily="18" charset="0"/>
                            </a:rPr>
                          </m:ctrlPr>
                        </m:naryPr>
                        <m:sub>
                          <m:r>
                            <a:rPr lang="ru-RU" i="1">
                              <a:latin typeface="Cambria Math" panose="02040503050406030204" pitchFamily="18" charset="0"/>
                            </a:rPr>
                            <m:t>h</m:t>
                          </m:r>
                          <m:r>
                            <a:rPr lang="ru-RU">
                              <a:latin typeface="Cambria Math" panose="02040503050406030204" pitchFamily="18" charset="0"/>
                            </a:rPr>
                            <m:t>≠</m:t>
                          </m:r>
                          <m:r>
                            <a:rPr lang="ru-RU" i="1">
                              <a:latin typeface="Cambria Math" panose="02040503050406030204" pitchFamily="18" charset="0"/>
                            </a:rPr>
                            <m:t>𝑔</m:t>
                          </m:r>
                        </m:sub>
                        <m:sup/>
                        <m:e>
                          <m:r>
                            <a:rPr lang="ru-RU">
                              <a:latin typeface="Cambria Math" panose="02040503050406030204" pitchFamily="18" charset="0"/>
                            </a:rPr>
                            <m:t>∣</m:t>
                          </m:r>
                        </m:e>
                      </m:nary>
                      <m:sSub>
                        <m:sSubPr>
                          <m:ctrlPr>
                            <a:rPr lang="ru-RU" i="1">
                              <a:latin typeface="Cambria Math" panose="02040503050406030204" pitchFamily="18" charset="0"/>
                            </a:rPr>
                          </m:ctrlPr>
                        </m:sSubPr>
                        <m:e>
                          <m:r>
                            <a:rPr lang="ru-RU" i="1">
                              <a:latin typeface="Cambria Math" panose="02040503050406030204" pitchFamily="18" charset="0"/>
                            </a:rPr>
                            <m:t>𝜑</m:t>
                          </m:r>
                        </m:e>
                        <m:sub>
                          <m:r>
                            <a:rPr lang="ru-RU" i="1">
                              <a:latin typeface="Cambria Math" panose="02040503050406030204" pitchFamily="18" charset="0"/>
                            </a:rPr>
                            <m:t>𝑔</m:t>
                          </m:r>
                          <m:r>
                            <a:rPr lang="ru-RU">
                              <a:latin typeface="Cambria Math" panose="02040503050406030204" pitchFamily="18" charset="0"/>
                            </a:rPr>
                            <m:t>,</m:t>
                          </m:r>
                          <m:r>
                            <a:rPr lang="ru-RU" i="1">
                              <a:latin typeface="Cambria Math" panose="02040503050406030204" pitchFamily="18" charset="0"/>
                            </a:rPr>
                            <m:t>h</m:t>
                          </m:r>
                        </m:sub>
                      </m:sSub>
                      <m:r>
                        <a:rPr lang="ru-RU">
                          <a:latin typeface="Cambria Math" panose="02040503050406030204" pitchFamily="18" charset="0"/>
                        </a:rPr>
                        <m:t>∣</m:t>
                      </m:r>
                    </m:oMath>
                  </m:oMathPara>
                </a14:m>
                <a:endParaRPr lang="ru-RU" dirty="0"/>
              </a:p>
              <a:p>
                <a:endParaRPr lang="ru-RU" b="0" dirty="0"/>
              </a:p>
              <a:p>
                <a:endParaRPr lang="en-US" dirty="0"/>
              </a:p>
              <a:p>
                <a:endParaRPr lang="ru-RU" dirty="0"/>
              </a:p>
            </p:txBody>
          </p:sp>
        </mc:Choice>
        <mc:Fallback xmlns="">
          <p:sp>
            <p:nvSpPr>
              <p:cNvPr id="4" name="Объект 3">
                <a:extLst>
                  <a:ext uri="{FF2B5EF4-FFF2-40B4-BE49-F238E27FC236}">
                    <a16:creationId xmlns:a16="http://schemas.microsoft.com/office/drawing/2014/main" id="{859C7DD4-CEC5-1B88-F33B-0D22E163C4A3}"/>
                  </a:ext>
                </a:extLst>
              </p:cNvPr>
              <p:cNvSpPr>
                <a:spLocks noGrp="1" noRot="1" noChangeAspect="1" noMove="1" noResize="1" noEditPoints="1" noAdjustHandles="1" noChangeArrowheads="1" noChangeShapeType="1" noTextEdit="1"/>
              </p:cNvSpPr>
              <p:nvPr>
                <p:ph sz="quarter" idx="1"/>
              </p:nvPr>
            </p:nvSpPr>
            <p:spPr>
              <a:blipFill>
                <a:blip r:embed="rId3"/>
                <a:stretch>
                  <a:fillRect l="-500" t="-1975" r="-1056"/>
                </a:stretch>
              </a:blipFill>
            </p:spPr>
            <p:txBody>
              <a:bodyPr/>
              <a:lstStyle/>
              <a:p>
                <a:r>
                  <a:rPr lang="ru-RU">
                    <a:noFill/>
                  </a:rPr>
                  <a:t> </a:t>
                </a:r>
              </a:p>
            </p:txBody>
          </p:sp>
        </mc:Fallback>
      </mc:AlternateContent>
    </p:spTree>
    <p:extLst>
      <p:ext uri="{BB962C8B-B14F-4D97-AF65-F5344CB8AC3E}">
        <p14:creationId xmlns:p14="http://schemas.microsoft.com/office/powerpoint/2010/main" val="1436027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71F9C45-12D9-7A8A-712D-7E4E279EC41F}"/>
              </a:ext>
            </a:extLst>
          </p:cNvPr>
          <p:cNvSpPr>
            <a:spLocks noGrp="1"/>
          </p:cNvSpPr>
          <p:nvPr>
            <p:ph type="title"/>
          </p:nvPr>
        </p:nvSpPr>
        <p:spPr/>
        <p:txBody>
          <a:bodyPr>
            <a:normAutofit fontScale="90000"/>
          </a:bodyPr>
          <a:lstStyle/>
          <a:p>
            <a:r>
              <a:rPr lang="ru-RU" sz="3600" b="1" dirty="0"/>
              <a:t>Результаты выделения генов для риса</a:t>
            </a:r>
            <a:br>
              <a:rPr lang="ru-RU" b="1" dirty="0"/>
            </a:br>
            <a:endParaRPr lang="ru-RU" b="1" dirty="0"/>
          </a:p>
        </p:txBody>
      </p:sp>
      <p:sp>
        <p:nvSpPr>
          <p:cNvPr id="3" name="Номер слайда 2">
            <a:extLst>
              <a:ext uri="{FF2B5EF4-FFF2-40B4-BE49-F238E27FC236}">
                <a16:creationId xmlns:a16="http://schemas.microsoft.com/office/drawing/2014/main" id="{0870E004-6AE5-A229-F001-A3B4C1E61B67}"/>
              </a:ext>
            </a:extLst>
          </p:cNvPr>
          <p:cNvSpPr>
            <a:spLocks noGrp="1"/>
          </p:cNvSpPr>
          <p:nvPr>
            <p:ph type="sldNum" sz="quarter" idx="12"/>
          </p:nvPr>
        </p:nvSpPr>
        <p:spPr/>
        <p:txBody>
          <a:bodyPr/>
          <a:lstStyle/>
          <a:p>
            <a:fld id="{B19B0651-EE4F-4900-A07F-96A6BFA9D0F0}" type="slidenum">
              <a:rPr lang="ru-RU" smtClean="0"/>
              <a:pPr/>
              <a:t>22</a:t>
            </a:fld>
            <a:endParaRPr lang="ru-RU" dirty="0"/>
          </a:p>
        </p:txBody>
      </p:sp>
      <p:graphicFrame>
        <p:nvGraphicFramePr>
          <p:cNvPr id="5" name="Объект 4">
            <a:extLst>
              <a:ext uri="{FF2B5EF4-FFF2-40B4-BE49-F238E27FC236}">
                <a16:creationId xmlns:a16="http://schemas.microsoft.com/office/drawing/2014/main" id="{459A7F52-96B4-040F-284B-F752C3D8C800}"/>
              </a:ext>
            </a:extLst>
          </p:cNvPr>
          <p:cNvGraphicFramePr>
            <a:graphicFrameLocks noGrp="1"/>
          </p:cNvGraphicFramePr>
          <p:nvPr>
            <p:ph sz="quarter" idx="1"/>
            <p:extLst>
              <p:ext uri="{D42A27DB-BD31-4B8C-83A1-F6EECF244321}">
                <p14:modId xmlns:p14="http://schemas.microsoft.com/office/powerpoint/2010/main" val="4053054257"/>
              </p:ext>
            </p:extLst>
          </p:nvPr>
        </p:nvGraphicFramePr>
        <p:xfrm>
          <a:off x="609600" y="4361433"/>
          <a:ext cx="5616624" cy="1905000"/>
        </p:xfrm>
        <a:graphic>
          <a:graphicData uri="http://schemas.openxmlformats.org/drawingml/2006/table">
            <a:tbl>
              <a:tblPr firstRow="1" bandRow="1">
                <a:tableStyleId>{5C22544A-7EE6-4342-B048-85BDC9FD1C3A}</a:tableStyleId>
              </a:tblPr>
              <a:tblGrid>
                <a:gridCol w="1475282">
                  <a:extLst>
                    <a:ext uri="{9D8B030D-6E8A-4147-A177-3AD203B41FA5}">
                      <a16:colId xmlns:a16="http://schemas.microsoft.com/office/drawing/2014/main" val="3739947255"/>
                    </a:ext>
                  </a:extLst>
                </a:gridCol>
                <a:gridCol w="1292586">
                  <a:extLst>
                    <a:ext uri="{9D8B030D-6E8A-4147-A177-3AD203B41FA5}">
                      <a16:colId xmlns:a16="http://schemas.microsoft.com/office/drawing/2014/main" val="1585250206"/>
                    </a:ext>
                  </a:extLst>
                </a:gridCol>
                <a:gridCol w="2848756">
                  <a:extLst>
                    <a:ext uri="{9D8B030D-6E8A-4147-A177-3AD203B41FA5}">
                      <a16:colId xmlns:a16="http://schemas.microsoft.com/office/drawing/2014/main" val="1415464611"/>
                    </a:ext>
                  </a:extLst>
                </a:gridCol>
              </a:tblGrid>
              <a:tr h="388716">
                <a:tc>
                  <a:txBody>
                    <a:bodyPr/>
                    <a:lstStyle/>
                    <a:p>
                      <a:pPr algn="l">
                        <a:lnSpc>
                          <a:spcPts val="1875"/>
                        </a:lnSpc>
                        <a:buNone/>
                      </a:pPr>
                      <a:r>
                        <a:rPr lang="ru-RU" b="1" dirty="0">
                          <a:effectLst/>
                          <a:latin typeface="quote-cjk-patch"/>
                        </a:rPr>
                        <a:t>Ген</a:t>
                      </a:r>
                    </a:p>
                  </a:txBody>
                  <a:tcPr marR="121920" marT="76200" marB="76200" anchor="ctr"/>
                </a:tc>
                <a:tc>
                  <a:txBody>
                    <a:bodyPr/>
                    <a:lstStyle/>
                    <a:p>
                      <a:pPr algn="l">
                        <a:lnSpc>
                          <a:spcPts val="1875"/>
                        </a:lnSpc>
                        <a:buNone/>
                      </a:pPr>
                      <a:r>
                        <a:rPr lang="ru-RU" b="1" dirty="0">
                          <a:effectLst/>
                          <a:latin typeface="quote-cjk-patch"/>
                        </a:rPr>
                        <a:t>Центральность</a:t>
                      </a:r>
                    </a:p>
                  </a:txBody>
                  <a:tcPr marL="121920" marR="121920" marT="76200" marB="76200" anchor="ctr"/>
                </a:tc>
                <a:tc>
                  <a:txBody>
                    <a:bodyPr/>
                    <a:lstStyle/>
                    <a:p>
                      <a:pPr algn="l">
                        <a:lnSpc>
                          <a:spcPts val="1875"/>
                        </a:lnSpc>
                        <a:buNone/>
                      </a:pPr>
                      <a:r>
                        <a:rPr lang="ru-RU" b="1" dirty="0">
                          <a:effectLst/>
                          <a:latin typeface="quote-cjk-patch"/>
                        </a:rPr>
                        <a:t>Роль</a:t>
                      </a:r>
                    </a:p>
                  </a:txBody>
                  <a:tcPr marL="121920" marR="121920" marT="76200" marB="76200" anchor="ctr"/>
                </a:tc>
                <a:extLst>
                  <a:ext uri="{0D108BD9-81ED-4DB2-BD59-A6C34878D82A}">
                    <a16:rowId xmlns:a16="http://schemas.microsoft.com/office/drawing/2014/main" val="590537326"/>
                  </a:ext>
                </a:extLst>
              </a:tr>
              <a:tr h="388716">
                <a:tc>
                  <a:txBody>
                    <a:bodyPr/>
                    <a:lstStyle/>
                    <a:p>
                      <a:pPr>
                        <a:lnSpc>
                          <a:spcPts val="1875"/>
                        </a:lnSpc>
                        <a:buNone/>
                      </a:pPr>
                      <a:r>
                        <a:rPr lang="ru-RU" b="0" dirty="0">
                          <a:effectLst/>
                          <a:latin typeface="quote-cjk-patch"/>
                        </a:rPr>
                        <a:t>Os01g0125800</a:t>
                      </a:r>
                    </a:p>
                  </a:txBody>
                  <a:tcPr marR="121920" marT="76200" marB="76200" anchor="ctr"/>
                </a:tc>
                <a:tc>
                  <a:txBody>
                    <a:bodyPr/>
                    <a:lstStyle/>
                    <a:p>
                      <a:pPr>
                        <a:lnSpc>
                          <a:spcPts val="1875"/>
                        </a:lnSpc>
                        <a:buNone/>
                      </a:pPr>
                      <a:r>
                        <a:rPr lang="ru-RU" b="0" dirty="0">
                          <a:effectLst/>
                          <a:latin typeface="quote-cjk-patch"/>
                        </a:rPr>
                        <a:t>0.421</a:t>
                      </a:r>
                    </a:p>
                  </a:txBody>
                  <a:tcPr marL="121920" marR="121920" marT="76200" marB="76200" anchor="ctr"/>
                </a:tc>
                <a:tc>
                  <a:txBody>
                    <a:bodyPr/>
                    <a:lstStyle/>
                    <a:p>
                      <a:pPr>
                        <a:lnSpc>
                          <a:spcPts val="1875"/>
                        </a:lnSpc>
                        <a:buNone/>
                      </a:pPr>
                      <a:r>
                        <a:rPr lang="ru-RU" b="0" dirty="0">
                          <a:effectLst/>
                          <a:latin typeface="quote-cjk-patch"/>
                        </a:rPr>
                        <a:t>Участвует в 7 взаимодействиях (4+ / 3-)</a:t>
                      </a:r>
                    </a:p>
                  </a:txBody>
                  <a:tcPr marL="121920" marT="76200" marB="76200" anchor="ctr"/>
                </a:tc>
                <a:extLst>
                  <a:ext uri="{0D108BD9-81ED-4DB2-BD59-A6C34878D82A}">
                    <a16:rowId xmlns:a16="http://schemas.microsoft.com/office/drawing/2014/main" val="141113081"/>
                  </a:ext>
                </a:extLst>
              </a:tr>
              <a:tr h="388716">
                <a:tc>
                  <a:txBody>
                    <a:bodyPr/>
                    <a:lstStyle/>
                    <a:p>
                      <a:pPr>
                        <a:lnSpc>
                          <a:spcPts val="1875"/>
                        </a:lnSpc>
                        <a:buNone/>
                      </a:pPr>
                      <a:r>
                        <a:rPr lang="ru-RU" b="0">
                          <a:effectLst/>
                          <a:latin typeface="quote-cjk-patch"/>
                        </a:rPr>
                        <a:t>Os01g0150000</a:t>
                      </a:r>
                    </a:p>
                  </a:txBody>
                  <a:tcPr marR="121920" marT="76200" marB="76200" anchor="ctr"/>
                </a:tc>
                <a:tc>
                  <a:txBody>
                    <a:bodyPr/>
                    <a:lstStyle/>
                    <a:p>
                      <a:pPr>
                        <a:lnSpc>
                          <a:spcPts val="1875"/>
                        </a:lnSpc>
                        <a:buNone/>
                      </a:pPr>
                      <a:r>
                        <a:rPr lang="ru-RU" b="0">
                          <a:effectLst/>
                          <a:latin typeface="quote-cjk-patch"/>
                        </a:rPr>
                        <a:t>0.373</a:t>
                      </a:r>
                    </a:p>
                  </a:txBody>
                  <a:tcPr marL="121920" marR="121920" marT="76200" marB="76200" anchor="ctr"/>
                </a:tc>
                <a:tc>
                  <a:txBody>
                    <a:bodyPr/>
                    <a:lstStyle/>
                    <a:p>
                      <a:pPr>
                        <a:lnSpc>
                          <a:spcPts val="1875"/>
                        </a:lnSpc>
                        <a:buNone/>
                      </a:pPr>
                      <a:r>
                        <a:rPr lang="ru-RU" b="0" dirty="0">
                          <a:effectLst/>
                          <a:latin typeface="quote-cjk-patch"/>
                        </a:rPr>
                        <a:t>Участвует в 2 отрицательных</a:t>
                      </a:r>
                    </a:p>
                  </a:txBody>
                  <a:tcPr marL="121920" marT="76200" marB="76200" anchor="ctr"/>
                </a:tc>
                <a:extLst>
                  <a:ext uri="{0D108BD9-81ED-4DB2-BD59-A6C34878D82A}">
                    <a16:rowId xmlns:a16="http://schemas.microsoft.com/office/drawing/2014/main" val="4123227030"/>
                  </a:ext>
                </a:extLst>
              </a:tr>
            </a:tbl>
          </a:graphicData>
        </a:graphic>
      </p:graphicFrame>
      <p:sp>
        <p:nvSpPr>
          <p:cNvPr id="9" name="TextBox 8">
            <a:extLst>
              <a:ext uri="{FF2B5EF4-FFF2-40B4-BE49-F238E27FC236}">
                <a16:creationId xmlns:a16="http://schemas.microsoft.com/office/drawing/2014/main" id="{A9060C09-F4FB-5A0A-862D-0AC4F22D0D30}"/>
              </a:ext>
            </a:extLst>
          </p:cNvPr>
          <p:cNvSpPr txBox="1"/>
          <p:nvPr/>
        </p:nvSpPr>
        <p:spPr>
          <a:xfrm>
            <a:off x="6312024" y="4361433"/>
            <a:ext cx="5674798" cy="1754326"/>
          </a:xfrm>
          <a:prstGeom prst="rect">
            <a:avLst/>
          </a:prstGeom>
          <a:noFill/>
        </p:spPr>
        <p:txBody>
          <a:bodyPr wrap="square">
            <a:spAutoFit/>
          </a:bodyPr>
          <a:lstStyle/>
          <a:p>
            <a:r>
              <a:rPr lang="ru-RU" b="1" dirty="0"/>
              <a:t>Биологическая аннотация:</a:t>
            </a:r>
          </a:p>
          <a:p>
            <a:endParaRPr lang="ru-RU" dirty="0"/>
          </a:p>
          <a:p>
            <a:pPr marL="285750" indent="-285750">
              <a:buFont typeface="Arial" panose="020B0604020202020204" pitchFamily="34" charset="0"/>
              <a:buChar char="•"/>
            </a:pPr>
            <a:r>
              <a:rPr lang="ru-RU" dirty="0"/>
              <a:t>Os01g0125800 → AIP1 (перестройка цитоскелета)</a:t>
            </a:r>
          </a:p>
          <a:p>
            <a:endParaRPr lang="ru-RU" dirty="0"/>
          </a:p>
          <a:p>
            <a:pPr marL="285750" indent="-285750">
              <a:buFont typeface="Arial" panose="020B0604020202020204" pitchFamily="34" charset="0"/>
              <a:buChar char="•"/>
            </a:pPr>
            <a:r>
              <a:rPr lang="ru-RU" dirty="0"/>
              <a:t>Os01g0150000 → OsCER10 (биосинтез воска кутикулы)</a:t>
            </a:r>
          </a:p>
        </p:txBody>
      </p:sp>
      <p:graphicFrame>
        <p:nvGraphicFramePr>
          <p:cNvPr id="7" name="Таблица 6">
            <a:extLst>
              <a:ext uri="{FF2B5EF4-FFF2-40B4-BE49-F238E27FC236}">
                <a16:creationId xmlns:a16="http://schemas.microsoft.com/office/drawing/2014/main" id="{8BC24D0C-8E16-04EA-D320-A1E84A3DA006}"/>
              </a:ext>
            </a:extLst>
          </p:cNvPr>
          <p:cNvGraphicFramePr>
            <a:graphicFrameLocks noGrp="1"/>
          </p:cNvGraphicFramePr>
          <p:nvPr>
            <p:extLst>
              <p:ext uri="{D42A27DB-BD31-4B8C-83A1-F6EECF244321}">
                <p14:modId xmlns:p14="http://schemas.microsoft.com/office/powerpoint/2010/main" val="2460404976"/>
              </p:ext>
            </p:extLst>
          </p:nvPr>
        </p:nvGraphicFramePr>
        <p:xfrm>
          <a:off x="647704" y="1709167"/>
          <a:ext cx="4786544" cy="1574800"/>
        </p:xfrm>
        <a:graphic>
          <a:graphicData uri="http://schemas.openxmlformats.org/drawingml/2006/table">
            <a:tbl>
              <a:tblPr firstRow="1" bandRow="1">
                <a:tableStyleId>{5C22544A-7EE6-4342-B048-85BDC9FD1C3A}</a:tableStyleId>
              </a:tblPr>
              <a:tblGrid>
                <a:gridCol w="1651689">
                  <a:extLst>
                    <a:ext uri="{9D8B030D-6E8A-4147-A177-3AD203B41FA5}">
                      <a16:colId xmlns:a16="http://schemas.microsoft.com/office/drawing/2014/main" val="4139290216"/>
                    </a:ext>
                  </a:extLst>
                </a:gridCol>
                <a:gridCol w="1656184">
                  <a:extLst>
                    <a:ext uri="{9D8B030D-6E8A-4147-A177-3AD203B41FA5}">
                      <a16:colId xmlns:a16="http://schemas.microsoft.com/office/drawing/2014/main" val="3987079348"/>
                    </a:ext>
                  </a:extLst>
                </a:gridCol>
                <a:gridCol w="1478671">
                  <a:extLst>
                    <a:ext uri="{9D8B030D-6E8A-4147-A177-3AD203B41FA5}">
                      <a16:colId xmlns:a16="http://schemas.microsoft.com/office/drawing/2014/main" val="765092523"/>
                    </a:ext>
                  </a:extLst>
                </a:gridCol>
              </a:tblGrid>
              <a:tr h="370840">
                <a:tc>
                  <a:txBody>
                    <a:bodyPr/>
                    <a:lstStyle/>
                    <a:p>
                      <a:pPr algn="l">
                        <a:lnSpc>
                          <a:spcPts val="1875"/>
                        </a:lnSpc>
                        <a:buNone/>
                      </a:pPr>
                      <a:r>
                        <a:rPr lang="ru-RU" sz="1700" b="1" dirty="0">
                          <a:effectLst/>
                          <a:latin typeface="+mn-lt"/>
                        </a:rPr>
                        <a:t>Ген 1</a:t>
                      </a:r>
                    </a:p>
                  </a:txBody>
                  <a:tcPr marR="121920" marT="76200" marB="76200" anchor="ctr"/>
                </a:tc>
                <a:tc>
                  <a:txBody>
                    <a:bodyPr/>
                    <a:lstStyle/>
                    <a:p>
                      <a:pPr algn="l">
                        <a:lnSpc>
                          <a:spcPts val="1875"/>
                        </a:lnSpc>
                        <a:buNone/>
                      </a:pPr>
                      <a:r>
                        <a:rPr lang="ru-RU" sz="1700" b="1" dirty="0">
                          <a:effectLst/>
                          <a:latin typeface="+mn-lt"/>
                        </a:rPr>
                        <a:t>Ген 2</a:t>
                      </a:r>
                    </a:p>
                  </a:txBody>
                  <a:tcPr marL="121920" marR="121920" marT="76200" marB="76200" anchor="ctr"/>
                </a:tc>
                <a:tc>
                  <a:txBody>
                    <a:bodyPr/>
                    <a:lstStyle/>
                    <a:p>
                      <a:pPr algn="l">
                        <a:lnSpc>
                          <a:spcPts val="1875"/>
                        </a:lnSpc>
                        <a:buNone/>
                      </a:pPr>
                      <a:r>
                        <a:rPr lang="ru-RU" sz="1700" b="1" dirty="0">
                          <a:effectLst/>
                          <a:latin typeface="+mn-lt"/>
                        </a:rPr>
                        <a:t>Значение φ</a:t>
                      </a:r>
                    </a:p>
                  </a:txBody>
                  <a:tcPr marL="121920" marR="121920" marT="76200" marB="76200" anchor="ctr"/>
                </a:tc>
                <a:extLst>
                  <a:ext uri="{0D108BD9-81ED-4DB2-BD59-A6C34878D82A}">
                    <a16:rowId xmlns:a16="http://schemas.microsoft.com/office/drawing/2014/main" val="1778693044"/>
                  </a:ext>
                </a:extLst>
              </a:tr>
              <a:tr h="370840">
                <a:tc>
                  <a:txBody>
                    <a:bodyPr/>
                    <a:lstStyle/>
                    <a:p>
                      <a:pPr>
                        <a:lnSpc>
                          <a:spcPts val="1875"/>
                        </a:lnSpc>
                        <a:buNone/>
                      </a:pPr>
                      <a:r>
                        <a:rPr lang="ru-RU" sz="1700" b="0">
                          <a:effectLst/>
                          <a:latin typeface="+mn-lt"/>
                        </a:rPr>
                        <a:t>Os01g0111100</a:t>
                      </a:r>
                    </a:p>
                  </a:txBody>
                  <a:tcPr marR="121920" marT="76200" marB="76200" anchor="ctr"/>
                </a:tc>
                <a:tc>
                  <a:txBody>
                    <a:bodyPr/>
                    <a:lstStyle/>
                    <a:p>
                      <a:pPr>
                        <a:lnSpc>
                          <a:spcPts val="1875"/>
                        </a:lnSpc>
                        <a:buNone/>
                      </a:pPr>
                      <a:r>
                        <a:rPr lang="ru-RU" sz="1700" b="0">
                          <a:effectLst/>
                          <a:latin typeface="+mn-lt"/>
                        </a:rPr>
                        <a:t>Os01g0125800</a:t>
                      </a:r>
                    </a:p>
                  </a:txBody>
                  <a:tcPr marL="121920" marR="121920" marT="76200" marB="76200" anchor="ctr"/>
                </a:tc>
                <a:tc>
                  <a:txBody>
                    <a:bodyPr/>
                    <a:lstStyle/>
                    <a:p>
                      <a:pPr>
                        <a:lnSpc>
                          <a:spcPts val="1875"/>
                        </a:lnSpc>
                        <a:buNone/>
                      </a:pPr>
                      <a:r>
                        <a:rPr lang="ru-RU" sz="1700" b="0" dirty="0">
                          <a:effectLst/>
                          <a:latin typeface="+mn-lt"/>
                        </a:rPr>
                        <a:t>+0.00759</a:t>
                      </a:r>
                    </a:p>
                  </a:txBody>
                  <a:tcPr marL="121920" marT="76200" marB="76200" anchor="ctr"/>
                </a:tc>
                <a:extLst>
                  <a:ext uri="{0D108BD9-81ED-4DB2-BD59-A6C34878D82A}">
                    <a16:rowId xmlns:a16="http://schemas.microsoft.com/office/drawing/2014/main" val="1489463200"/>
                  </a:ext>
                </a:extLst>
              </a:tr>
              <a:tr h="370840">
                <a:tc>
                  <a:txBody>
                    <a:bodyPr/>
                    <a:lstStyle/>
                    <a:p>
                      <a:pPr>
                        <a:lnSpc>
                          <a:spcPts val="1875"/>
                        </a:lnSpc>
                        <a:buNone/>
                      </a:pPr>
                      <a:r>
                        <a:rPr lang="ru-RU" sz="1700" b="0">
                          <a:effectLst/>
                          <a:latin typeface="+mn-lt"/>
                        </a:rPr>
                        <a:t>Os01g0121200</a:t>
                      </a:r>
                    </a:p>
                  </a:txBody>
                  <a:tcPr marR="121920" marT="76200" marB="76200" anchor="ctr"/>
                </a:tc>
                <a:tc>
                  <a:txBody>
                    <a:bodyPr/>
                    <a:lstStyle/>
                    <a:p>
                      <a:pPr>
                        <a:lnSpc>
                          <a:spcPts val="1875"/>
                        </a:lnSpc>
                        <a:buNone/>
                      </a:pPr>
                      <a:r>
                        <a:rPr lang="ru-RU" sz="1700" b="0">
                          <a:effectLst/>
                          <a:latin typeface="+mn-lt"/>
                        </a:rPr>
                        <a:t>Os01g0125800</a:t>
                      </a:r>
                    </a:p>
                  </a:txBody>
                  <a:tcPr marL="121920" marR="121920" marT="76200" marB="76200" anchor="ctr"/>
                </a:tc>
                <a:tc>
                  <a:txBody>
                    <a:bodyPr/>
                    <a:lstStyle/>
                    <a:p>
                      <a:pPr>
                        <a:lnSpc>
                          <a:spcPts val="1875"/>
                        </a:lnSpc>
                        <a:buNone/>
                      </a:pPr>
                      <a:r>
                        <a:rPr lang="ru-RU" sz="1700" b="0">
                          <a:effectLst/>
                          <a:latin typeface="+mn-lt"/>
                        </a:rPr>
                        <a:t>+0.00739</a:t>
                      </a:r>
                    </a:p>
                  </a:txBody>
                  <a:tcPr marL="121920" marT="76200" marB="76200" anchor="ctr"/>
                </a:tc>
                <a:extLst>
                  <a:ext uri="{0D108BD9-81ED-4DB2-BD59-A6C34878D82A}">
                    <a16:rowId xmlns:a16="http://schemas.microsoft.com/office/drawing/2014/main" val="2329407510"/>
                  </a:ext>
                </a:extLst>
              </a:tr>
              <a:tr h="370840">
                <a:tc>
                  <a:txBody>
                    <a:bodyPr/>
                    <a:lstStyle/>
                    <a:p>
                      <a:pPr>
                        <a:lnSpc>
                          <a:spcPts val="1875"/>
                        </a:lnSpc>
                        <a:buNone/>
                      </a:pPr>
                      <a:r>
                        <a:rPr lang="ru-RU" sz="1700" b="0">
                          <a:effectLst/>
                          <a:latin typeface="+mn-lt"/>
                        </a:rPr>
                        <a:t>Os01g0155500</a:t>
                      </a:r>
                    </a:p>
                  </a:txBody>
                  <a:tcPr marR="121920" marT="76200" marB="76200" anchor="ctr"/>
                </a:tc>
                <a:tc>
                  <a:txBody>
                    <a:bodyPr/>
                    <a:lstStyle/>
                    <a:p>
                      <a:pPr>
                        <a:lnSpc>
                          <a:spcPts val="1875"/>
                        </a:lnSpc>
                        <a:buNone/>
                      </a:pPr>
                      <a:r>
                        <a:rPr lang="ru-RU" sz="1700" b="0">
                          <a:effectLst/>
                          <a:latin typeface="+mn-lt"/>
                        </a:rPr>
                        <a:t>Os01g0125800</a:t>
                      </a:r>
                    </a:p>
                  </a:txBody>
                  <a:tcPr marL="121920" marR="121920" marT="76200" marB="76200" anchor="ctr"/>
                </a:tc>
                <a:tc>
                  <a:txBody>
                    <a:bodyPr/>
                    <a:lstStyle/>
                    <a:p>
                      <a:pPr>
                        <a:lnSpc>
                          <a:spcPts val="1875"/>
                        </a:lnSpc>
                        <a:buNone/>
                      </a:pPr>
                      <a:r>
                        <a:rPr lang="ru-RU" sz="1700" b="0" dirty="0">
                          <a:effectLst/>
                          <a:latin typeface="+mn-lt"/>
                        </a:rPr>
                        <a:t>+0.00715</a:t>
                      </a:r>
                    </a:p>
                  </a:txBody>
                  <a:tcPr marL="121920" marT="76200" marB="76200" anchor="ctr"/>
                </a:tc>
                <a:extLst>
                  <a:ext uri="{0D108BD9-81ED-4DB2-BD59-A6C34878D82A}">
                    <a16:rowId xmlns:a16="http://schemas.microsoft.com/office/drawing/2014/main" val="1592848036"/>
                  </a:ext>
                </a:extLst>
              </a:tr>
            </a:tbl>
          </a:graphicData>
        </a:graphic>
      </p:graphicFrame>
      <p:graphicFrame>
        <p:nvGraphicFramePr>
          <p:cNvPr id="8" name="Таблица 7">
            <a:extLst>
              <a:ext uri="{FF2B5EF4-FFF2-40B4-BE49-F238E27FC236}">
                <a16:creationId xmlns:a16="http://schemas.microsoft.com/office/drawing/2014/main" id="{7B8DABCC-7550-7677-D36C-2995A6A7CB67}"/>
              </a:ext>
            </a:extLst>
          </p:cNvPr>
          <p:cNvGraphicFramePr>
            <a:graphicFrameLocks noGrp="1"/>
          </p:cNvGraphicFramePr>
          <p:nvPr>
            <p:extLst>
              <p:ext uri="{D42A27DB-BD31-4B8C-83A1-F6EECF244321}">
                <p14:modId xmlns:p14="http://schemas.microsoft.com/office/powerpoint/2010/main" val="2631692992"/>
              </p:ext>
            </p:extLst>
          </p:nvPr>
        </p:nvGraphicFramePr>
        <p:xfrm>
          <a:off x="6831401" y="1709167"/>
          <a:ext cx="4786544" cy="1574800"/>
        </p:xfrm>
        <a:graphic>
          <a:graphicData uri="http://schemas.openxmlformats.org/drawingml/2006/table">
            <a:tbl>
              <a:tblPr firstRow="1" bandRow="1">
                <a:tableStyleId>{5C22544A-7EE6-4342-B048-85BDC9FD1C3A}</a:tableStyleId>
              </a:tblPr>
              <a:tblGrid>
                <a:gridCol w="1669976">
                  <a:extLst>
                    <a:ext uri="{9D8B030D-6E8A-4147-A177-3AD203B41FA5}">
                      <a16:colId xmlns:a16="http://schemas.microsoft.com/office/drawing/2014/main" val="4139290216"/>
                    </a:ext>
                  </a:extLst>
                </a:gridCol>
                <a:gridCol w="1656184">
                  <a:extLst>
                    <a:ext uri="{9D8B030D-6E8A-4147-A177-3AD203B41FA5}">
                      <a16:colId xmlns:a16="http://schemas.microsoft.com/office/drawing/2014/main" val="3987079348"/>
                    </a:ext>
                  </a:extLst>
                </a:gridCol>
                <a:gridCol w="1460384">
                  <a:extLst>
                    <a:ext uri="{9D8B030D-6E8A-4147-A177-3AD203B41FA5}">
                      <a16:colId xmlns:a16="http://schemas.microsoft.com/office/drawing/2014/main" val="765092523"/>
                    </a:ext>
                  </a:extLst>
                </a:gridCol>
              </a:tblGrid>
              <a:tr h="370840">
                <a:tc>
                  <a:txBody>
                    <a:bodyPr/>
                    <a:lstStyle/>
                    <a:p>
                      <a:pPr algn="l">
                        <a:lnSpc>
                          <a:spcPts val="1875"/>
                        </a:lnSpc>
                        <a:buNone/>
                      </a:pPr>
                      <a:r>
                        <a:rPr lang="ru-RU" sz="1700" b="1" dirty="0">
                          <a:effectLst/>
                          <a:latin typeface="+mn-lt"/>
                        </a:rPr>
                        <a:t>Ген 1</a:t>
                      </a:r>
                    </a:p>
                  </a:txBody>
                  <a:tcPr marR="121920" marT="76200" marB="76200" anchor="ctr"/>
                </a:tc>
                <a:tc>
                  <a:txBody>
                    <a:bodyPr/>
                    <a:lstStyle/>
                    <a:p>
                      <a:pPr algn="l">
                        <a:lnSpc>
                          <a:spcPts val="1875"/>
                        </a:lnSpc>
                        <a:buNone/>
                      </a:pPr>
                      <a:r>
                        <a:rPr lang="ru-RU" sz="1700" b="1" dirty="0">
                          <a:effectLst/>
                          <a:latin typeface="+mn-lt"/>
                        </a:rPr>
                        <a:t>Ген 2</a:t>
                      </a:r>
                    </a:p>
                  </a:txBody>
                  <a:tcPr marL="121920" marR="121920" marT="76200" marB="76200" anchor="ctr"/>
                </a:tc>
                <a:tc>
                  <a:txBody>
                    <a:bodyPr/>
                    <a:lstStyle/>
                    <a:p>
                      <a:pPr algn="l">
                        <a:lnSpc>
                          <a:spcPts val="1875"/>
                        </a:lnSpc>
                        <a:buNone/>
                      </a:pPr>
                      <a:r>
                        <a:rPr lang="ru-RU" sz="1700" b="1" dirty="0">
                          <a:effectLst/>
                          <a:latin typeface="+mn-lt"/>
                        </a:rPr>
                        <a:t>Значение φ</a:t>
                      </a:r>
                    </a:p>
                  </a:txBody>
                  <a:tcPr marL="121920" marR="121920" marT="76200" marB="76200" anchor="ctr"/>
                </a:tc>
                <a:extLst>
                  <a:ext uri="{0D108BD9-81ED-4DB2-BD59-A6C34878D82A}">
                    <a16:rowId xmlns:a16="http://schemas.microsoft.com/office/drawing/2014/main" val="1778693044"/>
                  </a:ext>
                </a:extLst>
              </a:tr>
              <a:tr h="370840">
                <a:tc>
                  <a:txBody>
                    <a:bodyPr/>
                    <a:lstStyle/>
                    <a:p>
                      <a:pPr>
                        <a:lnSpc>
                          <a:spcPts val="1875"/>
                        </a:lnSpc>
                        <a:buNone/>
                      </a:pPr>
                      <a:r>
                        <a:rPr lang="ru-RU" sz="1700" b="0">
                          <a:effectLst/>
                          <a:latin typeface="+mn-lt"/>
                        </a:rPr>
                        <a:t>Os01g0125700</a:t>
                      </a:r>
                    </a:p>
                  </a:txBody>
                  <a:tcPr marR="121920" marT="76200" marB="76200" anchor="ctr"/>
                </a:tc>
                <a:tc>
                  <a:txBody>
                    <a:bodyPr/>
                    <a:lstStyle/>
                    <a:p>
                      <a:pPr>
                        <a:lnSpc>
                          <a:spcPts val="1875"/>
                        </a:lnSpc>
                        <a:buNone/>
                      </a:pPr>
                      <a:r>
                        <a:rPr lang="ru-RU" sz="1700" b="0" dirty="0">
                          <a:effectLst/>
                          <a:latin typeface="+mn-lt"/>
                        </a:rPr>
                        <a:t>Os01g0125800</a:t>
                      </a:r>
                    </a:p>
                  </a:txBody>
                  <a:tcPr marL="121920" marR="121920" marT="76200" marB="76200" anchor="ctr"/>
                </a:tc>
                <a:tc>
                  <a:txBody>
                    <a:bodyPr/>
                    <a:lstStyle/>
                    <a:p>
                      <a:pPr>
                        <a:lnSpc>
                          <a:spcPts val="1875"/>
                        </a:lnSpc>
                        <a:buNone/>
                      </a:pPr>
                      <a:r>
                        <a:rPr lang="ru-RU" sz="1700" b="0">
                          <a:effectLst/>
                          <a:latin typeface="+mn-lt"/>
                        </a:rPr>
                        <a:t>-0.01173</a:t>
                      </a:r>
                    </a:p>
                  </a:txBody>
                  <a:tcPr marL="121920" marT="76200" marB="76200" anchor="ctr"/>
                </a:tc>
                <a:extLst>
                  <a:ext uri="{0D108BD9-81ED-4DB2-BD59-A6C34878D82A}">
                    <a16:rowId xmlns:a16="http://schemas.microsoft.com/office/drawing/2014/main" val="1489463200"/>
                  </a:ext>
                </a:extLst>
              </a:tr>
              <a:tr h="370840">
                <a:tc>
                  <a:txBody>
                    <a:bodyPr/>
                    <a:lstStyle/>
                    <a:p>
                      <a:pPr>
                        <a:lnSpc>
                          <a:spcPts val="1875"/>
                        </a:lnSpc>
                        <a:buNone/>
                      </a:pPr>
                      <a:r>
                        <a:rPr lang="ru-RU" sz="1700" b="0">
                          <a:effectLst/>
                          <a:latin typeface="+mn-lt"/>
                        </a:rPr>
                        <a:t>Os01g0150000</a:t>
                      </a:r>
                    </a:p>
                  </a:txBody>
                  <a:tcPr marR="121920" marT="76200" marB="76200" anchor="ctr"/>
                </a:tc>
                <a:tc>
                  <a:txBody>
                    <a:bodyPr/>
                    <a:lstStyle/>
                    <a:p>
                      <a:pPr>
                        <a:lnSpc>
                          <a:spcPts val="1875"/>
                        </a:lnSpc>
                        <a:buNone/>
                      </a:pPr>
                      <a:r>
                        <a:rPr lang="ru-RU" sz="1700" b="0">
                          <a:effectLst/>
                          <a:latin typeface="+mn-lt"/>
                        </a:rPr>
                        <a:t>Os01g0125800</a:t>
                      </a:r>
                    </a:p>
                  </a:txBody>
                  <a:tcPr marL="121920" marR="121920" marT="76200" marB="76200" anchor="ctr"/>
                </a:tc>
                <a:tc>
                  <a:txBody>
                    <a:bodyPr/>
                    <a:lstStyle/>
                    <a:p>
                      <a:pPr>
                        <a:lnSpc>
                          <a:spcPts val="1875"/>
                        </a:lnSpc>
                        <a:buNone/>
                      </a:pPr>
                      <a:r>
                        <a:rPr lang="ru-RU" sz="1700" b="0">
                          <a:effectLst/>
                          <a:latin typeface="+mn-lt"/>
                        </a:rPr>
                        <a:t>-0.00813</a:t>
                      </a:r>
                    </a:p>
                  </a:txBody>
                  <a:tcPr marL="121920" marT="76200" marB="76200" anchor="ctr"/>
                </a:tc>
                <a:extLst>
                  <a:ext uri="{0D108BD9-81ED-4DB2-BD59-A6C34878D82A}">
                    <a16:rowId xmlns:a16="http://schemas.microsoft.com/office/drawing/2014/main" val="2329407510"/>
                  </a:ext>
                </a:extLst>
              </a:tr>
              <a:tr h="370840">
                <a:tc>
                  <a:txBody>
                    <a:bodyPr/>
                    <a:lstStyle/>
                    <a:p>
                      <a:pPr>
                        <a:lnSpc>
                          <a:spcPts val="1875"/>
                        </a:lnSpc>
                        <a:buNone/>
                      </a:pPr>
                      <a:r>
                        <a:rPr lang="ru-RU" sz="1700" b="0">
                          <a:effectLst/>
                          <a:latin typeface="+mn-lt"/>
                        </a:rPr>
                        <a:t>Os01g0108800</a:t>
                      </a:r>
                    </a:p>
                  </a:txBody>
                  <a:tcPr marR="121920" marT="76200" marB="76200" anchor="ctr"/>
                </a:tc>
                <a:tc>
                  <a:txBody>
                    <a:bodyPr/>
                    <a:lstStyle/>
                    <a:p>
                      <a:pPr>
                        <a:lnSpc>
                          <a:spcPts val="1875"/>
                        </a:lnSpc>
                        <a:buNone/>
                      </a:pPr>
                      <a:r>
                        <a:rPr lang="ru-RU" sz="1700" b="0">
                          <a:effectLst/>
                          <a:latin typeface="+mn-lt"/>
                        </a:rPr>
                        <a:t>Os01g0150000</a:t>
                      </a:r>
                    </a:p>
                  </a:txBody>
                  <a:tcPr marL="121920" marR="121920" marT="76200" marB="76200" anchor="ctr"/>
                </a:tc>
                <a:tc>
                  <a:txBody>
                    <a:bodyPr/>
                    <a:lstStyle/>
                    <a:p>
                      <a:pPr>
                        <a:lnSpc>
                          <a:spcPts val="1875"/>
                        </a:lnSpc>
                        <a:buNone/>
                      </a:pPr>
                      <a:r>
                        <a:rPr lang="ru-RU" sz="1700" b="0" dirty="0">
                          <a:effectLst/>
                          <a:latin typeface="+mn-lt"/>
                        </a:rPr>
                        <a:t>-0.00692</a:t>
                      </a:r>
                    </a:p>
                  </a:txBody>
                  <a:tcPr marL="121920" marT="76200" marB="76200" anchor="ctr"/>
                </a:tc>
                <a:extLst>
                  <a:ext uri="{0D108BD9-81ED-4DB2-BD59-A6C34878D82A}">
                    <a16:rowId xmlns:a16="http://schemas.microsoft.com/office/drawing/2014/main" val="1592848036"/>
                  </a:ext>
                </a:extLst>
              </a:tr>
            </a:tbl>
          </a:graphicData>
        </a:graphic>
      </p:graphicFrame>
      <p:sp>
        <p:nvSpPr>
          <p:cNvPr id="13" name="TextBox 12">
            <a:extLst>
              <a:ext uri="{FF2B5EF4-FFF2-40B4-BE49-F238E27FC236}">
                <a16:creationId xmlns:a16="http://schemas.microsoft.com/office/drawing/2014/main" id="{FA015B62-9924-0E3F-9B5B-B6575F2B6950}"/>
              </a:ext>
            </a:extLst>
          </p:cNvPr>
          <p:cNvSpPr txBox="1"/>
          <p:nvPr/>
        </p:nvSpPr>
        <p:spPr>
          <a:xfrm>
            <a:off x="6831401" y="1272898"/>
            <a:ext cx="4750999" cy="369332"/>
          </a:xfrm>
          <a:prstGeom prst="rect">
            <a:avLst/>
          </a:prstGeom>
          <a:noFill/>
        </p:spPr>
        <p:txBody>
          <a:bodyPr wrap="square">
            <a:spAutoFit/>
          </a:bodyPr>
          <a:lstStyle/>
          <a:p>
            <a:r>
              <a:rPr lang="ru-RU" b="1" dirty="0"/>
              <a:t>Отрицательные взаимодействия:</a:t>
            </a:r>
          </a:p>
        </p:txBody>
      </p:sp>
      <p:sp>
        <p:nvSpPr>
          <p:cNvPr id="14" name="TextBox 13">
            <a:extLst>
              <a:ext uri="{FF2B5EF4-FFF2-40B4-BE49-F238E27FC236}">
                <a16:creationId xmlns:a16="http://schemas.microsoft.com/office/drawing/2014/main" id="{3C6A8506-92BC-A6FB-9C22-4DAACAA650A6}"/>
              </a:ext>
            </a:extLst>
          </p:cNvPr>
          <p:cNvSpPr txBox="1"/>
          <p:nvPr/>
        </p:nvSpPr>
        <p:spPr>
          <a:xfrm>
            <a:off x="609600" y="1283796"/>
            <a:ext cx="4824648" cy="369332"/>
          </a:xfrm>
          <a:prstGeom prst="rect">
            <a:avLst/>
          </a:prstGeom>
          <a:noFill/>
        </p:spPr>
        <p:txBody>
          <a:bodyPr wrap="square">
            <a:spAutoFit/>
          </a:bodyPr>
          <a:lstStyle/>
          <a:p>
            <a:r>
              <a:rPr lang="ru-RU" b="1" dirty="0"/>
              <a:t>Положительные взаимодействия:</a:t>
            </a:r>
          </a:p>
        </p:txBody>
      </p:sp>
    </p:spTree>
    <p:extLst>
      <p:ext uri="{BB962C8B-B14F-4D97-AF65-F5344CB8AC3E}">
        <p14:creationId xmlns:p14="http://schemas.microsoft.com/office/powerpoint/2010/main" val="31281105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D86EB45-21A4-02BD-CAFF-1A39722BAD9A}"/>
              </a:ext>
            </a:extLst>
          </p:cNvPr>
          <p:cNvSpPr>
            <a:spLocks noGrp="1"/>
          </p:cNvSpPr>
          <p:nvPr>
            <p:ph type="title"/>
          </p:nvPr>
        </p:nvSpPr>
        <p:spPr>
          <a:xfrm>
            <a:off x="609600" y="205740"/>
            <a:ext cx="10972800" cy="990600"/>
          </a:xfrm>
        </p:spPr>
        <p:txBody>
          <a:bodyPr>
            <a:normAutofit fontScale="90000"/>
          </a:bodyPr>
          <a:lstStyle/>
          <a:p>
            <a:r>
              <a:rPr lang="ru-RU" b="1" dirty="0"/>
              <a:t>Результаты выделения генов для рапса</a:t>
            </a:r>
            <a:br>
              <a:rPr lang="ru-RU" b="1" dirty="0"/>
            </a:br>
            <a:endParaRPr lang="ru-RU" dirty="0"/>
          </a:p>
        </p:txBody>
      </p:sp>
      <p:sp>
        <p:nvSpPr>
          <p:cNvPr id="3" name="Номер слайда 2">
            <a:extLst>
              <a:ext uri="{FF2B5EF4-FFF2-40B4-BE49-F238E27FC236}">
                <a16:creationId xmlns:a16="http://schemas.microsoft.com/office/drawing/2014/main" id="{C8884093-F828-AB52-F9F8-36219E5B9E33}"/>
              </a:ext>
            </a:extLst>
          </p:cNvPr>
          <p:cNvSpPr>
            <a:spLocks noGrp="1"/>
          </p:cNvSpPr>
          <p:nvPr>
            <p:ph type="sldNum" sz="quarter" idx="12"/>
          </p:nvPr>
        </p:nvSpPr>
        <p:spPr/>
        <p:txBody>
          <a:bodyPr/>
          <a:lstStyle/>
          <a:p>
            <a:fld id="{B19B0651-EE4F-4900-A07F-96A6BFA9D0F0}" type="slidenum">
              <a:rPr lang="ru-RU" smtClean="0"/>
              <a:pPr/>
              <a:t>23</a:t>
            </a:fld>
            <a:endParaRPr lang="ru-RU" dirty="0"/>
          </a:p>
        </p:txBody>
      </p:sp>
      <p:graphicFrame>
        <p:nvGraphicFramePr>
          <p:cNvPr id="7" name="Объект 6">
            <a:extLst>
              <a:ext uri="{FF2B5EF4-FFF2-40B4-BE49-F238E27FC236}">
                <a16:creationId xmlns:a16="http://schemas.microsoft.com/office/drawing/2014/main" id="{E6EDD114-21C4-346A-E212-0F8590F1B92D}"/>
              </a:ext>
            </a:extLst>
          </p:cNvPr>
          <p:cNvGraphicFramePr>
            <a:graphicFrameLocks noGrp="1"/>
          </p:cNvGraphicFramePr>
          <p:nvPr>
            <p:ph sz="quarter" idx="1"/>
            <p:extLst>
              <p:ext uri="{D42A27DB-BD31-4B8C-83A1-F6EECF244321}">
                <p14:modId xmlns:p14="http://schemas.microsoft.com/office/powerpoint/2010/main" val="3327596865"/>
              </p:ext>
            </p:extLst>
          </p:nvPr>
        </p:nvGraphicFramePr>
        <p:xfrm>
          <a:off x="644912" y="4609163"/>
          <a:ext cx="4055000" cy="1663700"/>
        </p:xfrm>
        <a:graphic>
          <a:graphicData uri="http://schemas.openxmlformats.org/drawingml/2006/table">
            <a:tbl>
              <a:tblPr firstRow="1" bandRow="1">
                <a:tableStyleId>{5C22544A-7EE6-4342-B048-85BDC9FD1C3A}</a:tableStyleId>
              </a:tblPr>
              <a:tblGrid>
                <a:gridCol w="2102024">
                  <a:extLst>
                    <a:ext uri="{9D8B030D-6E8A-4147-A177-3AD203B41FA5}">
                      <a16:colId xmlns:a16="http://schemas.microsoft.com/office/drawing/2014/main" val="1619065885"/>
                    </a:ext>
                  </a:extLst>
                </a:gridCol>
                <a:gridCol w="1952976">
                  <a:extLst>
                    <a:ext uri="{9D8B030D-6E8A-4147-A177-3AD203B41FA5}">
                      <a16:colId xmlns:a16="http://schemas.microsoft.com/office/drawing/2014/main" val="109317098"/>
                    </a:ext>
                  </a:extLst>
                </a:gridCol>
              </a:tblGrid>
              <a:tr h="370840">
                <a:tc>
                  <a:txBody>
                    <a:bodyPr/>
                    <a:lstStyle/>
                    <a:p>
                      <a:pPr algn="l">
                        <a:lnSpc>
                          <a:spcPts val="1875"/>
                        </a:lnSpc>
                        <a:buNone/>
                      </a:pPr>
                      <a:r>
                        <a:rPr lang="ru-RU" b="1" dirty="0">
                          <a:effectLst/>
                          <a:latin typeface="+mn-lt"/>
                        </a:rPr>
                        <a:t>Ген</a:t>
                      </a:r>
                    </a:p>
                  </a:txBody>
                  <a:tcPr marR="121920" marT="76200" marB="76200" anchor="ctr"/>
                </a:tc>
                <a:tc>
                  <a:txBody>
                    <a:bodyPr/>
                    <a:lstStyle/>
                    <a:p>
                      <a:pPr algn="l">
                        <a:lnSpc>
                          <a:spcPts val="1875"/>
                        </a:lnSpc>
                        <a:buNone/>
                      </a:pPr>
                      <a:r>
                        <a:rPr lang="ru-RU" b="1" dirty="0">
                          <a:effectLst/>
                          <a:latin typeface="+mn-lt"/>
                        </a:rPr>
                        <a:t>Центральность</a:t>
                      </a:r>
                    </a:p>
                  </a:txBody>
                  <a:tcPr marL="121920" marR="121920" marT="76200" marB="76200" anchor="ctr"/>
                </a:tc>
                <a:extLst>
                  <a:ext uri="{0D108BD9-81ED-4DB2-BD59-A6C34878D82A}">
                    <a16:rowId xmlns:a16="http://schemas.microsoft.com/office/drawing/2014/main" val="2275847833"/>
                  </a:ext>
                </a:extLst>
              </a:tr>
              <a:tr h="317500">
                <a:tc>
                  <a:txBody>
                    <a:bodyPr/>
                    <a:lstStyle/>
                    <a:p>
                      <a:pPr>
                        <a:lnSpc>
                          <a:spcPts val="1875"/>
                        </a:lnSpc>
                        <a:buNone/>
                      </a:pPr>
                      <a:r>
                        <a:rPr lang="ru-RU" b="0" dirty="0">
                          <a:effectLst/>
                          <a:latin typeface="+mn-lt"/>
                        </a:rPr>
                        <a:t>gene-LOC106381653</a:t>
                      </a:r>
                    </a:p>
                  </a:txBody>
                  <a:tcPr marR="121920" marT="76200" marB="76200" anchor="ctr"/>
                </a:tc>
                <a:tc>
                  <a:txBody>
                    <a:bodyPr/>
                    <a:lstStyle/>
                    <a:p>
                      <a:pPr>
                        <a:lnSpc>
                          <a:spcPts val="1875"/>
                        </a:lnSpc>
                        <a:buNone/>
                      </a:pPr>
                      <a:r>
                        <a:rPr lang="ru-RU" b="0" dirty="0">
                          <a:effectLst/>
                          <a:latin typeface="+mn-lt"/>
                        </a:rPr>
                        <a:t>0.0264</a:t>
                      </a:r>
                    </a:p>
                  </a:txBody>
                  <a:tcPr marL="121920" marT="76200" marB="76200" anchor="ctr"/>
                </a:tc>
                <a:extLst>
                  <a:ext uri="{0D108BD9-81ED-4DB2-BD59-A6C34878D82A}">
                    <a16:rowId xmlns:a16="http://schemas.microsoft.com/office/drawing/2014/main" val="4135680987"/>
                  </a:ext>
                </a:extLst>
              </a:tr>
              <a:tr h="317500">
                <a:tc>
                  <a:txBody>
                    <a:bodyPr/>
                    <a:lstStyle/>
                    <a:p>
                      <a:pPr>
                        <a:lnSpc>
                          <a:spcPts val="1875"/>
                        </a:lnSpc>
                        <a:buNone/>
                      </a:pPr>
                      <a:r>
                        <a:rPr lang="ru-RU" b="0">
                          <a:effectLst/>
                          <a:latin typeface="+mn-lt"/>
                        </a:rPr>
                        <a:t>gene-LOC106428178</a:t>
                      </a:r>
                    </a:p>
                  </a:txBody>
                  <a:tcPr marR="121920" marT="76200" marB="76200" anchor="ctr"/>
                </a:tc>
                <a:tc>
                  <a:txBody>
                    <a:bodyPr/>
                    <a:lstStyle/>
                    <a:p>
                      <a:pPr>
                        <a:lnSpc>
                          <a:spcPts val="1875"/>
                        </a:lnSpc>
                        <a:buNone/>
                      </a:pPr>
                      <a:r>
                        <a:rPr lang="ru-RU" b="0" dirty="0">
                          <a:effectLst/>
                          <a:latin typeface="+mn-lt"/>
                        </a:rPr>
                        <a:t>0.0243</a:t>
                      </a:r>
                    </a:p>
                  </a:txBody>
                  <a:tcPr marL="121920" marR="121920" marT="76200" marB="76200" anchor="ctr"/>
                </a:tc>
                <a:extLst>
                  <a:ext uri="{0D108BD9-81ED-4DB2-BD59-A6C34878D82A}">
                    <a16:rowId xmlns:a16="http://schemas.microsoft.com/office/drawing/2014/main" val="1488871115"/>
                  </a:ext>
                </a:extLst>
              </a:tr>
            </a:tbl>
          </a:graphicData>
        </a:graphic>
      </p:graphicFrame>
      <p:sp>
        <p:nvSpPr>
          <p:cNvPr id="11" name="TextBox 10">
            <a:extLst>
              <a:ext uri="{FF2B5EF4-FFF2-40B4-BE49-F238E27FC236}">
                <a16:creationId xmlns:a16="http://schemas.microsoft.com/office/drawing/2014/main" id="{932DEA36-6E1F-40CD-8820-69F38E7C8DDF}"/>
              </a:ext>
            </a:extLst>
          </p:cNvPr>
          <p:cNvSpPr txBox="1"/>
          <p:nvPr/>
        </p:nvSpPr>
        <p:spPr>
          <a:xfrm>
            <a:off x="10378488" y="1717758"/>
            <a:ext cx="1622168" cy="3139321"/>
          </a:xfrm>
          <a:prstGeom prst="rect">
            <a:avLst/>
          </a:prstGeom>
          <a:noFill/>
        </p:spPr>
        <p:txBody>
          <a:bodyPr wrap="square">
            <a:spAutoFit/>
          </a:bodyPr>
          <a:lstStyle/>
          <a:p>
            <a:r>
              <a:rPr lang="ru-RU" b="1" dirty="0"/>
              <a:t>Вывод: </a:t>
            </a:r>
            <a:r>
              <a:rPr lang="ru-RU" dirty="0"/>
              <a:t>структура взаимодействий различается для разных культур. Выявлены гены-мишени для селекции.</a:t>
            </a:r>
          </a:p>
        </p:txBody>
      </p:sp>
      <p:graphicFrame>
        <p:nvGraphicFramePr>
          <p:cNvPr id="10" name="Таблица 9">
            <a:extLst>
              <a:ext uri="{FF2B5EF4-FFF2-40B4-BE49-F238E27FC236}">
                <a16:creationId xmlns:a16="http://schemas.microsoft.com/office/drawing/2014/main" id="{955FF96C-538F-8D1D-6796-5C748DAF6E42}"/>
              </a:ext>
            </a:extLst>
          </p:cNvPr>
          <p:cNvGraphicFramePr>
            <a:graphicFrameLocks noGrp="1"/>
          </p:cNvGraphicFramePr>
          <p:nvPr>
            <p:extLst>
              <p:ext uri="{D42A27DB-BD31-4B8C-83A1-F6EECF244321}">
                <p14:modId xmlns:p14="http://schemas.microsoft.com/office/powerpoint/2010/main" val="1487998546"/>
              </p:ext>
            </p:extLst>
          </p:nvPr>
        </p:nvGraphicFramePr>
        <p:xfrm>
          <a:off x="647704" y="1709167"/>
          <a:ext cx="4786544" cy="2540000"/>
        </p:xfrm>
        <a:graphic>
          <a:graphicData uri="http://schemas.openxmlformats.org/drawingml/2006/table">
            <a:tbl>
              <a:tblPr firstRow="1" bandRow="1">
                <a:tableStyleId>{5C22544A-7EE6-4342-B048-85BDC9FD1C3A}</a:tableStyleId>
              </a:tblPr>
              <a:tblGrid>
                <a:gridCol w="1703880">
                  <a:extLst>
                    <a:ext uri="{9D8B030D-6E8A-4147-A177-3AD203B41FA5}">
                      <a16:colId xmlns:a16="http://schemas.microsoft.com/office/drawing/2014/main" val="4139290216"/>
                    </a:ext>
                  </a:extLst>
                </a:gridCol>
                <a:gridCol w="1728192">
                  <a:extLst>
                    <a:ext uri="{9D8B030D-6E8A-4147-A177-3AD203B41FA5}">
                      <a16:colId xmlns:a16="http://schemas.microsoft.com/office/drawing/2014/main" val="3987079348"/>
                    </a:ext>
                  </a:extLst>
                </a:gridCol>
                <a:gridCol w="1354472">
                  <a:extLst>
                    <a:ext uri="{9D8B030D-6E8A-4147-A177-3AD203B41FA5}">
                      <a16:colId xmlns:a16="http://schemas.microsoft.com/office/drawing/2014/main" val="765092523"/>
                    </a:ext>
                  </a:extLst>
                </a:gridCol>
              </a:tblGrid>
              <a:tr h="370840">
                <a:tc>
                  <a:txBody>
                    <a:bodyPr/>
                    <a:lstStyle/>
                    <a:p>
                      <a:pPr algn="l">
                        <a:lnSpc>
                          <a:spcPts val="1875"/>
                        </a:lnSpc>
                        <a:buNone/>
                      </a:pPr>
                      <a:r>
                        <a:rPr lang="ru-RU" sz="1700" b="1" dirty="0">
                          <a:effectLst/>
                          <a:latin typeface="+mn-lt"/>
                        </a:rPr>
                        <a:t>Ген 1</a:t>
                      </a:r>
                    </a:p>
                  </a:txBody>
                  <a:tcPr marR="121920" marT="76200" marB="76200" anchor="ctr"/>
                </a:tc>
                <a:tc>
                  <a:txBody>
                    <a:bodyPr/>
                    <a:lstStyle/>
                    <a:p>
                      <a:pPr algn="l">
                        <a:lnSpc>
                          <a:spcPts val="1875"/>
                        </a:lnSpc>
                        <a:buNone/>
                      </a:pPr>
                      <a:r>
                        <a:rPr lang="ru-RU" sz="1700" b="1" dirty="0">
                          <a:effectLst/>
                          <a:latin typeface="+mn-lt"/>
                        </a:rPr>
                        <a:t>Ген 2</a:t>
                      </a:r>
                    </a:p>
                  </a:txBody>
                  <a:tcPr marL="121920" marR="121920" marT="76200" marB="76200" anchor="ctr"/>
                </a:tc>
                <a:tc>
                  <a:txBody>
                    <a:bodyPr/>
                    <a:lstStyle/>
                    <a:p>
                      <a:pPr algn="l">
                        <a:lnSpc>
                          <a:spcPts val="1875"/>
                        </a:lnSpc>
                        <a:buNone/>
                      </a:pPr>
                      <a:r>
                        <a:rPr lang="ru-RU" sz="1700" b="1" dirty="0">
                          <a:effectLst/>
                          <a:latin typeface="+mn-lt"/>
                        </a:rPr>
                        <a:t>Значение φ</a:t>
                      </a:r>
                    </a:p>
                  </a:txBody>
                  <a:tcPr marL="121920" marR="121920" marT="76200" marB="76200" anchor="ctr"/>
                </a:tc>
                <a:extLst>
                  <a:ext uri="{0D108BD9-81ED-4DB2-BD59-A6C34878D82A}">
                    <a16:rowId xmlns:a16="http://schemas.microsoft.com/office/drawing/2014/main" val="1778693044"/>
                  </a:ext>
                </a:extLst>
              </a:tr>
              <a:tr h="370840">
                <a:tc>
                  <a:txBody>
                    <a:bodyPr/>
                    <a:lstStyle/>
                    <a:p>
                      <a:pPr>
                        <a:lnSpc>
                          <a:spcPts val="1875"/>
                        </a:lnSpc>
                        <a:buNone/>
                      </a:pPr>
                      <a:r>
                        <a:rPr lang="ru-RU" sz="1700" b="0">
                          <a:effectLst/>
                          <a:latin typeface="+mn-lt"/>
                        </a:rPr>
                        <a:t>gene-LOC106381653</a:t>
                      </a:r>
                    </a:p>
                  </a:txBody>
                  <a:tcPr marR="121920" marT="76200" marB="76200" anchor="ctr"/>
                </a:tc>
                <a:tc>
                  <a:txBody>
                    <a:bodyPr/>
                    <a:lstStyle/>
                    <a:p>
                      <a:pPr>
                        <a:lnSpc>
                          <a:spcPts val="1875"/>
                        </a:lnSpc>
                        <a:buNone/>
                      </a:pPr>
                      <a:r>
                        <a:rPr lang="ru-RU" sz="1700" b="0">
                          <a:effectLst/>
                          <a:latin typeface="+mn-lt"/>
                        </a:rPr>
                        <a:t>gene-LOC106382058</a:t>
                      </a:r>
                    </a:p>
                  </a:txBody>
                  <a:tcPr marL="121920" marR="121920" marT="76200" marB="76200" anchor="ctr"/>
                </a:tc>
                <a:tc>
                  <a:txBody>
                    <a:bodyPr/>
                    <a:lstStyle/>
                    <a:p>
                      <a:pPr>
                        <a:lnSpc>
                          <a:spcPts val="1875"/>
                        </a:lnSpc>
                        <a:buNone/>
                      </a:pPr>
                      <a:r>
                        <a:rPr lang="ru-RU" sz="1700" b="0">
                          <a:effectLst/>
                          <a:latin typeface="+mn-lt"/>
                        </a:rPr>
                        <a:t>+0.000666</a:t>
                      </a:r>
                    </a:p>
                  </a:txBody>
                  <a:tcPr marL="121920" marT="76200" marB="76200" anchor="ctr"/>
                </a:tc>
                <a:extLst>
                  <a:ext uri="{0D108BD9-81ED-4DB2-BD59-A6C34878D82A}">
                    <a16:rowId xmlns:a16="http://schemas.microsoft.com/office/drawing/2014/main" val="1489463200"/>
                  </a:ext>
                </a:extLst>
              </a:tr>
              <a:tr h="370840">
                <a:tc>
                  <a:txBody>
                    <a:bodyPr/>
                    <a:lstStyle/>
                    <a:p>
                      <a:pPr>
                        <a:lnSpc>
                          <a:spcPts val="1875"/>
                        </a:lnSpc>
                        <a:buNone/>
                      </a:pPr>
                      <a:r>
                        <a:rPr lang="ru-RU" sz="1700" b="0">
                          <a:effectLst/>
                          <a:latin typeface="+mn-lt"/>
                        </a:rPr>
                        <a:t>gene-LOC106383181</a:t>
                      </a:r>
                    </a:p>
                  </a:txBody>
                  <a:tcPr marR="121920" marT="76200" marB="76200" anchor="ctr"/>
                </a:tc>
                <a:tc>
                  <a:txBody>
                    <a:bodyPr/>
                    <a:lstStyle/>
                    <a:p>
                      <a:pPr>
                        <a:lnSpc>
                          <a:spcPts val="1875"/>
                        </a:lnSpc>
                        <a:buNone/>
                      </a:pPr>
                      <a:r>
                        <a:rPr lang="ru-RU" sz="1700" b="0">
                          <a:effectLst/>
                          <a:latin typeface="+mn-lt"/>
                        </a:rPr>
                        <a:t>gene-LOC111207063</a:t>
                      </a:r>
                    </a:p>
                  </a:txBody>
                  <a:tcPr marL="121920" marR="121920" marT="76200" marB="76200" anchor="ctr"/>
                </a:tc>
                <a:tc>
                  <a:txBody>
                    <a:bodyPr/>
                    <a:lstStyle/>
                    <a:p>
                      <a:pPr>
                        <a:lnSpc>
                          <a:spcPts val="1875"/>
                        </a:lnSpc>
                        <a:buNone/>
                      </a:pPr>
                      <a:r>
                        <a:rPr lang="ru-RU" sz="1700" b="0">
                          <a:effectLst/>
                          <a:latin typeface="+mn-lt"/>
                        </a:rPr>
                        <a:t>+0.000537</a:t>
                      </a:r>
                    </a:p>
                  </a:txBody>
                  <a:tcPr marL="121920" marT="76200" marB="76200" anchor="ctr"/>
                </a:tc>
                <a:extLst>
                  <a:ext uri="{0D108BD9-81ED-4DB2-BD59-A6C34878D82A}">
                    <a16:rowId xmlns:a16="http://schemas.microsoft.com/office/drawing/2014/main" val="2329407510"/>
                  </a:ext>
                </a:extLst>
              </a:tr>
              <a:tr h="370840">
                <a:tc>
                  <a:txBody>
                    <a:bodyPr/>
                    <a:lstStyle/>
                    <a:p>
                      <a:pPr>
                        <a:lnSpc>
                          <a:spcPts val="1875"/>
                        </a:lnSpc>
                        <a:buNone/>
                      </a:pPr>
                      <a:r>
                        <a:rPr lang="ru-RU" sz="1700" b="0">
                          <a:effectLst/>
                          <a:latin typeface="+mn-lt"/>
                        </a:rPr>
                        <a:t>gene-LOC125584419</a:t>
                      </a:r>
                    </a:p>
                  </a:txBody>
                  <a:tcPr marR="121920" marT="76200" marB="76200" anchor="ctr"/>
                </a:tc>
                <a:tc>
                  <a:txBody>
                    <a:bodyPr/>
                    <a:lstStyle/>
                    <a:p>
                      <a:pPr>
                        <a:lnSpc>
                          <a:spcPts val="1875"/>
                        </a:lnSpc>
                        <a:buNone/>
                      </a:pPr>
                      <a:r>
                        <a:rPr lang="ru-RU" sz="1700" b="0">
                          <a:effectLst/>
                          <a:latin typeface="+mn-lt"/>
                        </a:rPr>
                        <a:t>gene-LOC106428178</a:t>
                      </a:r>
                    </a:p>
                  </a:txBody>
                  <a:tcPr marL="121920" marR="121920" marT="76200" marB="76200" anchor="ctr"/>
                </a:tc>
                <a:tc>
                  <a:txBody>
                    <a:bodyPr/>
                    <a:lstStyle/>
                    <a:p>
                      <a:pPr>
                        <a:lnSpc>
                          <a:spcPts val="1875"/>
                        </a:lnSpc>
                        <a:buNone/>
                      </a:pPr>
                      <a:r>
                        <a:rPr lang="ru-RU" sz="1700" b="0" dirty="0">
                          <a:effectLst/>
                          <a:latin typeface="+mn-lt"/>
                        </a:rPr>
                        <a:t>+0.000477</a:t>
                      </a:r>
                    </a:p>
                  </a:txBody>
                  <a:tcPr marL="121920" marT="76200" marB="76200" anchor="ctr"/>
                </a:tc>
                <a:extLst>
                  <a:ext uri="{0D108BD9-81ED-4DB2-BD59-A6C34878D82A}">
                    <a16:rowId xmlns:a16="http://schemas.microsoft.com/office/drawing/2014/main" val="1592848036"/>
                  </a:ext>
                </a:extLst>
              </a:tr>
            </a:tbl>
          </a:graphicData>
        </a:graphic>
      </p:graphicFrame>
      <p:graphicFrame>
        <p:nvGraphicFramePr>
          <p:cNvPr id="12" name="Таблица 11">
            <a:extLst>
              <a:ext uri="{FF2B5EF4-FFF2-40B4-BE49-F238E27FC236}">
                <a16:creationId xmlns:a16="http://schemas.microsoft.com/office/drawing/2014/main" id="{AE6820D3-F630-91A7-D4A7-D93217458864}"/>
              </a:ext>
            </a:extLst>
          </p:cNvPr>
          <p:cNvGraphicFramePr>
            <a:graphicFrameLocks noGrp="1"/>
          </p:cNvGraphicFramePr>
          <p:nvPr>
            <p:extLst>
              <p:ext uri="{D42A27DB-BD31-4B8C-83A1-F6EECF244321}">
                <p14:modId xmlns:p14="http://schemas.microsoft.com/office/powerpoint/2010/main" val="398648733"/>
              </p:ext>
            </p:extLst>
          </p:nvPr>
        </p:nvGraphicFramePr>
        <p:xfrm>
          <a:off x="5591944" y="1704022"/>
          <a:ext cx="4786544" cy="3175000"/>
        </p:xfrm>
        <a:graphic>
          <a:graphicData uri="http://schemas.openxmlformats.org/drawingml/2006/table">
            <a:tbl>
              <a:tblPr firstRow="1" bandRow="1">
                <a:tableStyleId>{5C22544A-7EE6-4342-B048-85BDC9FD1C3A}</a:tableStyleId>
              </a:tblPr>
              <a:tblGrid>
                <a:gridCol w="1669976">
                  <a:extLst>
                    <a:ext uri="{9D8B030D-6E8A-4147-A177-3AD203B41FA5}">
                      <a16:colId xmlns:a16="http://schemas.microsoft.com/office/drawing/2014/main" val="4139290216"/>
                    </a:ext>
                  </a:extLst>
                </a:gridCol>
                <a:gridCol w="1699079">
                  <a:extLst>
                    <a:ext uri="{9D8B030D-6E8A-4147-A177-3AD203B41FA5}">
                      <a16:colId xmlns:a16="http://schemas.microsoft.com/office/drawing/2014/main" val="3987079348"/>
                    </a:ext>
                  </a:extLst>
                </a:gridCol>
                <a:gridCol w="1417489">
                  <a:extLst>
                    <a:ext uri="{9D8B030D-6E8A-4147-A177-3AD203B41FA5}">
                      <a16:colId xmlns:a16="http://schemas.microsoft.com/office/drawing/2014/main" val="765092523"/>
                    </a:ext>
                  </a:extLst>
                </a:gridCol>
              </a:tblGrid>
              <a:tr h="370840">
                <a:tc>
                  <a:txBody>
                    <a:bodyPr/>
                    <a:lstStyle/>
                    <a:p>
                      <a:pPr algn="l">
                        <a:lnSpc>
                          <a:spcPts val="1875"/>
                        </a:lnSpc>
                        <a:buNone/>
                      </a:pPr>
                      <a:r>
                        <a:rPr lang="ru-RU" sz="1700" b="1" dirty="0">
                          <a:effectLst/>
                          <a:latin typeface="+mn-lt"/>
                        </a:rPr>
                        <a:t>Ген 1</a:t>
                      </a:r>
                    </a:p>
                  </a:txBody>
                  <a:tcPr marR="121920" marT="76200" marB="76200" anchor="ctr"/>
                </a:tc>
                <a:tc>
                  <a:txBody>
                    <a:bodyPr/>
                    <a:lstStyle/>
                    <a:p>
                      <a:pPr algn="l">
                        <a:lnSpc>
                          <a:spcPts val="1875"/>
                        </a:lnSpc>
                        <a:buNone/>
                      </a:pPr>
                      <a:r>
                        <a:rPr lang="ru-RU" sz="1700" b="1" dirty="0">
                          <a:effectLst/>
                          <a:latin typeface="+mn-lt"/>
                        </a:rPr>
                        <a:t>Ген 2</a:t>
                      </a:r>
                    </a:p>
                  </a:txBody>
                  <a:tcPr marL="121920" marR="121920" marT="76200" marB="76200" anchor="ctr"/>
                </a:tc>
                <a:tc>
                  <a:txBody>
                    <a:bodyPr/>
                    <a:lstStyle/>
                    <a:p>
                      <a:pPr algn="l">
                        <a:lnSpc>
                          <a:spcPts val="1875"/>
                        </a:lnSpc>
                        <a:buNone/>
                      </a:pPr>
                      <a:r>
                        <a:rPr lang="ru-RU" sz="1700" b="1" dirty="0">
                          <a:effectLst/>
                          <a:latin typeface="+mn-lt"/>
                        </a:rPr>
                        <a:t>Значение φ</a:t>
                      </a:r>
                    </a:p>
                  </a:txBody>
                  <a:tcPr marL="121920" marR="121920" marT="76200" marB="76200" anchor="ctr"/>
                </a:tc>
                <a:extLst>
                  <a:ext uri="{0D108BD9-81ED-4DB2-BD59-A6C34878D82A}">
                    <a16:rowId xmlns:a16="http://schemas.microsoft.com/office/drawing/2014/main" val="1778693044"/>
                  </a:ext>
                </a:extLst>
              </a:tr>
              <a:tr h="370840">
                <a:tc>
                  <a:txBody>
                    <a:bodyPr/>
                    <a:lstStyle/>
                    <a:p>
                      <a:pPr>
                        <a:lnSpc>
                          <a:spcPts val="1875"/>
                        </a:lnSpc>
                        <a:buNone/>
                      </a:pPr>
                      <a:r>
                        <a:rPr lang="ru-RU" sz="1700" b="0" dirty="0">
                          <a:effectLst/>
                          <a:latin typeface="+mn-lt"/>
                        </a:rPr>
                        <a:t>gene-LOC106412350</a:t>
                      </a:r>
                    </a:p>
                  </a:txBody>
                  <a:tcPr marR="121920" marT="76200" marB="76200" anchor="ctr"/>
                </a:tc>
                <a:tc>
                  <a:txBody>
                    <a:bodyPr/>
                    <a:lstStyle/>
                    <a:p>
                      <a:pPr>
                        <a:lnSpc>
                          <a:spcPts val="1875"/>
                        </a:lnSpc>
                        <a:buNone/>
                      </a:pPr>
                      <a:r>
                        <a:rPr lang="ru-RU" sz="1700" b="0">
                          <a:effectLst/>
                          <a:latin typeface="+mn-lt"/>
                        </a:rPr>
                        <a:t>gene-LOC106428178</a:t>
                      </a:r>
                    </a:p>
                  </a:txBody>
                  <a:tcPr marL="121920" marR="121920" marT="76200" marB="76200" anchor="ctr"/>
                </a:tc>
                <a:tc>
                  <a:txBody>
                    <a:bodyPr/>
                    <a:lstStyle/>
                    <a:p>
                      <a:pPr>
                        <a:lnSpc>
                          <a:spcPts val="1875"/>
                        </a:lnSpc>
                        <a:buNone/>
                      </a:pPr>
                      <a:r>
                        <a:rPr lang="ru-RU" sz="1700" b="0">
                          <a:effectLst/>
                          <a:latin typeface="+mn-lt"/>
                        </a:rPr>
                        <a:t>-0.000487</a:t>
                      </a:r>
                    </a:p>
                  </a:txBody>
                  <a:tcPr marL="121920" marT="76200" marB="76200" anchor="ctr"/>
                </a:tc>
                <a:extLst>
                  <a:ext uri="{0D108BD9-81ED-4DB2-BD59-A6C34878D82A}">
                    <a16:rowId xmlns:a16="http://schemas.microsoft.com/office/drawing/2014/main" val="1489463200"/>
                  </a:ext>
                </a:extLst>
              </a:tr>
              <a:tr h="370840">
                <a:tc>
                  <a:txBody>
                    <a:bodyPr/>
                    <a:lstStyle/>
                    <a:p>
                      <a:pPr>
                        <a:lnSpc>
                          <a:spcPts val="1875"/>
                        </a:lnSpc>
                        <a:buNone/>
                      </a:pPr>
                      <a:r>
                        <a:rPr lang="ru-RU" sz="1700" b="0">
                          <a:effectLst/>
                          <a:latin typeface="+mn-lt"/>
                        </a:rPr>
                        <a:t>gene-LOC106423494</a:t>
                      </a:r>
                    </a:p>
                  </a:txBody>
                  <a:tcPr marR="121920" marT="76200" marB="76200" anchor="ctr"/>
                </a:tc>
                <a:tc>
                  <a:txBody>
                    <a:bodyPr/>
                    <a:lstStyle/>
                    <a:p>
                      <a:pPr>
                        <a:lnSpc>
                          <a:spcPts val="1875"/>
                        </a:lnSpc>
                        <a:buNone/>
                      </a:pPr>
                      <a:r>
                        <a:rPr lang="ru-RU" sz="1700" b="0">
                          <a:effectLst/>
                          <a:latin typeface="+mn-lt"/>
                        </a:rPr>
                        <a:t>gene-LOC106352190</a:t>
                      </a:r>
                    </a:p>
                  </a:txBody>
                  <a:tcPr marL="121920" marR="121920" marT="76200" marB="76200" anchor="ctr"/>
                </a:tc>
                <a:tc>
                  <a:txBody>
                    <a:bodyPr/>
                    <a:lstStyle/>
                    <a:p>
                      <a:pPr>
                        <a:lnSpc>
                          <a:spcPts val="1875"/>
                        </a:lnSpc>
                        <a:buNone/>
                      </a:pPr>
                      <a:r>
                        <a:rPr lang="ru-RU" sz="1700" b="0">
                          <a:effectLst/>
                          <a:latin typeface="+mn-lt"/>
                        </a:rPr>
                        <a:t>-0.000475</a:t>
                      </a:r>
                    </a:p>
                  </a:txBody>
                  <a:tcPr marL="121920" marT="76200" marB="76200" anchor="ctr"/>
                </a:tc>
                <a:extLst>
                  <a:ext uri="{0D108BD9-81ED-4DB2-BD59-A6C34878D82A}">
                    <a16:rowId xmlns:a16="http://schemas.microsoft.com/office/drawing/2014/main" val="2329407510"/>
                  </a:ext>
                </a:extLst>
              </a:tr>
              <a:tr h="196850">
                <a:tc>
                  <a:txBody>
                    <a:bodyPr/>
                    <a:lstStyle/>
                    <a:p>
                      <a:pPr>
                        <a:lnSpc>
                          <a:spcPts val="1875"/>
                        </a:lnSpc>
                        <a:buNone/>
                      </a:pPr>
                      <a:r>
                        <a:rPr lang="ru-RU" sz="1700" b="0">
                          <a:effectLst/>
                          <a:latin typeface="+mn-lt"/>
                        </a:rPr>
                        <a:t>gene-LOC111207309</a:t>
                      </a:r>
                    </a:p>
                  </a:txBody>
                  <a:tcPr marR="121920" marT="76200" marB="76200" anchor="ctr"/>
                </a:tc>
                <a:tc>
                  <a:txBody>
                    <a:bodyPr/>
                    <a:lstStyle/>
                    <a:p>
                      <a:pPr>
                        <a:lnSpc>
                          <a:spcPts val="1875"/>
                        </a:lnSpc>
                        <a:buNone/>
                      </a:pPr>
                      <a:r>
                        <a:rPr lang="ru-RU" sz="1700" b="0">
                          <a:effectLst/>
                          <a:latin typeface="+mn-lt"/>
                        </a:rPr>
                        <a:t>gene-LOC106425166</a:t>
                      </a:r>
                    </a:p>
                  </a:txBody>
                  <a:tcPr marL="121920" marR="121920" marT="76200" marB="76200" anchor="ctr"/>
                </a:tc>
                <a:tc>
                  <a:txBody>
                    <a:bodyPr/>
                    <a:lstStyle/>
                    <a:p>
                      <a:pPr>
                        <a:lnSpc>
                          <a:spcPts val="1875"/>
                        </a:lnSpc>
                        <a:buNone/>
                      </a:pPr>
                      <a:r>
                        <a:rPr lang="ru-RU" sz="1700" b="0" dirty="0">
                          <a:effectLst/>
                          <a:latin typeface="+mn-lt"/>
                        </a:rPr>
                        <a:t>-0.000469</a:t>
                      </a:r>
                    </a:p>
                  </a:txBody>
                  <a:tcPr marL="121920" marT="76200" marB="76200" anchor="ctr"/>
                </a:tc>
                <a:extLst>
                  <a:ext uri="{0D108BD9-81ED-4DB2-BD59-A6C34878D82A}">
                    <a16:rowId xmlns:a16="http://schemas.microsoft.com/office/drawing/2014/main" val="1592848036"/>
                  </a:ext>
                </a:extLst>
              </a:tr>
              <a:tr h="196850">
                <a:tc>
                  <a:txBody>
                    <a:bodyPr/>
                    <a:lstStyle/>
                    <a:p>
                      <a:pPr>
                        <a:lnSpc>
                          <a:spcPts val="1875"/>
                        </a:lnSpc>
                        <a:buNone/>
                      </a:pPr>
                      <a:r>
                        <a:rPr lang="ru-RU" sz="1700" b="0">
                          <a:effectLst/>
                          <a:latin typeface="+mn-lt"/>
                        </a:rPr>
                        <a:t>gene-LOC106381653</a:t>
                      </a:r>
                    </a:p>
                  </a:txBody>
                  <a:tcPr marR="121920" marT="76200" marB="76200" anchor="ctr"/>
                </a:tc>
                <a:tc>
                  <a:txBody>
                    <a:bodyPr/>
                    <a:lstStyle/>
                    <a:p>
                      <a:pPr>
                        <a:lnSpc>
                          <a:spcPts val="1875"/>
                        </a:lnSpc>
                        <a:buNone/>
                      </a:pPr>
                      <a:r>
                        <a:rPr lang="ru-RU" sz="1700" b="0">
                          <a:effectLst/>
                          <a:latin typeface="+mn-lt"/>
                        </a:rPr>
                        <a:t>gene-LOC106425166</a:t>
                      </a:r>
                    </a:p>
                  </a:txBody>
                  <a:tcPr marL="121920" marR="121920" marT="76200" marB="76200" anchor="ctr"/>
                </a:tc>
                <a:tc>
                  <a:txBody>
                    <a:bodyPr/>
                    <a:lstStyle/>
                    <a:p>
                      <a:pPr>
                        <a:lnSpc>
                          <a:spcPts val="1875"/>
                        </a:lnSpc>
                        <a:buNone/>
                      </a:pPr>
                      <a:r>
                        <a:rPr lang="ru-RU" sz="1700" b="0" dirty="0">
                          <a:effectLst/>
                          <a:latin typeface="+mn-lt"/>
                        </a:rPr>
                        <a:t>-0.000469</a:t>
                      </a:r>
                    </a:p>
                  </a:txBody>
                  <a:tcPr marL="121920" marT="76200" marB="76200" anchor="ctr"/>
                </a:tc>
                <a:extLst>
                  <a:ext uri="{0D108BD9-81ED-4DB2-BD59-A6C34878D82A}">
                    <a16:rowId xmlns:a16="http://schemas.microsoft.com/office/drawing/2014/main" val="2000374565"/>
                  </a:ext>
                </a:extLst>
              </a:tr>
            </a:tbl>
          </a:graphicData>
        </a:graphic>
      </p:graphicFrame>
      <p:sp>
        <p:nvSpPr>
          <p:cNvPr id="13" name="TextBox 12">
            <a:extLst>
              <a:ext uri="{FF2B5EF4-FFF2-40B4-BE49-F238E27FC236}">
                <a16:creationId xmlns:a16="http://schemas.microsoft.com/office/drawing/2014/main" id="{2BE6426B-BF65-1E37-A843-A8AD3DEBEF52}"/>
              </a:ext>
            </a:extLst>
          </p:cNvPr>
          <p:cNvSpPr txBox="1"/>
          <p:nvPr/>
        </p:nvSpPr>
        <p:spPr>
          <a:xfrm>
            <a:off x="5591944" y="1265515"/>
            <a:ext cx="4750999" cy="369332"/>
          </a:xfrm>
          <a:prstGeom prst="rect">
            <a:avLst/>
          </a:prstGeom>
          <a:noFill/>
        </p:spPr>
        <p:txBody>
          <a:bodyPr wrap="square">
            <a:spAutoFit/>
          </a:bodyPr>
          <a:lstStyle/>
          <a:p>
            <a:r>
              <a:rPr lang="ru-RU" b="1" dirty="0"/>
              <a:t>Отрицательные взаимодействия:</a:t>
            </a:r>
          </a:p>
        </p:txBody>
      </p:sp>
      <p:sp>
        <p:nvSpPr>
          <p:cNvPr id="14" name="TextBox 13">
            <a:extLst>
              <a:ext uri="{FF2B5EF4-FFF2-40B4-BE49-F238E27FC236}">
                <a16:creationId xmlns:a16="http://schemas.microsoft.com/office/drawing/2014/main" id="{54BB8643-11C8-AA28-6517-8EE76689490B}"/>
              </a:ext>
            </a:extLst>
          </p:cNvPr>
          <p:cNvSpPr txBox="1"/>
          <p:nvPr/>
        </p:nvSpPr>
        <p:spPr>
          <a:xfrm>
            <a:off x="609600" y="1283796"/>
            <a:ext cx="4824648" cy="369332"/>
          </a:xfrm>
          <a:prstGeom prst="rect">
            <a:avLst/>
          </a:prstGeom>
          <a:noFill/>
        </p:spPr>
        <p:txBody>
          <a:bodyPr wrap="square">
            <a:spAutoFit/>
          </a:bodyPr>
          <a:lstStyle/>
          <a:p>
            <a:r>
              <a:rPr lang="ru-RU" b="1" dirty="0"/>
              <a:t>Положительные взаимодействия:</a:t>
            </a:r>
          </a:p>
        </p:txBody>
      </p:sp>
      <p:sp>
        <p:nvSpPr>
          <p:cNvPr id="18" name="TextBox 17">
            <a:extLst>
              <a:ext uri="{FF2B5EF4-FFF2-40B4-BE49-F238E27FC236}">
                <a16:creationId xmlns:a16="http://schemas.microsoft.com/office/drawing/2014/main" id="{19C119F6-E45F-7F94-3F68-6B832DA9F99A}"/>
              </a:ext>
            </a:extLst>
          </p:cNvPr>
          <p:cNvSpPr txBox="1"/>
          <p:nvPr/>
        </p:nvSpPr>
        <p:spPr>
          <a:xfrm>
            <a:off x="4799856" y="4879022"/>
            <a:ext cx="7046976" cy="1477328"/>
          </a:xfrm>
          <a:prstGeom prst="rect">
            <a:avLst/>
          </a:prstGeom>
          <a:noFill/>
        </p:spPr>
        <p:txBody>
          <a:bodyPr wrap="square">
            <a:spAutoFit/>
          </a:bodyPr>
          <a:lstStyle/>
          <a:p>
            <a:r>
              <a:rPr lang="ru-RU" b="1" dirty="0"/>
              <a:t>Биологическая аннотация </a:t>
            </a:r>
            <a:r>
              <a:rPr lang="ru-RU" dirty="0"/>
              <a:t>(gene-LOC106381653):</a:t>
            </a:r>
          </a:p>
          <a:p>
            <a:pPr marL="285750" indent="-285750">
              <a:buFont typeface="Arial" panose="020B0604020202020204" pitchFamily="34" charset="0"/>
              <a:buChar char="•"/>
            </a:pPr>
            <a:r>
              <a:rPr lang="ru-RU" dirty="0"/>
              <a:t>Тип гена: белок-кодирующий</a:t>
            </a:r>
          </a:p>
          <a:p>
            <a:pPr marL="285750" indent="-285750">
              <a:buFont typeface="Arial" panose="020B0604020202020204" pitchFamily="34" charset="0"/>
              <a:buChar char="•"/>
            </a:pPr>
            <a:r>
              <a:rPr lang="ru-RU" dirty="0"/>
              <a:t>Описание: UPF0725 </a:t>
            </a:r>
            <a:r>
              <a:rPr lang="ru-RU" dirty="0" err="1"/>
              <a:t>protein</a:t>
            </a:r>
            <a:r>
              <a:rPr lang="ru-RU" dirty="0"/>
              <a:t> At5g63820-like</a:t>
            </a:r>
          </a:p>
          <a:p>
            <a:pPr marL="285750" indent="-285750">
              <a:buFont typeface="Arial" panose="020B0604020202020204" pitchFamily="34" charset="0"/>
              <a:buChar char="•"/>
            </a:pPr>
            <a:r>
              <a:rPr lang="ru-RU" dirty="0"/>
              <a:t>Хромосома: C3, 6 экзонов</a:t>
            </a:r>
          </a:p>
          <a:p>
            <a:pPr marL="285750" indent="-285750">
              <a:buFont typeface="Arial" panose="020B0604020202020204" pitchFamily="34" charset="0"/>
              <a:buChar char="•"/>
            </a:pPr>
            <a:r>
              <a:rPr lang="ru-RU" dirty="0"/>
              <a:t>Домен: DUF626 (pfam04776) — функция неизвестна</a:t>
            </a:r>
          </a:p>
        </p:txBody>
      </p:sp>
    </p:spTree>
    <p:extLst>
      <p:ext uri="{BB962C8B-B14F-4D97-AF65-F5344CB8AC3E}">
        <p14:creationId xmlns:p14="http://schemas.microsoft.com/office/powerpoint/2010/main" val="668232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D814BC-6EF4-6FF0-F531-D2EE9EAE65C0}"/>
              </a:ext>
            </a:extLst>
          </p:cNvPr>
          <p:cNvSpPr>
            <a:spLocks noGrp="1"/>
          </p:cNvSpPr>
          <p:nvPr>
            <p:ph type="title"/>
          </p:nvPr>
        </p:nvSpPr>
        <p:spPr/>
        <p:txBody>
          <a:bodyPr>
            <a:normAutofit fontScale="90000"/>
          </a:bodyPr>
          <a:lstStyle/>
          <a:p>
            <a:r>
              <a:rPr lang="ru-RU" b="1" dirty="0"/>
              <a:t>Выводы</a:t>
            </a:r>
            <a:br>
              <a:rPr lang="ru-RU" b="1" dirty="0"/>
            </a:br>
            <a:endParaRPr lang="ru-RU" dirty="0"/>
          </a:p>
        </p:txBody>
      </p:sp>
      <p:sp>
        <p:nvSpPr>
          <p:cNvPr id="3" name="Номер слайда 2">
            <a:extLst>
              <a:ext uri="{FF2B5EF4-FFF2-40B4-BE49-F238E27FC236}">
                <a16:creationId xmlns:a16="http://schemas.microsoft.com/office/drawing/2014/main" id="{4E35A7DA-4625-336A-7BF5-77E5AD69F630}"/>
              </a:ext>
            </a:extLst>
          </p:cNvPr>
          <p:cNvSpPr>
            <a:spLocks noGrp="1"/>
          </p:cNvSpPr>
          <p:nvPr>
            <p:ph type="sldNum" sz="quarter" idx="12"/>
          </p:nvPr>
        </p:nvSpPr>
        <p:spPr/>
        <p:txBody>
          <a:bodyPr/>
          <a:lstStyle/>
          <a:p>
            <a:fld id="{B19B0651-EE4F-4900-A07F-96A6BFA9D0F0}" type="slidenum">
              <a:rPr lang="ru-RU" smtClean="0"/>
              <a:pPr/>
              <a:t>24</a:t>
            </a:fld>
            <a:endParaRPr lang="ru-RU" dirty="0"/>
          </a:p>
        </p:txBody>
      </p:sp>
      <p:sp>
        <p:nvSpPr>
          <p:cNvPr id="4" name="Объект 3">
            <a:extLst>
              <a:ext uri="{FF2B5EF4-FFF2-40B4-BE49-F238E27FC236}">
                <a16:creationId xmlns:a16="http://schemas.microsoft.com/office/drawing/2014/main" id="{C3775423-D3A4-2C2F-4CE5-C4DC5E277C55}"/>
              </a:ext>
            </a:extLst>
          </p:cNvPr>
          <p:cNvSpPr>
            <a:spLocks noGrp="1"/>
          </p:cNvSpPr>
          <p:nvPr>
            <p:ph sz="quarter" idx="1"/>
          </p:nvPr>
        </p:nvSpPr>
        <p:spPr/>
        <p:txBody>
          <a:bodyPr>
            <a:normAutofit fontScale="25000" lnSpcReduction="20000"/>
          </a:bodyPr>
          <a:lstStyle/>
          <a:p>
            <a:r>
              <a:rPr lang="ru-RU" sz="6400" b="1" dirty="0"/>
              <a:t>1. Разработана модель глубокого обучения</a:t>
            </a:r>
          </a:p>
          <a:p>
            <a:pPr lvl="1"/>
            <a:r>
              <a:rPr lang="ru-RU" sz="6400" dirty="0"/>
              <a:t>Модель протестирована на трёх культурах: нут, рис, рапс</a:t>
            </a:r>
          </a:p>
          <a:p>
            <a:r>
              <a:rPr lang="ru-RU" sz="6400" b="1" dirty="0"/>
              <a:t>2. Механизм внимания на уровне SNP доказал свою эффективность</a:t>
            </a:r>
            <a:endParaRPr lang="ru-RU" sz="6400" dirty="0"/>
          </a:p>
          <a:p>
            <a:pPr lvl="1"/>
            <a:r>
              <a:rPr lang="ru-RU" sz="6400" dirty="0"/>
              <a:t>Рапс: +3.6% корреляции (0.854 → 0.890) при -25% параметров</a:t>
            </a:r>
          </a:p>
          <a:p>
            <a:pPr lvl="1"/>
            <a:r>
              <a:rPr lang="ru-RU" sz="6400" dirty="0"/>
              <a:t>Гипотеза подтверждена: внимание эффективно при высокой плотности SNP</a:t>
            </a:r>
          </a:p>
          <a:p>
            <a:r>
              <a:rPr lang="ru-RU" sz="6400" b="1" dirty="0"/>
              <a:t>3. Реконструкционная регуляризация стабилизировала обучение</a:t>
            </a:r>
            <a:endParaRPr lang="ru-RU" sz="6400" dirty="0"/>
          </a:p>
          <a:p>
            <a:pPr lvl="1"/>
            <a:r>
              <a:rPr lang="ru-RU" sz="6400" dirty="0"/>
              <a:t>Плавная сходимость функции потерь (без резких колебаний)</a:t>
            </a:r>
          </a:p>
          <a:p>
            <a:pPr lvl="1"/>
            <a:r>
              <a:rPr lang="ru-RU" sz="6400" dirty="0"/>
              <a:t>Лучшее сохранение дисперсии предсказаний</a:t>
            </a:r>
          </a:p>
          <a:p>
            <a:r>
              <a:rPr lang="ru-RU" sz="6400" b="1" dirty="0"/>
              <a:t>4. Достигнута высокая точность прогнозирования</a:t>
            </a:r>
            <a:endParaRPr lang="ru-RU" sz="6400" dirty="0"/>
          </a:p>
          <a:p>
            <a:pPr lvl="1"/>
            <a:r>
              <a:rPr lang="ru-RU" sz="6400" dirty="0"/>
              <a:t>Нут: TSW (масса семян) r = 0.881 | </a:t>
            </a:r>
            <a:r>
              <a:rPr lang="ru-RU" sz="6400" dirty="0" err="1"/>
              <a:t>Pht</a:t>
            </a:r>
            <a:r>
              <a:rPr lang="ru-RU" sz="6400" dirty="0"/>
              <a:t> (высота) r = 0.773</a:t>
            </a:r>
          </a:p>
          <a:p>
            <a:pPr lvl="1"/>
            <a:r>
              <a:rPr lang="ru-RU" sz="6400" dirty="0"/>
              <a:t>Рис: </a:t>
            </a:r>
            <a:r>
              <a:rPr lang="ru-RU" sz="6400" dirty="0" err="1"/>
              <a:t>Plant</a:t>
            </a:r>
            <a:r>
              <a:rPr lang="ru-RU" sz="6400" dirty="0"/>
              <a:t> </a:t>
            </a:r>
            <a:r>
              <a:rPr lang="ru-RU" sz="6400" dirty="0" err="1"/>
              <a:t>height</a:t>
            </a:r>
            <a:r>
              <a:rPr lang="ru-RU" sz="6400" dirty="0"/>
              <a:t> r = 0.830 | </a:t>
            </a:r>
            <a:r>
              <a:rPr lang="ru-RU" sz="6400" dirty="0" err="1"/>
              <a:t>Tiller</a:t>
            </a:r>
            <a:r>
              <a:rPr lang="ru-RU" sz="6400" dirty="0"/>
              <a:t> </a:t>
            </a:r>
            <a:r>
              <a:rPr lang="ru-RU" sz="6400" dirty="0" err="1"/>
              <a:t>number</a:t>
            </a:r>
            <a:r>
              <a:rPr lang="ru-RU" sz="6400" dirty="0"/>
              <a:t> r = 0.516</a:t>
            </a:r>
          </a:p>
          <a:p>
            <a:pPr lvl="1"/>
            <a:r>
              <a:rPr lang="ru-RU" sz="6400" dirty="0"/>
              <a:t>Рапс: </a:t>
            </a:r>
            <a:r>
              <a:rPr lang="ru-RU" sz="6400" dirty="0" err="1"/>
              <a:t>FloweringTime</a:t>
            </a:r>
            <a:r>
              <a:rPr lang="ru-RU" sz="6400" dirty="0"/>
              <a:t> r = 0.890 | </a:t>
            </a:r>
            <a:r>
              <a:rPr lang="ru-RU" sz="6400" dirty="0" err="1"/>
              <a:t>GlucosinolateContent</a:t>
            </a:r>
            <a:r>
              <a:rPr lang="ru-RU" sz="6400" dirty="0"/>
              <a:t> r = 0.772</a:t>
            </a:r>
          </a:p>
          <a:p>
            <a:endParaRPr lang="ru-RU" dirty="0"/>
          </a:p>
        </p:txBody>
      </p:sp>
      <p:sp>
        <p:nvSpPr>
          <p:cNvPr id="5" name="Объект 4">
            <a:extLst>
              <a:ext uri="{FF2B5EF4-FFF2-40B4-BE49-F238E27FC236}">
                <a16:creationId xmlns:a16="http://schemas.microsoft.com/office/drawing/2014/main" id="{9F7EB733-2BF0-1E06-BFAE-0B935F821A1D}"/>
              </a:ext>
            </a:extLst>
          </p:cNvPr>
          <p:cNvSpPr>
            <a:spLocks noGrp="1"/>
          </p:cNvSpPr>
          <p:nvPr>
            <p:ph sz="quarter" idx="2"/>
          </p:nvPr>
        </p:nvSpPr>
        <p:spPr>
          <a:xfrm>
            <a:off x="6096000" y="1216152"/>
            <a:ext cx="5760639" cy="5140198"/>
          </a:xfrm>
        </p:spPr>
        <p:txBody>
          <a:bodyPr>
            <a:normAutofit fontScale="25000" lnSpcReduction="20000"/>
          </a:bodyPr>
          <a:lstStyle/>
          <a:p>
            <a:r>
              <a:rPr lang="ru-RU" sz="6400" b="1" dirty="0"/>
              <a:t>5. Аугментация </a:t>
            </a:r>
            <a:r>
              <a:rPr lang="ru-RU" sz="6400" b="1" dirty="0" err="1"/>
              <a:t>MixUp</a:t>
            </a:r>
            <a:r>
              <a:rPr lang="ru-RU" sz="6400" b="1" dirty="0"/>
              <a:t> улучшила точность для сложных признаков</a:t>
            </a:r>
            <a:endParaRPr lang="ru-RU" sz="6400" dirty="0"/>
          </a:p>
          <a:p>
            <a:pPr lvl="1"/>
            <a:r>
              <a:rPr lang="ru-RU" sz="6400" dirty="0" err="1"/>
              <a:t>GlucosinolateContent</a:t>
            </a:r>
            <a:r>
              <a:rPr lang="ru-RU" sz="6400" dirty="0"/>
              <a:t> (рапс): MAPE ↓ на 9% (44.5% → 35.5%) при 189 обучающих образцах</a:t>
            </a:r>
          </a:p>
          <a:p>
            <a:r>
              <a:rPr lang="ru-RU" sz="6400" b="1" dirty="0"/>
              <a:t>6. Равномерные стратегии отбора генов эффективнее взвешенной</a:t>
            </a:r>
            <a:endParaRPr lang="ru-RU" sz="6400" dirty="0"/>
          </a:p>
          <a:p>
            <a:pPr lvl="1"/>
            <a:r>
              <a:rPr lang="ru-RU" sz="6400" dirty="0"/>
              <a:t>+6.5% корреляции для времени цветения рапса (0.798 → 0.850)</a:t>
            </a:r>
          </a:p>
          <a:p>
            <a:pPr lvl="1"/>
            <a:r>
              <a:rPr lang="ru-RU" sz="6400" dirty="0"/>
              <a:t>На 26% меньше SNP (85K → 63K)</a:t>
            </a:r>
          </a:p>
          <a:p>
            <a:r>
              <a:rPr lang="ru-RU" sz="6400" b="1" dirty="0"/>
              <a:t>7. Интерпретация модели через значения Шепли</a:t>
            </a:r>
            <a:endParaRPr lang="ru-RU" sz="6400" dirty="0"/>
          </a:p>
          <a:p>
            <a:r>
              <a:rPr lang="ru-RU" sz="6400" dirty="0"/>
              <a:t>Выявлены гены-«хабы»:</a:t>
            </a:r>
          </a:p>
          <a:p>
            <a:pPr lvl="1"/>
            <a:r>
              <a:rPr lang="ru-RU" sz="6400" dirty="0"/>
              <a:t>Рис: Os01g0125800 (AIP1, перестройка цитоскелета)</a:t>
            </a:r>
          </a:p>
          <a:p>
            <a:pPr lvl="1"/>
            <a:r>
              <a:rPr lang="ru-RU" sz="6400" dirty="0"/>
              <a:t>Рапс: gene-LOC106381653 (функция требует валидации)</a:t>
            </a:r>
            <a:endParaRPr lang="en-US" sz="6400" dirty="0"/>
          </a:p>
          <a:p>
            <a:r>
              <a:rPr lang="ru-RU" sz="6700" b="1" dirty="0"/>
              <a:t>8. Технические характеристики вычислительной машины</a:t>
            </a:r>
            <a:endParaRPr lang="ru-RU" sz="6700" dirty="0"/>
          </a:p>
          <a:p>
            <a:pPr lvl="1"/>
            <a:r>
              <a:rPr lang="ru-RU" sz="6400" dirty="0"/>
              <a:t>CPU: AMD </a:t>
            </a:r>
            <a:r>
              <a:rPr lang="ru-RU" sz="6400" dirty="0" err="1"/>
              <a:t>Ryzen</a:t>
            </a:r>
            <a:r>
              <a:rPr lang="ru-RU" sz="6400" dirty="0"/>
              <a:t> 7 5800</a:t>
            </a:r>
            <a:r>
              <a:rPr lang="en-US" sz="6400" dirty="0"/>
              <a:t>H</a:t>
            </a:r>
            <a:endParaRPr lang="ru-RU" sz="6400" dirty="0"/>
          </a:p>
          <a:p>
            <a:pPr lvl="1"/>
            <a:r>
              <a:rPr lang="ru-RU" sz="6400" dirty="0"/>
              <a:t>GPU: NVIDIA RTX 30</a:t>
            </a:r>
            <a:r>
              <a:rPr lang="en-US" sz="6400" dirty="0"/>
              <a:t>5</a:t>
            </a:r>
            <a:r>
              <a:rPr lang="ru-RU" sz="6400" dirty="0"/>
              <a:t>0 </a:t>
            </a:r>
            <a:r>
              <a:rPr lang="en-US" sz="6400" dirty="0"/>
              <a:t>TI Laptop 4 GB</a:t>
            </a:r>
            <a:endParaRPr lang="ru-RU" sz="6400" dirty="0"/>
          </a:p>
          <a:p>
            <a:pPr lvl="1"/>
            <a:r>
              <a:rPr lang="ru-RU" sz="6400" dirty="0"/>
              <a:t>RAM: </a:t>
            </a:r>
            <a:r>
              <a:rPr lang="en-US" sz="6400" dirty="0"/>
              <a:t>16</a:t>
            </a:r>
            <a:r>
              <a:rPr lang="ru-RU" sz="6400" dirty="0"/>
              <a:t> GB DDR4</a:t>
            </a:r>
          </a:p>
          <a:p>
            <a:pPr lvl="1"/>
            <a:r>
              <a:rPr lang="ru-RU" sz="6400" dirty="0"/>
              <a:t>Время обучения (рапс, 3000 генов): ~</a:t>
            </a:r>
            <a:r>
              <a:rPr lang="en-US" sz="6400" dirty="0"/>
              <a:t>4</a:t>
            </a:r>
            <a:r>
              <a:rPr lang="ru-RU" sz="6400" dirty="0"/>
              <a:t>–</a:t>
            </a:r>
            <a:r>
              <a:rPr lang="en-US" sz="6400" dirty="0"/>
              <a:t>5</a:t>
            </a:r>
            <a:r>
              <a:rPr lang="ru-RU" sz="6400" dirty="0"/>
              <a:t> часов</a:t>
            </a:r>
          </a:p>
          <a:p>
            <a:pPr lvl="1"/>
            <a:endParaRPr lang="ru-RU" sz="6400" dirty="0"/>
          </a:p>
        </p:txBody>
      </p:sp>
    </p:spTree>
    <p:extLst>
      <p:ext uri="{BB962C8B-B14F-4D97-AF65-F5344CB8AC3E}">
        <p14:creationId xmlns:p14="http://schemas.microsoft.com/office/powerpoint/2010/main" val="39496729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5F1E77F-8887-4551-5D9A-5CCF5FDFC3D3}"/>
              </a:ext>
            </a:extLst>
          </p:cNvPr>
          <p:cNvSpPr>
            <a:spLocks noGrp="1"/>
          </p:cNvSpPr>
          <p:nvPr>
            <p:ph type="title"/>
          </p:nvPr>
        </p:nvSpPr>
        <p:spPr/>
        <p:txBody>
          <a:bodyPr>
            <a:normAutofit fontScale="90000"/>
          </a:bodyPr>
          <a:lstStyle/>
          <a:p>
            <a:r>
              <a:rPr lang="ru-RU" sz="3600" dirty="0"/>
              <a:t>Гистограммы распределения фенотипических признаков рапса</a:t>
            </a:r>
            <a:endParaRPr lang="ru-RU" dirty="0"/>
          </a:p>
        </p:txBody>
      </p:sp>
      <p:sp>
        <p:nvSpPr>
          <p:cNvPr id="3" name="Номер слайда 2">
            <a:extLst>
              <a:ext uri="{FF2B5EF4-FFF2-40B4-BE49-F238E27FC236}">
                <a16:creationId xmlns:a16="http://schemas.microsoft.com/office/drawing/2014/main" id="{64BF93AB-895E-BC5E-339C-971B95590D82}"/>
              </a:ext>
            </a:extLst>
          </p:cNvPr>
          <p:cNvSpPr>
            <a:spLocks noGrp="1"/>
          </p:cNvSpPr>
          <p:nvPr>
            <p:ph type="sldNum" sz="quarter" idx="12"/>
          </p:nvPr>
        </p:nvSpPr>
        <p:spPr/>
        <p:txBody>
          <a:bodyPr/>
          <a:lstStyle/>
          <a:p>
            <a:fld id="{B19B0651-EE4F-4900-A07F-96A6BFA9D0F0}" type="slidenum">
              <a:rPr lang="ru-RU" smtClean="0"/>
              <a:pPr/>
              <a:t>25</a:t>
            </a:fld>
            <a:endParaRPr lang="ru-RU" dirty="0"/>
          </a:p>
        </p:txBody>
      </p:sp>
      <p:pic>
        <p:nvPicPr>
          <p:cNvPr id="8" name="Рисунок 7">
            <a:extLst>
              <a:ext uri="{FF2B5EF4-FFF2-40B4-BE49-F238E27FC236}">
                <a16:creationId xmlns:a16="http://schemas.microsoft.com/office/drawing/2014/main" id="{4BFE4FBD-5978-EDF6-FE9F-6E84159DE41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9600" y="2099133"/>
            <a:ext cx="5554204" cy="3301083"/>
          </a:xfrm>
          <a:prstGeom prst="rect">
            <a:avLst/>
          </a:prstGeom>
        </p:spPr>
      </p:pic>
      <p:pic>
        <p:nvPicPr>
          <p:cNvPr id="10" name="Рисунок 9">
            <a:extLst>
              <a:ext uri="{FF2B5EF4-FFF2-40B4-BE49-F238E27FC236}">
                <a16:creationId xmlns:a16="http://schemas.microsoft.com/office/drawing/2014/main" id="{D82F5D27-DE98-93C7-C6D8-CE09A5AD836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40016" y="2099133"/>
            <a:ext cx="5554204" cy="3301083"/>
          </a:xfrm>
          <a:prstGeom prst="rect">
            <a:avLst/>
          </a:prstGeom>
        </p:spPr>
      </p:pic>
    </p:spTree>
    <p:extLst>
      <p:ext uri="{BB962C8B-B14F-4D97-AF65-F5344CB8AC3E}">
        <p14:creationId xmlns:p14="http://schemas.microsoft.com/office/powerpoint/2010/main" val="23095718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904E99-9401-8529-E79B-721CC00A6BB5}"/>
              </a:ext>
            </a:extLst>
          </p:cNvPr>
          <p:cNvSpPr>
            <a:spLocks noGrp="1"/>
          </p:cNvSpPr>
          <p:nvPr>
            <p:ph type="title"/>
          </p:nvPr>
        </p:nvSpPr>
        <p:spPr/>
        <p:txBody>
          <a:bodyPr>
            <a:normAutofit/>
          </a:bodyPr>
          <a:lstStyle/>
          <a:p>
            <a:r>
              <a:rPr lang="ru-RU" b="1" dirty="0" err="1"/>
              <a:t>HuberLoss</a:t>
            </a:r>
            <a:r>
              <a:rPr lang="ru-RU" b="1" dirty="0"/>
              <a:t> (Smooth L1 </a:t>
            </a:r>
            <a:r>
              <a:rPr lang="ru-RU" b="1" dirty="0" err="1"/>
              <a:t>Loss</a:t>
            </a:r>
            <a:r>
              <a:rPr lang="ru-RU" b="1" dirty="0"/>
              <a:t>)</a:t>
            </a:r>
            <a:endParaRPr lang="ru-RU" dirty="0"/>
          </a:p>
        </p:txBody>
      </p:sp>
      <p:sp>
        <p:nvSpPr>
          <p:cNvPr id="3" name="Номер слайда 2">
            <a:extLst>
              <a:ext uri="{FF2B5EF4-FFF2-40B4-BE49-F238E27FC236}">
                <a16:creationId xmlns:a16="http://schemas.microsoft.com/office/drawing/2014/main" id="{D08874B5-5FB4-212E-6FF2-F8EFF11B7B6B}"/>
              </a:ext>
            </a:extLst>
          </p:cNvPr>
          <p:cNvSpPr>
            <a:spLocks noGrp="1"/>
          </p:cNvSpPr>
          <p:nvPr>
            <p:ph type="sldNum" sz="quarter" idx="12"/>
          </p:nvPr>
        </p:nvSpPr>
        <p:spPr/>
        <p:txBody>
          <a:bodyPr/>
          <a:lstStyle/>
          <a:p>
            <a:fld id="{B19B0651-EE4F-4900-A07F-96A6BFA9D0F0}" type="slidenum">
              <a:rPr lang="ru-RU" smtClean="0"/>
              <a:pPr/>
              <a:t>26</a:t>
            </a:fld>
            <a:endParaRPr lang="ru-RU" dirty="0"/>
          </a:p>
        </p:txBody>
      </p:sp>
      <mc:AlternateContent xmlns:mc="http://schemas.openxmlformats.org/markup-compatibility/2006" xmlns:a14="http://schemas.microsoft.com/office/drawing/2010/main">
        <mc:Choice Requires="a14">
          <p:sp>
            <p:nvSpPr>
              <p:cNvPr id="4" name="Объект 3">
                <a:extLst>
                  <a:ext uri="{FF2B5EF4-FFF2-40B4-BE49-F238E27FC236}">
                    <a16:creationId xmlns:a16="http://schemas.microsoft.com/office/drawing/2014/main" id="{FDCD359F-38EF-7D11-4A0A-7B0E7D369BD9}"/>
                  </a:ext>
                </a:extLst>
              </p:cNvPr>
              <p:cNvSpPr>
                <a:spLocks noGrp="1"/>
              </p:cNvSpPr>
              <p:nvPr>
                <p:ph sz="quarter" idx="1"/>
              </p:nvPr>
            </p:nvSpPr>
            <p:spPr>
              <a:xfrm>
                <a:off x="609600" y="1219200"/>
                <a:ext cx="5630416" cy="4937760"/>
              </a:xfrm>
            </p:spPr>
            <p:txBody>
              <a:bodyPr>
                <a:normAutofit/>
              </a:bodyPr>
              <a:lstStyle/>
              <a:p>
                <a:r>
                  <a:rPr lang="ru-RU" sz="2000" b="1" dirty="0" err="1"/>
                  <a:t>HuberLoss</a:t>
                </a:r>
                <a:r>
                  <a:rPr lang="ru-RU" sz="2000" dirty="0"/>
                  <a:t> — это комбинированная функция потерь, которая объединяет преимущества </a:t>
                </a:r>
                <a:r>
                  <a:rPr lang="ru-RU" sz="2000" b="1" dirty="0"/>
                  <a:t>MSE</a:t>
                </a:r>
                <a:r>
                  <a:rPr lang="ru-RU" sz="2000" dirty="0"/>
                  <a:t> (среднеквадратичной ошибки) и </a:t>
                </a:r>
                <a:r>
                  <a:rPr lang="ru-RU" sz="2000" b="1" dirty="0"/>
                  <a:t>MAE</a:t>
                </a:r>
                <a:r>
                  <a:rPr lang="ru-RU" sz="2000" dirty="0"/>
                  <a:t> (средней абсолютной ошибки).</a:t>
                </a:r>
              </a:p>
              <a:p>
                <a:r>
                  <a:rPr lang="ru-RU" sz="2000" b="1" dirty="0"/>
                  <a:t>Формула</a:t>
                </a:r>
              </a:p>
              <a:p>
                <a14:m>
                  <m:oMath xmlns:m="http://schemas.openxmlformats.org/officeDocument/2006/math">
                    <m:sSub>
                      <m:sSubPr>
                        <m:ctrlPr>
                          <a:rPr lang="ru-RU" sz="2000" i="1">
                            <a:latin typeface="Cambria Math" panose="02040503050406030204" pitchFamily="18" charset="0"/>
                          </a:rPr>
                        </m:ctrlPr>
                      </m:sSubPr>
                      <m:e>
                        <m:r>
                          <a:rPr lang="ru-RU" sz="2000" i="1">
                            <a:latin typeface="Cambria Math" panose="02040503050406030204" pitchFamily="18" charset="0"/>
                          </a:rPr>
                          <m:t>𝐿</m:t>
                        </m:r>
                      </m:e>
                      <m:sub>
                        <m:r>
                          <a:rPr lang="ru-RU" sz="2000" i="1">
                            <a:latin typeface="Cambria Math" panose="02040503050406030204" pitchFamily="18" charset="0"/>
                          </a:rPr>
                          <m:t>𝛿</m:t>
                        </m:r>
                      </m:sub>
                    </m:sSub>
                    <m:d>
                      <m:dPr>
                        <m:sepChr m:val=","/>
                        <m:ctrlPr>
                          <a:rPr lang="ru-RU" sz="2000" i="1">
                            <a:latin typeface="Cambria Math" panose="02040503050406030204" pitchFamily="18" charset="0"/>
                          </a:rPr>
                        </m:ctrlPr>
                      </m:dPr>
                      <m:e>
                        <m:r>
                          <a:rPr lang="ru-RU" sz="2000" i="1">
                            <a:latin typeface="Cambria Math" panose="02040503050406030204" pitchFamily="18" charset="0"/>
                          </a:rPr>
                          <m:t>𝑦</m:t>
                        </m:r>
                      </m:e>
                      <m:e>
                        <m:acc>
                          <m:accPr>
                            <m:chr m:val="̂"/>
                            <m:ctrlPr>
                              <a:rPr lang="ru-RU" sz="2000" i="1">
                                <a:latin typeface="Cambria Math" panose="02040503050406030204" pitchFamily="18" charset="0"/>
                              </a:rPr>
                            </m:ctrlPr>
                          </m:accPr>
                          <m:e>
                            <m:r>
                              <a:rPr lang="ru-RU" sz="2000" i="1">
                                <a:latin typeface="Cambria Math" panose="02040503050406030204" pitchFamily="18" charset="0"/>
                              </a:rPr>
                              <m:t>𝑦</m:t>
                            </m:r>
                          </m:e>
                        </m:acc>
                      </m:e>
                    </m:d>
                    <m:r>
                      <a:rPr lang="ru-RU" sz="2000">
                        <a:latin typeface="Cambria Math" panose="02040503050406030204" pitchFamily="18" charset="0"/>
                      </a:rPr>
                      <m:t>=</m:t>
                    </m:r>
                    <m:d>
                      <m:dPr>
                        <m:begChr m:val="{"/>
                        <m:endChr m:val=""/>
                        <m:ctrlPr>
                          <a:rPr lang="ru-RU" sz="2000" i="1">
                            <a:latin typeface="Cambria Math" panose="02040503050406030204" pitchFamily="18" charset="0"/>
                          </a:rPr>
                        </m:ctrlPr>
                      </m:dPr>
                      <m:e>
                        <m:m>
                          <m:mPr>
                            <m:plcHide m:val="on"/>
                            <m:mcs>
                              <m:mc>
                                <m:mcPr>
                                  <m:count m:val="2"/>
                                  <m:mcJc m:val="center"/>
                                </m:mcPr>
                              </m:mc>
                            </m:mcs>
                            <m:ctrlPr>
                              <a:rPr lang="ru-RU" sz="2000" i="1">
                                <a:latin typeface="Cambria Math" panose="02040503050406030204" pitchFamily="18" charset="0"/>
                              </a:rPr>
                            </m:ctrlPr>
                          </m:mPr>
                          <m:mr>
                            <m:e>
                              <m:f>
                                <m:fPr>
                                  <m:ctrlPr>
                                    <a:rPr lang="ru-RU" sz="2000" i="1">
                                      <a:latin typeface="Cambria Math" panose="02040503050406030204" pitchFamily="18" charset="0"/>
                                    </a:rPr>
                                  </m:ctrlPr>
                                </m:fPr>
                                <m:num>
                                  <m:r>
                                    <a:rPr lang="ru-RU" sz="2000">
                                      <a:latin typeface="Cambria Math" panose="02040503050406030204" pitchFamily="18" charset="0"/>
                                    </a:rPr>
                                    <m:t>1</m:t>
                                  </m:r>
                                </m:num>
                                <m:den>
                                  <m:r>
                                    <a:rPr lang="ru-RU" sz="2000">
                                      <a:latin typeface="Cambria Math" panose="02040503050406030204" pitchFamily="18" charset="0"/>
                                    </a:rPr>
                                    <m:t>2</m:t>
                                  </m:r>
                                </m:den>
                              </m:f>
                              <m:sSup>
                                <m:sSupPr>
                                  <m:ctrlPr>
                                    <a:rPr lang="ru-RU" sz="2000" i="1">
                                      <a:latin typeface="Cambria Math" panose="02040503050406030204" pitchFamily="18" charset="0"/>
                                    </a:rPr>
                                  </m:ctrlPr>
                                </m:sSupPr>
                                <m:e>
                                  <m:d>
                                    <m:dPr>
                                      <m:ctrlPr>
                                        <a:rPr lang="ru-RU" sz="2000" i="1">
                                          <a:latin typeface="Cambria Math" panose="02040503050406030204" pitchFamily="18" charset="0"/>
                                        </a:rPr>
                                      </m:ctrlPr>
                                    </m:dPr>
                                    <m:e>
                                      <m:r>
                                        <a:rPr lang="ru-RU" sz="2000" i="1">
                                          <a:latin typeface="Cambria Math" panose="02040503050406030204" pitchFamily="18" charset="0"/>
                                        </a:rPr>
                                        <m:t>𝑦</m:t>
                                      </m:r>
                                      <m:r>
                                        <a:rPr lang="ru-RU" sz="2000">
                                          <a:latin typeface="Cambria Math" panose="02040503050406030204" pitchFamily="18" charset="0"/>
                                        </a:rPr>
                                        <m:t>−</m:t>
                                      </m:r>
                                      <m:acc>
                                        <m:accPr>
                                          <m:chr m:val="̂"/>
                                          <m:ctrlPr>
                                            <a:rPr lang="ru-RU" sz="2000" i="1">
                                              <a:latin typeface="Cambria Math" panose="02040503050406030204" pitchFamily="18" charset="0"/>
                                            </a:rPr>
                                          </m:ctrlPr>
                                        </m:accPr>
                                        <m:e>
                                          <m:r>
                                            <a:rPr lang="ru-RU" sz="2000" i="1">
                                              <a:latin typeface="Cambria Math" panose="02040503050406030204" pitchFamily="18" charset="0"/>
                                            </a:rPr>
                                            <m:t>𝑦</m:t>
                                          </m:r>
                                        </m:e>
                                      </m:acc>
                                    </m:e>
                                  </m:d>
                                </m:e>
                                <m:sup>
                                  <m:r>
                                    <a:rPr lang="ru-RU" sz="2000">
                                      <a:latin typeface="Cambria Math" panose="02040503050406030204" pitchFamily="18" charset="0"/>
                                    </a:rPr>
                                    <m:t>2</m:t>
                                  </m:r>
                                </m:sup>
                              </m:sSup>
                              <m:r>
                                <a:rPr lang="ru-RU" sz="2000">
                                  <a:latin typeface="Cambria Math" panose="02040503050406030204" pitchFamily="18" charset="0"/>
                                </a:rPr>
                                <m:t>,</m:t>
                              </m:r>
                            </m:e>
                            <m:e>
                              <m:r>
                                <a:rPr lang="ru-RU" sz="2000">
                                  <a:latin typeface="Cambria Math" panose="02040503050406030204" pitchFamily="18" charset="0"/>
                                </a:rPr>
                                <m:t>∣</m:t>
                              </m:r>
                              <m:r>
                                <a:rPr lang="ru-RU" sz="2000" i="1">
                                  <a:latin typeface="Cambria Math" panose="02040503050406030204" pitchFamily="18" charset="0"/>
                                </a:rPr>
                                <m:t>𝑦</m:t>
                              </m:r>
                              <m:r>
                                <a:rPr lang="ru-RU" sz="2000">
                                  <a:latin typeface="Cambria Math" panose="02040503050406030204" pitchFamily="18" charset="0"/>
                                </a:rPr>
                                <m:t>−</m:t>
                              </m:r>
                              <m:acc>
                                <m:accPr>
                                  <m:chr m:val="̂"/>
                                  <m:ctrlPr>
                                    <a:rPr lang="ru-RU" sz="2000" i="1">
                                      <a:latin typeface="Cambria Math" panose="02040503050406030204" pitchFamily="18" charset="0"/>
                                    </a:rPr>
                                  </m:ctrlPr>
                                </m:accPr>
                                <m:e>
                                  <m:r>
                                    <a:rPr lang="ru-RU" sz="2000" i="1">
                                      <a:latin typeface="Cambria Math" panose="02040503050406030204" pitchFamily="18" charset="0"/>
                                    </a:rPr>
                                    <m:t>𝑦</m:t>
                                  </m:r>
                                </m:e>
                              </m:acc>
                              <m:r>
                                <a:rPr lang="ru-RU" sz="2000">
                                  <a:latin typeface="Cambria Math" panose="02040503050406030204" pitchFamily="18" charset="0"/>
                                </a:rPr>
                                <m:t>∣&lt;</m:t>
                              </m:r>
                              <m:r>
                                <a:rPr lang="ru-RU" sz="2000" i="1">
                                  <a:latin typeface="Cambria Math" panose="02040503050406030204" pitchFamily="18" charset="0"/>
                                </a:rPr>
                                <m:t>𝛿</m:t>
                              </m:r>
                            </m:e>
                          </m:mr>
                          <m:mr>
                            <m:e>
                              <m:r>
                                <a:rPr lang="ru-RU" sz="2000" i="1">
                                  <a:latin typeface="Cambria Math" panose="02040503050406030204" pitchFamily="18" charset="0"/>
                                </a:rPr>
                                <m:t>𝛿</m:t>
                              </m:r>
                              <m:r>
                                <a:rPr lang="ru-RU" sz="2000">
                                  <a:latin typeface="Cambria Math" panose="02040503050406030204" pitchFamily="18" charset="0"/>
                                </a:rPr>
                                <m:t>⋅∣</m:t>
                              </m:r>
                              <m:r>
                                <a:rPr lang="ru-RU" sz="2000" i="1">
                                  <a:latin typeface="Cambria Math" panose="02040503050406030204" pitchFamily="18" charset="0"/>
                                </a:rPr>
                                <m:t>𝑦</m:t>
                              </m:r>
                              <m:r>
                                <a:rPr lang="ru-RU" sz="2000">
                                  <a:latin typeface="Cambria Math" panose="02040503050406030204" pitchFamily="18" charset="0"/>
                                </a:rPr>
                                <m:t>−</m:t>
                              </m:r>
                              <m:acc>
                                <m:accPr>
                                  <m:chr m:val="̂"/>
                                  <m:ctrlPr>
                                    <a:rPr lang="ru-RU" sz="2000" i="1">
                                      <a:latin typeface="Cambria Math" panose="02040503050406030204" pitchFamily="18" charset="0"/>
                                    </a:rPr>
                                  </m:ctrlPr>
                                </m:accPr>
                                <m:e>
                                  <m:r>
                                    <a:rPr lang="ru-RU" sz="2000" i="1">
                                      <a:latin typeface="Cambria Math" panose="02040503050406030204" pitchFamily="18" charset="0"/>
                                    </a:rPr>
                                    <m:t>𝑦</m:t>
                                  </m:r>
                                </m:e>
                              </m:acc>
                              <m:r>
                                <a:rPr lang="ru-RU" sz="2000">
                                  <a:latin typeface="Cambria Math" panose="02040503050406030204" pitchFamily="18" charset="0"/>
                                </a:rPr>
                                <m:t>∣−</m:t>
                              </m:r>
                              <m:f>
                                <m:fPr>
                                  <m:ctrlPr>
                                    <a:rPr lang="ru-RU" sz="2000" i="1">
                                      <a:latin typeface="Cambria Math" panose="02040503050406030204" pitchFamily="18" charset="0"/>
                                    </a:rPr>
                                  </m:ctrlPr>
                                </m:fPr>
                                <m:num>
                                  <m:r>
                                    <a:rPr lang="ru-RU" sz="2000">
                                      <a:latin typeface="Cambria Math" panose="02040503050406030204" pitchFamily="18" charset="0"/>
                                    </a:rPr>
                                    <m:t>1</m:t>
                                  </m:r>
                                </m:num>
                                <m:den>
                                  <m:r>
                                    <a:rPr lang="ru-RU" sz="2000">
                                      <a:latin typeface="Cambria Math" panose="02040503050406030204" pitchFamily="18" charset="0"/>
                                    </a:rPr>
                                    <m:t>2</m:t>
                                  </m:r>
                                </m:den>
                              </m:f>
                              <m:sSup>
                                <m:sSupPr>
                                  <m:ctrlPr>
                                    <a:rPr lang="ru-RU" sz="2000" i="1">
                                      <a:latin typeface="Cambria Math" panose="02040503050406030204" pitchFamily="18" charset="0"/>
                                    </a:rPr>
                                  </m:ctrlPr>
                                </m:sSupPr>
                                <m:e>
                                  <m:r>
                                    <a:rPr lang="ru-RU" sz="2000" i="1">
                                      <a:latin typeface="Cambria Math" panose="02040503050406030204" pitchFamily="18" charset="0"/>
                                    </a:rPr>
                                    <m:t>𝛿</m:t>
                                  </m:r>
                                </m:e>
                                <m:sup>
                                  <m:r>
                                    <a:rPr lang="ru-RU" sz="2000">
                                      <a:latin typeface="Cambria Math" panose="02040503050406030204" pitchFamily="18" charset="0"/>
                                    </a:rPr>
                                    <m:t>2</m:t>
                                  </m:r>
                                </m:sup>
                              </m:sSup>
                              <m:r>
                                <a:rPr lang="ru-RU" sz="2000">
                                  <a:latin typeface="Cambria Math" panose="02040503050406030204" pitchFamily="18" charset="0"/>
                                </a:rPr>
                                <m:t>,</m:t>
                              </m:r>
                            </m:e>
                            <m:e>
                              <m:r>
                                <m:rPr>
                                  <m:nor/>
                                </m:rPr>
                                <a:rPr lang="ru-RU" sz="2000" i="1"/>
                                <m:t>иначе</m:t>
                              </m:r>
                            </m:e>
                          </m:mr>
                        </m:m>
                      </m:e>
                    </m:d>
                  </m:oMath>
                </a14:m>
                <a:endParaRPr lang="ru-RU" sz="2000" b="0" dirty="0"/>
              </a:p>
              <a:p>
                <a:r>
                  <a:rPr lang="ru-RU" sz="2000" dirty="0"/>
                  <a:t>где </a:t>
                </a:r>
                <a14:m>
                  <m:oMath xmlns:m="http://schemas.openxmlformats.org/officeDocument/2006/math">
                    <m:r>
                      <a:rPr lang="ru-RU" sz="2000" i="1">
                        <a:latin typeface="Cambria Math" panose="02040503050406030204" pitchFamily="18" charset="0"/>
                      </a:rPr>
                      <m:t>𝛿</m:t>
                    </m:r>
                  </m:oMath>
                </a14:m>
                <a:r>
                  <a:rPr lang="ru-RU" sz="2000" dirty="0"/>
                  <a:t> — пороговый параметр (в вашей работе </a:t>
                </a:r>
                <a14:m>
                  <m:oMath xmlns:m="http://schemas.openxmlformats.org/officeDocument/2006/math">
                    <m:r>
                      <a:rPr lang="ru-RU" sz="2000" i="1">
                        <a:latin typeface="Cambria Math" panose="02040503050406030204" pitchFamily="18" charset="0"/>
                      </a:rPr>
                      <m:t>𝛿</m:t>
                    </m:r>
                    <m:r>
                      <a:rPr lang="ru-RU" sz="2000">
                        <a:latin typeface="Cambria Math" panose="02040503050406030204" pitchFamily="18" charset="0"/>
                      </a:rPr>
                      <m:t>=1.0</m:t>
                    </m:r>
                  </m:oMath>
                </a14:m>
                <a:r>
                  <a:rPr lang="ru-RU" sz="2000" dirty="0"/>
                  <a:t>)</a:t>
                </a:r>
              </a:p>
              <a:p>
                <a:endParaRPr lang="ru-RU" dirty="0"/>
              </a:p>
            </p:txBody>
          </p:sp>
        </mc:Choice>
        <mc:Fallback xmlns="">
          <p:sp>
            <p:nvSpPr>
              <p:cNvPr id="4" name="Объект 3">
                <a:extLst>
                  <a:ext uri="{FF2B5EF4-FFF2-40B4-BE49-F238E27FC236}">
                    <a16:creationId xmlns:a16="http://schemas.microsoft.com/office/drawing/2014/main" id="{FDCD359F-38EF-7D11-4A0A-7B0E7D369BD9}"/>
                  </a:ext>
                </a:extLst>
              </p:cNvPr>
              <p:cNvSpPr>
                <a:spLocks noGrp="1" noRot="1" noChangeAspect="1" noMove="1" noResize="1" noEditPoints="1" noAdjustHandles="1" noChangeArrowheads="1" noChangeShapeType="1" noTextEdit="1"/>
              </p:cNvSpPr>
              <p:nvPr>
                <p:ph sz="quarter" idx="1"/>
              </p:nvPr>
            </p:nvSpPr>
            <p:spPr>
              <a:xfrm>
                <a:off x="609600" y="1219200"/>
                <a:ext cx="5630416" cy="4937760"/>
              </a:xfrm>
              <a:blipFill>
                <a:blip r:embed="rId2"/>
                <a:stretch>
                  <a:fillRect l="-433" t="-617"/>
                </a:stretch>
              </a:blipFill>
            </p:spPr>
            <p:txBody>
              <a:bodyPr/>
              <a:lstStyle/>
              <a:p>
                <a:r>
                  <a:rPr lang="ru-RU">
                    <a:noFill/>
                  </a:rPr>
                  <a:t> </a:t>
                </a:r>
              </a:p>
            </p:txBody>
          </p:sp>
        </mc:Fallback>
      </mc:AlternateContent>
      <p:pic>
        <p:nvPicPr>
          <p:cNvPr id="6" name="Рисунок 5">
            <a:extLst>
              <a:ext uri="{FF2B5EF4-FFF2-40B4-BE49-F238E27FC236}">
                <a16:creationId xmlns:a16="http://schemas.microsoft.com/office/drawing/2014/main" id="{C360E10B-8B46-7C52-D722-A68B043F6B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28048" y="1844824"/>
            <a:ext cx="4889510" cy="3384376"/>
          </a:xfrm>
          <a:prstGeom prst="rect">
            <a:avLst/>
          </a:prstGeom>
        </p:spPr>
      </p:pic>
    </p:spTree>
    <p:extLst>
      <p:ext uri="{BB962C8B-B14F-4D97-AF65-F5344CB8AC3E}">
        <p14:creationId xmlns:p14="http://schemas.microsoft.com/office/powerpoint/2010/main" val="18799983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705A317-7E0F-883A-D895-E0B7EF5E728F}"/>
              </a:ext>
            </a:extLst>
          </p:cNvPr>
          <p:cNvSpPr>
            <a:spLocks noGrp="1"/>
          </p:cNvSpPr>
          <p:nvPr>
            <p:ph type="title"/>
          </p:nvPr>
        </p:nvSpPr>
        <p:spPr/>
        <p:txBody>
          <a:bodyPr/>
          <a:lstStyle/>
          <a:p>
            <a:r>
              <a:rPr lang="ru-RU" b="1" dirty="0"/>
              <a:t>Аугментация</a:t>
            </a:r>
          </a:p>
        </p:txBody>
      </p:sp>
      <p:sp>
        <p:nvSpPr>
          <p:cNvPr id="3" name="Номер слайда 2">
            <a:extLst>
              <a:ext uri="{FF2B5EF4-FFF2-40B4-BE49-F238E27FC236}">
                <a16:creationId xmlns:a16="http://schemas.microsoft.com/office/drawing/2014/main" id="{7CD36BE1-EBC2-626C-4E11-F926CED14BAD}"/>
              </a:ext>
            </a:extLst>
          </p:cNvPr>
          <p:cNvSpPr>
            <a:spLocks noGrp="1"/>
          </p:cNvSpPr>
          <p:nvPr>
            <p:ph type="sldNum" sz="quarter" idx="12"/>
          </p:nvPr>
        </p:nvSpPr>
        <p:spPr/>
        <p:txBody>
          <a:bodyPr/>
          <a:lstStyle/>
          <a:p>
            <a:fld id="{B19B0651-EE4F-4900-A07F-96A6BFA9D0F0}" type="slidenum">
              <a:rPr lang="ru-RU" smtClean="0"/>
              <a:pPr/>
              <a:t>27</a:t>
            </a:fld>
            <a:endParaRPr lang="ru-RU" dirty="0"/>
          </a:p>
        </p:txBody>
      </p:sp>
      <mc:AlternateContent xmlns:mc="http://schemas.openxmlformats.org/markup-compatibility/2006" xmlns:a14="http://schemas.microsoft.com/office/drawing/2010/main">
        <mc:Choice Requires="a14">
          <p:sp>
            <p:nvSpPr>
              <p:cNvPr id="4" name="Объект 3">
                <a:extLst>
                  <a:ext uri="{FF2B5EF4-FFF2-40B4-BE49-F238E27FC236}">
                    <a16:creationId xmlns:a16="http://schemas.microsoft.com/office/drawing/2014/main" id="{6F621299-1923-AA20-31D4-9A13C0683E0A}"/>
                  </a:ext>
                </a:extLst>
              </p:cNvPr>
              <p:cNvSpPr>
                <a:spLocks noGrp="1"/>
              </p:cNvSpPr>
              <p:nvPr>
                <p:ph sz="quarter" idx="1"/>
              </p:nvPr>
            </p:nvSpPr>
            <p:spPr/>
            <p:txBody>
              <a:bodyPr>
                <a:normAutofit fontScale="70000" lnSpcReduction="20000"/>
              </a:bodyPr>
              <a:lstStyle/>
              <a:p>
                <a:r>
                  <a:rPr lang="ru-RU" b="1" dirty="0"/>
                  <a:t>Проблема</a:t>
                </a:r>
                <a:r>
                  <a:rPr lang="en-US" b="1" dirty="0"/>
                  <a:t>:</a:t>
                </a:r>
                <a:endParaRPr lang="ru-RU" b="1" dirty="0"/>
              </a:p>
              <a:p>
                <a:r>
                  <a:rPr lang="ru-RU" dirty="0"/>
                  <a:t>В геномном прогнозировании ограниченное количество образцов (например, 469 у риса, 553 у нута)</a:t>
                </a:r>
              </a:p>
              <a:p>
                <a:r>
                  <a:rPr lang="ru-RU" dirty="0"/>
                  <a:t>Модель легко переобучается на малой выборке</a:t>
                </a:r>
              </a:p>
              <a:p>
                <a:r>
                  <a:rPr lang="ru-RU" dirty="0"/>
                  <a:t>Нужно искусственно увеличить разнообразие обучающих примеров</a:t>
                </a:r>
              </a:p>
              <a:p>
                <a:endParaRPr lang="ru-RU" dirty="0"/>
              </a:p>
              <a:p>
                <a:r>
                  <a:rPr lang="ru-RU" b="1" dirty="0"/>
                  <a:t>Используемый метод: </a:t>
                </a:r>
                <a:r>
                  <a:rPr lang="ru-RU" b="1" dirty="0" err="1"/>
                  <a:t>MixUp</a:t>
                </a:r>
                <a:endParaRPr lang="ru-RU" b="1" dirty="0"/>
              </a:p>
              <a:p>
                <a:r>
                  <a:rPr lang="ru-RU" b="1" dirty="0"/>
                  <a:t>Идея:</a:t>
                </a:r>
                <a:r>
                  <a:rPr lang="ru-RU" dirty="0"/>
                  <a:t> создавать синтетические образцы как линейную комбинацию двух реальных образцов.</a:t>
                </a:r>
                <a:br>
                  <a:rPr lang="ru-RU" dirty="0"/>
                </a:br>
                <a:endParaRPr lang="ru-RU" dirty="0"/>
              </a:p>
              <a:p>
                <a:r>
                  <a:rPr lang="ru-RU" b="1" dirty="0"/>
                  <a:t>Формула</a:t>
                </a:r>
                <a:r>
                  <a:rPr lang="en-US" b="1" dirty="0"/>
                  <a:t>:</a:t>
                </a:r>
              </a:p>
              <a:p>
                <a:r>
                  <a:rPr lang="ru-RU" dirty="0"/>
                  <a:t>Для двух случайных образцов </a:t>
                </a:r>
                <a14:m>
                  <m:oMath xmlns:m="http://schemas.openxmlformats.org/officeDocument/2006/math">
                    <m:d>
                      <m:dPr>
                        <m:sepChr m:val=","/>
                        <m:ctrlPr>
                          <a:rPr lang="ru-RU" i="1">
                            <a:latin typeface="Cambria Math" panose="02040503050406030204" pitchFamily="18" charset="0"/>
                          </a:rPr>
                        </m:ctrlPr>
                      </m:dPr>
                      <m:e>
                        <m:sSub>
                          <m:sSubPr>
                            <m:ctrlPr>
                              <a:rPr lang="ru-RU" i="1">
                                <a:latin typeface="Cambria Math" panose="02040503050406030204" pitchFamily="18" charset="0"/>
                              </a:rPr>
                            </m:ctrlPr>
                          </m:sSubPr>
                          <m:e>
                            <m:r>
                              <a:rPr lang="ru-RU" i="1">
                                <a:latin typeface="Cambria Math" panose="02040503050406030204" pitchFamily="18" charset="0"/>
                              </a:rPr>
                              <m:t>𝑥</m:t>
                            </m:r>
                          </m:e>
                          <m:sub>
                            <m:r>
                              <a:rPr lang="ru-RU" i="1">
                                <a:latin typeface="Cambria Math" panose="02040503050406030204" pitchFamily="18" charset="0"/>
                              </a:rPr>
                              <m:t>𝑖</m:t>
                            </m:r>
                          </m:sub>
                        </m:sSub>
                      </m:e>
                      <m:e>
                        <m:sSub>
                          <m:sSubPr>
                            <m:ctrlPr>
                              <a:rPr lang="ru-RU" i="1">
                                <a:latin typeface="Cambria Math" panose="02040503050406030204" pitchFamily="18" charset="0"/>
                              </a:rPr>
                            </m:ctrlPr>
                          </m:sSubPr>
                          <m:e>
                            <m:r>
                              <a:rPr lang="ru-RU" i="1">
                                <a:latin typeface="Cambria Math" panose="02040503050406030204" pitchFamily="18" charset="0"/>
                              </a:rPr>
                              <m:t>𝑦</m:t>
                            </m:r>
                          </m:e>
                          <m:sub>
                            <m:r>
                              <a:rPr lang="ru-RU" i="1">
                                <a:latin typeface="Cambria Math" panose="02040503050406030204" pitchFamily="18" charset="0"/>
                              </a:rPr>
                              <m:t>𝑖</m:t>
                            </m:r>
                          </m:sub>
                        </m:sSub>
                      </m:e>
                    </m:d>
                  </m:oMath>
                </a14:m>
                <a:r>
                  <a:rPr lang="ru-RU" dirty="0"/>
                  <a:t> и </a:t>
                </a:r>
                <a14:m>
                  <m:oMath xmlns:m="http://schemas.openxmlformats.org/officeDocument/2006/math">
                    <m:d>
                      <m:dPr>
                        <m:sepChr m:val=","/>
                        <m:ctrlPr>
                          <a:rPr lang="ru-RU" i="1">
                            <a:latin typeface="Cambria Math" panose="02040503050406030204" pitchFamily="18" charset="0"/>
                          </a:rPr>
                        </m:ctrlPr>
                      </m:dPr>
                      <m:e>
                        <m:sSub>
                          <m:sSubPr>
                            <m:ctrlPr>
                              <a:rPr lang="ru-RU" i="1">
                                <a:latin typeface="Cambria Math" panose="02040503050406030204" pitchFamily="18" charset="0"/>
                              </a:rPr>
                            </m:ctrlPr>
                          </m:sSubPr>
                          <m:e>
                            <m:r>
                              <a:rPr lang="ru-RU" i="1">
                                <a:latin typeface="Cambria Math" panose="02040503050406030204" pitchFamily="18" charset="0"/>
                              </a:rPr>
                              <m:t>𝑥</m:t>
                            </m:r>
                          </m:e>
                          <m:sub>
                            <m:r>
                              <a:rPr lang="ru-RU" i="1">
                                <a:latin typeface="Cambria Math" panose="02040503050406030204" pitchFamily="18" charset="0"/>
                              </a:rPr>
                              <m:t>𝑗</m:t>
                            </m:r>
                          </m:sub>
                        </m:sSub>
                      </m:e>
                      <m:e>
                        <m:sSub>
                          <m:sSubPr>
                            <m:ctrlPr>
                              <a:rPr lang="ru-RU" i="1">
                                <a:latin typeface="Cambria Math" panose="02040503050406030204" pitchFamily="18" charset="0"/>
                              </a:rPr>
                            </m:ctrlPr>
                          </m:sSubPr>
                          <m:e>
                            <m:r>
                              <a:rPr lang="ru-RU" i="1">
                                <a:latin typeface="Cambria Math" panose="02040503050406030204" pitchFamily="18" charset="0"/>
                              </a:rPr>
                              <m:t>𝑦</m:t>
                            </m:r>
                          </m:e>
                          <m:sub>
                            <m:r>
                              <a:rPr lang="ru-RU" i="1">
                                <a:latin typeface="Cambria Math" panose="02040503050406030204" pitchFamily="18" charset="0"/>
                              </a:rPr>
                              <m:t>𝑗</m:t>
                            </m:r>
                          </m:sub>
                        </m:sSub>
                      </m:e>
                    </m:d>
                  </m:oMath>
                </a14:m>
                <a:r>
                  <a:rPr lang="ru-RU" dirty="0"/>
                  <a:t>:</a:t>
                </a:r>
              </a:p>
              <a:p>
                <a14:m>
                  <m:oMath xmlns:m="http://schemas.openxmlformats.org/officeDocument/2006/math">
                    <m:acc>
                      <m:accPr>
                        <m:chr m:val="̃"/>
                        <m:ctrlPr>
                          <a:rPr lang="ru-RU" i="1">
                            <a:latin typeface="Cambria Math" panose="02040503050406030204" pitchFamily="18" charset="0"/>
                          </a:rPr>
                        </m:ctrlPr>
                      </m:accPr>
                      <m:e>
                        <m:r>
                          <a:rPr lang="ru-RU" i="1">
                            <a:latin typeface="Cambria Math" panose="02040503050406030204" pitchFamily="18" charset="0"/>
                          </a:rPr>
                          <m:t>𝑥</m:t>
                        </m:r>
                      </m:e>
                    </m:acc>
                    <m:r>
                      <a:rPr lang="ru-RU">
                        <a:latin typeface="Cambria Math" panose="02040503050406030204" pitchFamily="18" charset="0"/>
                      </a:rPr>
                      <m:t>=</m:t>
                    </m:r>
                    <m:r>
                      <a:rPr lang="ru-RU" i="1">
                        <a:latin typeface="Cambria Math" panose="02040503050406030204" pitchFamily="18" charset="0"/>
                      </a:rPr>
                      <m:t>𝜆</m:t>
                    </m:r>
                    <m:r>
                      <a:rPr lang="ru-RU">
                        <a:latin typeface="Cambria Math" panose="02040503050406030204" pitchFamily="18" charset="0"/>
                      </a:rPr>
                      <m:t>⋅</m:t>
                    </m:r>
                    <m:sSub>
                      <m:sSubPr>
                        <m:ctrlPr>
                          <a:rPr lang="ru-RU" i="1">
                            <a:latin typeface="Cambria Math" panose="02040503050406030204" pitchFamily="18" charset="0"/>
                          </a:rPr>
                        </m:ctrlPr>
                      </m:sSubPr>
                      <m:e>
                        <m:r>
                          <a:rPr lang="ru-RU" i="1">
                            <a:latin typeface="Cambria Math" panose="02040503050406030204" pitchFamily="18" charset="0"/>
                          </a:rPr>
                          <m:t>𝑥</m:t>
                        </m:r>
                      </m:e>
                      <m:sub>
                        <m:r>
                          <a:rPr lang="ru-RU" i="1">
                            <a:latin typeface="Cambria Math" panose="02040503050406030204" pitchFamily="18" charset="0"/>
                          </a:rPr>
                          <m:t>𝑖</m:t>
                        </m:r>
                      </m:sub>
                    </m:sSub>
                    <m:r>
                      <a:rPr lang="ru-RU">
                        <a:latin typeface="Cambria Math" panose="02040503050406030204" pitchFamily="18" charset="0"/>
                      </a:rPr>
                      <m:t>+</m:t>
                    </m:r>
                    <m:d>
                      <m:dPr>
                        <m:ctrlPr>
                          <a:rPr lang="ru-RU" i="1">
                            <a:latin typeface="Cambria Math" panose="02040503050406030204" pitchFamily="18" charset="0"/>
                          </a:rPr>
                        </m:ctrlPr>
                      </m:dPr>
                      <m:e>
                        <m:r>
                          <a:rPr lang="ru-RU">
                            <a:latin typeface="Cambria Math" panose="02040503050406030204" pitchFamily="18" charset="0"/>
                          </a:rPr>
                          <m:t>1−</m:t>
                        </m:r>
                        <m:r>
                          <a:rPr lang="ru-RU" i="1">
                            <a:latin typeface="Cambria Math" panose="02040503050406030204" pitchFamily="18" charset="0"/>
                          </a:rPr>
                          <m:t>𝜆</m:t>
                        </m:r>
                      </m:e>
                    </m:d>
                    <m:r>
                      <a:rPr lang="ru-RU">
                        <a:latin typeface="Cambria Math" panose="02040503050406030204" pitchFamily="18" charset="0"/>
                      </a:rPr>
                      <m:t>⋅</m:t>
                    </m:r>
                    <m:sSub>
                      <m:sSubPr>
                        <m:ctrlPr>
                          <a:rPr lang="ru-RU" i="1">
                            <a:latin typeface="Cambria Math" panose="02040503050406030204" pitchFamily="18" charset="0"/>
                          </a:rPr>
                        </m:ctrlPr>
                      </m:sSubPr>
                      <m:e>
                        <m:r>
                          <a:rPr lang="ru-RU" i="1">
                            <a:latin typeface="Cambria Math" panose="02040503050406030204" pitchFamily="18" charset="0"/>
                          </a:rPr>
                          <m:t>𝑥</m:t>
                        </m:r>
                      </m:e>
                      <m:sub>
                        <m:r>
                          <a:rPr lang="ru-RU" i="1">
                            <a:latin typeface="Cambria Math" panose="02040503050406030204" pitchFamily="18" charset="0"/>
                          </a:rPr>
                          <m:t>𝑗</m:t>
                        </m:r>
                      </m:sub>
                    </m:sSub>
                  </m:oMath>
                </a14:m>
                <a:endParaRPr lang="ru-RU" dirty="0"/>
              </a:p>
              <a:p>
                <a14:m>
                  <m:oMath xmlns:m="http://schemas.openxmlformats.org/officeDocument/2006/math">
                    <m:acc>
                      <m:accPr>
                        <m:chr m:val="̃"/>
                        <m:ctrlPr>
                          <a:rPr lang="ru-RU" i="1">
                            <a:latin typeface="Cambria Math" panose="02040503050406030204" pitchFamily="18" charset="0"/>
                          </a:rPr>
                        </m:ctrlPr>
                      </m:accPr>
                      <m:e>
                        <m:r>
                          <a:rPr lang="ru-RU" i="1">
                            <a:latin typeface="Cambria Math" panose="02040503050406030204" pitchFamily="18" charset="0"/>
                          </a:rPr>
                          <m:t>𝑦</m:t>
                        </m:r>
                      </m:e>
                    </m:acc>
                    <m:r>
                      <a:rPr lang="ru-RU">
                        <a:latin typeface="Cambria Math" panose="02040503050406030204" pitchFamily="18" charset="0"/>
                      </a:rPr>
                      <m:t>=</m:t>
                    </m:r>
                    <m:r>
                      <a:rPr lang="ru-RU" i="1">
                        <a:latin typeface="Cambria Math" panose="02040503050406030204" pitchFamily="18" charset="0"/>
                      </a:rPr>
                      <m:t>𝜆</m:t>
                    </m:r>
                    <m:r>
                      <a:rPr lang="ru-RU">
                        <a:latin typeface="Cambria Math" panose="02040503050406030204" pitchFamily="18" charset="0"/>
                      </a:rPr>
                      <m:t>⋅</m:t>
                    </m:r>
                    <m:sSub>
                      <m:sSubPr>
                        <m:ctrlPr>
                          <a:rPr lang="ru-RU" i="1">
                            <a:latin typeface="Cambria Math" panose="02040503050406030204" pitchFamily="18" charset="0"/>
                          </a:rPr>
                        </m:ctrlPr>
                      </m:sSubPr>
                      <m:e>
                        <m:r>
                          <a:rPr lang="ru-RU" i="1">
                            <a:latin typeface="Cambria Math" panose="02040503050406030204" pitchFamily="18" charset="0"/>
                          </a:rPr>
                          <m:t>𝑦</m:t>
                        </m:r>
                      </m:e>
                      <m:sub>
                        <m:r>
                          <a:rPr lang="ru-RU" i="1">
                            <a:latin typeface="Cambria Math" panose="02040503050406030204" pitchFamily="18" charset="0"/>
                          </a:rPr>
                          <m:t>𝑖</m:t>
                        </m:r>
                      </m:sub>
                    </m:sSub>
                    <m:r>
                      <a:rPr lang="ru-RU">
                        <a:latin typeface="Cambria Math" panose="02040503050406030204" pitchFamily="18" charset="0"/>
                      </a:rPr>
                      <m:t>+</m:t>
                    </m:r>
                    <m:d>
                      <m:dPr>
                        <m:ctrlPr>
                          <a:rPr lang="ru-RU" i="1">
                            <a:latin typeface="Cambria Math" panose="02040503050406030204" pitchFamily="18" charset="0"/>
                          </a:rPr>
                        </m:ctrlPr>
                      </m:dPr>
                      <m:e>
                        <m:r>
                          <a:rPr lang="ru-RU">
                            <a:latin typeface="Cambria Math" panose="02040503050406030204" pitchFamily="18" charset="0"/>
                          </a:rPr>
                          <m:t>1−</m:t>
                        </m:r>
                        <m:r>
                          <a:rPr lang="ru-RU" i="1">
                            <a:latin typeface="Cambria Math" panose="02040503050406030204" pitchFamily="18" charset="0"/>
                          </a:rPr>
                          <m:t>𝜆</m:t>
                        </m:r>
                      </m:e>
                    </m:d>
                    <m:r>
                      <a:rPr lang="ru-RU">
                        <a:latin typeface="Cambria Math" panose="02040503050406030204" pitchFamily="18" charset="0"/>
                      </a:rPr>
                      <m:t>⋅</m:t>
                    </m:r>
                    <m:sSub>
                      <m:sSubPr>
                        <m:ctrlPr>
                          <a:rPr lang="ru-RU" i="1">
                            <a:latin typeface="Cambria Math" panose="02040503050406030204" pitchFamily="18" charset="0"/>
                          </a:rPr>
                        </m:ctrlPr>
                      </m:sSubPr>
                      <m:e>
                        <m:r>
                          <a:rPr lang="ru-RU" i="1">
                            <a:latin typeface="Cambria Math" panose="02040503050406030204" pitchFamily="18" charset="0"/>
                          </a:rPr>
                          <m:t>𝑦</m:t>
                        </m:r>
                      </m:e>
                      <m:sub>
                        <m:r>
                          <a:rPr lang="ru-RU" i="1">
                            <a:latin typeface="Cambria Math" panose="02040503050406030204" pitchFamily="18" charset="0"/>
                          </a:rPr>
                          <m:t>𝑗</m:t>
                        </m:r>
                      </m:sub>
                    </m:sSub>
                  </m:oMath>
                </a14:m>
                <a:endParaRPr lang="ru-RU" dirty="0"/>
              </a:p>
              <a:p>
                <a:r>
                  <a:rPr lang="ru-RU" dirty="0"/>
                  <a:t>где </a:t>
                </a:r>
                <a14:m>
                  <m:oMath xmlns:m="http://schemas.openxmlformats.org/officeDocument/2006/math">
                    <m:r>
                      <a:rPr lang="ru-RU" i="1">
                        <a:latin typeface="Cambria Math" panose="02040503050406030204" pitchFamily="18" charset="0"/>
                      </a:rPr>
                      <m:t>𝜆</m:t>
                    </m:r>
                    <m:r>
                      <a:rPr lang="ru-RU">
                        <a:latin typeface="Cambria Math" panose="02040503050406030204" pitchFamily="18" charset="0"/>
                      </a:rPr>
                      <m:t>∼</m:t>
                    </m:r>
                    <m:r>
                      <m:rPr>
                        <m:nor/>
                      </m:rPr>
                      <a:rPr lang="ru-RU" i="1"/>
                      <m:t>Beta</m:t>
                    </m:r>
                    <m:d>
                      <m:dPr>
                        <m:sepChr m:val=","/>
                        <m:ctrlPr>
                          <a:rPr lang="ru-RU" i="1">
                            <a:latin typeface="Cambria Math" panose="02040503050406030204" pitchFamily="18" charset="0"/>
                          </a:rPr>
                        </m:ctrlPr>
                      </m:dPr>
                      <m:e>
                        <m:r>
                          <a:rPr lang="ru-RU" i="1">
                            <a:latin typeface="Cambria Math" panose="02040503050406030204" pitchFamily="18" charset="0"/>
                          </a:rPr>
                          <m:t>𝛼</m:t>
                        </m:r>
                      </m:e>
                      <m:e>
                        <m:r>
                          <a:rPr lang="ru-RU" i="1">
                            <a:latin typeface="Cambria Math" panose="02040503050406030204" pitchFamily="18" charset="0"/>
                          </a:rPr>
                          <m:t>𝛼</m:t>
                        </m:r>
                      </m:e>
                    </m:d>
                  </m:oMath>
                </a14:m>
                <a:r>
                  <a:rPr lang="ru-RU" dirty="0"/>
                  <a:t> — параметр смешивания.</a:t>
                </a:r>
              </a:p>
              <a:p>
                <a:r>
                  <a:rPr lang="ru-RU" b="1" dirty="0"/>
                  <a:t>Я использовал:</a:t>
                </a:r>
                <a:r>
                  <a:rPr lang="ru-RU" dirty="0"/>
                  <a:t> </a:t>
                </a:r>
                <a14:m>
                  <m:oMath xmlns:m="http://schemas.openxmlformats.org/officeDocument/2006/math">
                    <m:r>
                      <a:rPr lang="ru-RU" i="1">
                        <a:latin typeface="Cambria Math" panose="02040503050406030204" pitchFamily="18" charset="0"/>
                      </a:rPr>
                      <m:t>𝛼</m:t>
                    </m:r>
                    <m:r>
                      <a:rPr lang="ru-RU">
                        <a:latin typeface="Cambria Math" panose="02040503050406030204" pitchFamily="18" charset="0"/>
                      </a:rPr>
                      <m:t>=0.3</m:t>
                    </m:r>
                  </m:oMath>
                </a14:m>
                <a:r>
                  <a:rPr lang="ru-RU" dirty="0"/>
                  <a:t>, </a:t>
                </a:r>
                <a14:m>
                  <m:oMath xmlns:m="http://schemas.openxmlformats.org/officeDocument/2006/math">
                    <m:r>
                      <a:rPr lang="ru-RU" i="1">
                        <a:latin typeface="Cambria Math" panose="02040503050406030204" pitchFamily="18" charset="0"/>
                      </a:rPr>
                      <m:t>𝜆</m:t>
                    </m:r>
                  </m:oMath>
                </a14:m>
                <a:r>
                  <a:rPr lang="ru-RU" dirty="0"/>
                  <a:t> генерируется из </a:t>
                </a:r>
                <a:r>
                  <a:rPr lang="ru-RU" dirty="0" err="1"/>
                  <a:t>Beta</a:t>
                </a:r>
                <a:r>
                  <a:rPr lang="ru-RU" dirty="0"/>
                  <a:t>(0.3, 0.3)</a:t>
                </a:r>
              </a:p>
            </p:txBody>
          </p:sp>
        </mc:Choice>
        <mc:Fallback xmlns="">
          <p:sp>
            <p:nvSpPr>
              <p:cNvPr id="4" name="Объект 3">
                <a:extLst>
                  <a:ext uri="{FF2B5EF4-FFF2-40B4-BE49-F238E27FC236}">
                    <a16:creationId xmlns:a16="http://schemas.microsoft.com/office/drawing/2014/main" id="{6F621299-1923-AA20-31D4-9A13C0683E0A}"/>
                  </a:ext>
                </a:extLst>
              </p:cNvPr>
              <p:cNvSpPr>
                <a:spLocks noGrp="1" noRot="1" noChangeAspect="1" noMove="1" noResize="1" noEditPoints="1" noAdjustHandles="1" noChangeArrowheads="1" noChangeShapeType="1" noTextEdit="1"/>
              </p:cNvSpPr>
              <p:nvPr>
                <p:ph sz="quarter" idx="1"/>
              </p:nvPr>
            </p:nvSpPr>
            <p:spPr>
              <a:blipFill>
                <a:blip r:embed="rId2"/>
                <a:stretch>
                  <a:fillRect l="-56" t="-1852" r="-389"/>
                </a:stretch>
              </a:blipFill>
            </p:spPr>
            <p:txBody>
              <a:bodyPr/>
              <a:lstStyle/>
              <a:p>
                <a:r>
                  <a:rPr lang="ru-RU">
                    <a:noFill/>
                  </a:rPr>
                  <a:t> </a:t>
                </a:r>
              </a:p>
            </p:txBody>
          </p:sp>
        </mc:Fallback>
      </mc:AlternateContent>
    </p:spTree>
    <p:extLst>
      <p:ext uri="{BB962C8B-B14F-4D97-AF65-F5344CB8AC3E}">
        <p14:creationId xmlns:p14="http://schemas.microsoft.com/office/powerpoint/2010/main" val="41913394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96EE21A-4C85-8943-DE61-0A6025162FB7}"/>
              </a:ext>
            </a:extLst>
          </p:cNvPr>
          <p:cNvSpPr>
            <a:spLocks noGrp="1"/>
          </p:cNvSpPr>
          <p:nvPr>
            <p:ph type="title"/>
          </p:nvPr>
        </p:nvSpPr>
        <p:spPr/>
        <p:txBody>
          <a:bodyPr/>
          <a:lstStyle/>
          <a:p>
            <a:r>
              <a:rPr lang="ru-RU" dirty="0"/>
              <a:t>Динамика функции потерь базовой модели</a:t>
            </a:r>
          </a:p>
        </p:txBody>
      </p:sp>
      <p:sp>
        <p:nvSpPr>
          <p:cNvPr id="3" name="Номер слайда 2">
            <a:extLst>
              <a:ext uri="{FF2B5EF4-FFF2-40B4-BE49-F238E27FC236}">
                <a16:creationId xmlns:a16="http://schemas.microsoft.com/office/drawing/2014/main" id="{A74DA564-5FE9-8F6B-CAA0-BCD96FB0ACCE}"/>
              </a:ext>
            </a:extLst>
          </p:cNvPr>
          <p:cNvSpPr>
            <a:spLocks noGrp="1"/>
          </p:cNvSpPr>
          <p:nvPr>
            <p:ph type="sldNum" sz="quarter" idx="12"/>
          </p:nvPr>
        </p:nvSpPr>
        <p:spPr/>
        <p:txBody>
          <a:bodyPr/>
          <a:lstStyle/>
          <a:p>
            <a:fld id="{B19B0651-EE4F-4900-A07F-96A6BFA9D0F0}" type="slidenum">
              <a:rPr lang="ru-RU" smtClean="0"/>
              <a:pPr/>
              <a:t>28</a:t>
            </a:fld>
            <a:endParaRPr lang="ru-RU" dirty="0"/>
          </a:p>
        </p:txBody>
      </p:sp>
      <p:pic>
        <p:nvPicPr>
          <p:cNvPr id="6" name="Объект 5">
            <a:extLst>
              <a:ext uri="{FF2B5EF4-FFF2-40B4-BE49-F238E27FC236}">
                <a16:creationId xmlns:a16="http://schemas.microsoft.com/office/drawing/2014/main" id="{FF87A888-CBC1-429B-35D9-6839BFDA6536}"/>
              </a:ext>
            </a:extLst>
          </p:cNvPr>
          <p:cNvPicPr>
            <a:picLocks noGrp="1" noChangeAspect="1"/>
          </p:cNvPicPr>
          <p:nvPr>
            <p:ph sz="quarter" idx="1"/>
          </p:nvPr>
        </p:nvPicPr>
        <p:blipFill>
          <a:blip r:embed="rId2"/>
          <a:stretch>
            <a:fillRect/>
          </a:stretch>
        </p:blipFill>
        <p:spPr>
          <a:xfrm>
            <a:off x="2116478" y="1700808"/>
            <a:ext cx="7939962" cy="3964382"/>
          </a:xfrm>
          <a:prstGeom prst="rect">
            <a:avLst/>
          </a:prstGeom>
        </p:spPr>
      </p:pic>
    </p:spTree>
    <p:extLst>
      <p:ext uri="{BB962C8B-B14F-4D97-AF65-F5344CB8AC3E}">
        <p14:creationId xmlns:p14="http://schemas.microsoft.com/office/powerpoint/2010/main" val="9238472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DE3A7F2-C181-9366-EE1A-7D349F4FE7E8}"/>
              </a:ext>
            </a:extLst>
          </p:cNvPr>
          <p:cNvSpPr>
            <a:spLocks noGrp="1"/>
          </p:cNvSpPr>
          <p:nvPr>
            <p:ph type="title"/>
          </p:nvPr>
        </p:nvSpPr>
        <p:spPr/>
        <p:txBody>
          <a:bodyPr>
            <a:normAutofit fontScale="90000"/>
          </a:bodyPr>
          <a:lstStyle/>
          <a:p>
            <a:r>
              <a:rPr lang="ru-RU" dirty="0"/>
              <a:t>Динамика функции потерь модифицированной модели на нуте</a:t>
            </a:r>
          </a:p>
        </p:txBody>
      </p:sp>
      <p:sp>
        <p:nvSpPr>
          <p:cNvPr id="3" name="Номер слайда 2">
            <a:extLst>
              <a:ext uri="{FF2B5EF4-FFF2-40B4-BE49-F238E27FC236}">
                <a16:creationId xmlns:a16="http://schemas.microsoft.com/office/drawing/2014/main" id="{EF8DA34D-B95C-496C-3232-BFA19A638587}"/>
              </a:ext>
            </a:extLst>
          </p:cNvPr>
          <p:cNvSpPr>
            <a:spLocks noGrp="1"/>
          </p:cNvSpPr>
          <p:nvPr>
            <p:ph type="sldNum" sz="quarter" idx="12"/>
          </p:nvPr>
        </p:nvSpPr>
        <p:spPr/>
        <p:txBody>
          <a:bodyPr/>
          <a:lstStyle/>
          <a:p>
            <a:fld id="{B19B0651-EE4F-4900-A07F-96A6BFA9D0F0}" type="slidenum">
              <a:rPr lang="ru-RU" smtClean="0"/>
              <a:pPr/>
              <a:t>29</a:t>
            </a:fld>
            <a:endParaRPr lang="ru-RU" dirty="0"/>
          </a:p>
        </p:txBody>
      </p:sp>
      <p:pic>
        <p:nvPicPr>
          <p:cNvPr id="6" name="Объект 5">
            <a:extLst>
              <a:ext uri="{FF2B5EF4-FFF2-40B4-BE49-F238E27FC236}">
                <a16:creationId xmlns:a16="http://schemas.microsoft.com/office/drawing/2014/main" id="{F80C2407-6EE1-BB6C-7016-6064937C595C}"/>
              </a:ext>
            </a:extLst>
          </p:cNvPr>
          <p:cNvPicPr>
            <a:picLocks noGrp="1" noChangeAspect="1"/>
          </p:cNvPicPr>
          <p:nvPr>
            <p:ph sz="quarter" idx="1"/>
          </p:nvPr>
        </p:nvPicPr>
        <p:blipFill>
          <a:blip r:embed="rId2"/>
          <a:stretch>
            <a:fillRect/>
          </a:stretch>
        </p:blipFill>
        <p:spPr>
          <a:xfrm>
            <a:off x="1631505" y="1485519"/>
            <a:ext cx="8008290" cy="3950326"/>
          </a:xfrm>
          <a:prstGeom prst="rect">
            <a:avLst/>
          </a:prstGeom>
        </p:spPr>
      </p:pic>
    </p:spTree>
    <p:extLst>
      <p:ext uri="{BB962C8B-B14F-4D97-AF65-F5344CB8AC3E}">
        <p14:creationId xmlns:p14="http://schemas.microsoft.com/office/powerpoint/2010/main" val="9337116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F7A4769-340E-CC80-9EB5-5DDA66545BCB}"/>
              </a:ext>
            </a:extLst>
          </p:cNvPr>
          <p:cNvSpPr>
            <a:spLocks noGrp="1"/>
          </p:cNvSpPr>
          <p:nvPr>
            <p:ph type="title"/>
          </p:nvPr>
        </p:nvSpPr>
        <p:spPr/>
        <p:txBody>
          <a:bodyPr>
            <a:normAutofit/>
          </a:bodyPr>
          <a:lstStyle/>
          <a:p>
            <a:r>
              <a:rPr lang="ru-RU" b="1" dirty="0"/>
              <a:t>Дополнительные результаты</a:t>
            </a:r>
            <a:endParaRPr lang="ru-RU" dirty="0"/>
          </a:p>
        </p:txBody>
      </p:sp>
      <p:sp>
        <p:nvSpPr>
          <p:cNvPr id="3" name="Номер слайда 2">
            <a:extLst>
              <a:ext uri="{FF2B5EF4-FFF2-40B4-BE49-F238E27FC236}">
                <a16:creationId xmlns:a16="http://schemas.microsoft.com/office/drawing/2014/main" id="{A0EA39B1-D4ED-1759-D45F-B2AD51C20FE2}"/>
              </a:ext>
            </a:extLst>
          </p:cNvPr>
          <p:cNvSpPr>
            <a:spLocks noGrp="1"/>
          </p:cNvSpPr>
          <p:nvPr>
            <p:ph type="sldNum" sz="quarter" idx="12"/>
          </p:nvPr>
        </p:nvSpPr>
        <p:spPr/>
        <p:txBody>
          <a:bodyPr/>
          <a:lstStyle/>
          <a:p>
            <a:fld id="{B19B0651-EE4F-4900-A07F-96A6BFA9D0F0}" type="slidenum">
              <a:rPr lang="ru-RU" smtClean="0"/>
              <a:pPr/>
              <a:t>30</a:t>
            </a:fld>
            <a:endParaRPr lang="ru-RU" dirty="0"/>
          </a:p>
        </p:txBody>
      </p:sp>
      <p:graphicFrame>
        <p:nvGraphicFramePr>
          <p:cNvPr id="5" name="Объект 4">
            <a:extLst>
              <a:ext uri="{FF2B5EF4-FFF2-40B4-BE49-F238E27FC236}">
                <a16:creationId xmlns:a16="http://schemas.microsoft.com/office/drawing/2014/main" id="{2E4E48F6-3144-0720-D1D8-A4D022E65AA0}"/>
              </a:ext>
            </a:extLst>
          </p:cNvPr>
          <p:cNvGraphicFramePr>
            <a:graphicFrameLocks noGrp="1"/>
          </p:cNvGraphicFramePr>
          <p:nvPr>
            <p:ph sz="quarter" idx="1"/>
            <p:extLst>
              <p:ext uri="{D42A27DB-BD31-4B8C-83A1-F6EECF244321}">
                <p14:modId xmlns:p14="http://schemas.microsoft.com/office/powerpoint/2010/main" val="753934975"/>
              </p:ext>
            </p:extLst>
          </p:nvPr>
        </p:nvGraphicFramePr>
        <p:xfrm>
          <a:off x="609600" y="1340768"/>
          <a:ext cx="7344816" cy="1816100"/>
        </p:xfrm>
        <a:graphic>
          <a:graphicData uri="http://schemas.openxmlformats.org/drawingml/2006/table">
            <a:tbl>
              <a:tblPr firstRow="1" bandRow="1">
                <a:tableStyleId>{5C22544A-7EE6-4342-B048-85BDC9FD1C3A}</a:tableStyleId>
              </a:tblPr>
              <a:tblGrid>
                <a:gridCol w="4536504">
                  <a:extLst>
                    <a:ext uri="{9D8B030D-6E8A-4147-A177-3AD203B41FA5}">
                      <a16:colId xmlns:a16="http://schemas.microsoft.com/office/drawing/2014/main" val="1774740932"/>
                    </a:ext>
                  </a:extLst>
                </a:gridCol>
                <a:gridCol w="2808312">
                  <a:extLst>
                    <a:ext uri="{9D8B030D-6E8A-4147-A177-3AD203B41FA5}">
                      <a16:colId xmlns:a16="http://schemas.microsoft.com/office/drawing/2014/main" val="3323659068"/>
                    </a:ext>
                  </a:extLst>
                </a:gridCol>
              </a:tblGrid>
              <a:tr h="370840">
                <a:tc>
                  <a:txBody>
                    <a:bodyPr/>
                    <a:lstStyle/>
                    <a:p>
                      <a:pPr algn="l">
                        <a:lnSpc>
                          <a:spcPts val="1875"/>
                        </a:lnSpc>
                        <a:buNone/>
                      </a:pPr>
                      <a:r>
                        <a:rPr lang="ru-RU" b="0">
                          <a:effectLst/>
                          <a:latin typeface="quote-cjk-patch"/>
                        </a:rPr>
                        <a:t>Эксперимент</a:t>
                      </a:r>
                    </a:p>
                  </a:txBody>
                  <a:tcPr marR="121920" marT="76200" marB="76200" anchor="ctr"/>
                </a:tc>
                <a:tc>
                  <a:txBody>
                    <a:bodyPr/>
                    <a:lstStyle/>
                    <a:p>
                      <a:pPr algn="l">
                        <a:lnSpc>
                          <a:spcPts val="1875"/>
                        </a:lnSpc>
                        <a:buNone/>
                      </a:pPr>
                      <a:r>
                        <a:rPr lang="ru-RU" b="0">
                          <a:effectLst/>
                          <a:latin typeface="quote-cjk-patch"/>
                        </a:rPr>
                        <a:t>Результат</a:t>
                      </a:r>
                    </a:p>
                  </a:txBody>
                  <a:tcPr marL="121920" marR="121920" marT="76200" marB="76200" anchor="ctr"/>
                </a:tc>
                <a:extLst>
                  <a:ext uri="{0D108BD9-81ED-4DB2-BD59-A6C34878D82A}">
                    <a16:rowId xmlns:a16="http://schemas.microsoft.com/office/drawing/2014/main" val="3975752768"/>
                  </a:ext>
                </a:extLst>
              </a:tr>
              <a:tr h="370840">
                <a:tc>
                  <a:txBody>
                    <a:bodyPr/>
                    <a:lstStyle/>
                    <a:p>
                      <a:pPr>
                        <a:lnSpc>
                          <a:spcPts val="1875"/>
                        </a:lnSpc>
                        <a:buNone/>
                      </a:pPr>
                      <a:r>
                        <a:rPr lang="ru-RU" b="0">
                          <a:effectLst/>
                          <a:latin typeface="quote-cjk-patch"/>
                        </a:rPr>
                        <a:t>Аугментация MixUp для глюкозинолатов</a:t>
                      </a:r>
                    </a:p>
                  </a:txBody>
                  <a:tcPr marR="121920" marT="76200" marB="76200" anchor="ctr"/>
                </a:tc>
                <a:tc>
                  <a:txBody>
                    <a:bodyPr/>
                    <a:lstStyle/>
                    <a:p>
                      <a:pPr>
                        <a:lnSpc>
                          <a:spcPts val="1875"/>
                        </a:lnSpc>
                        <a:buNone/>
                      </a:pPr>
                      <a:r>
                        <a:rPr lang="ru-RU" b="0">
                          <a:effectLst/>
                          <a:latin typeface="quote-cjk-patch"/>
                        </a:rPr>
                        <a:t>MAPE ↓ на 8.93%</a:t>
                      </a:r>
                    </a:p>
                  </a:txBody>
                  <a:tcPr marL="121920" marT="76200" marB="76200" anchor="ctr"/>
                </a:tc>
                <a:extLst>
                  <a:ext uri="{0D108BD9-81ED-4DB2-BD59-A6C34878D82A}">
                    <a16:rowId xmlns:a16="http://schemas.microsoft.com/office/drawing/2014/main" val="4135786522"/>
                  </a:ext>
                </a:extLst>
              </a:tr>
              <a:tr h="370840">
                <a:tc>
                  <a:txBody>
                    <a:bodyPr/>
                    <a:lstStyle/>
                    <a:p>
                      <a:pPr>
                        <a:lnSpc>
                          <a:spcPts val="1875"/>
                        </a:lnSpc>
                        <a:buNone/>
                      </a:pPr>
                      <a:r>
                        <a:rPr lang="ru-RU" b="0">
                          <a:effectLst/>
                          <a:latin typeface="quote-cjk-patch"/>
                        </a:rPr>
                        <a:t>Мультизадачное обучение (FT + OilContent)</a:t>
                      </a:r>
                    </a:p>
                  </a:txBody>
                  <a:tcPr marR="121920" marT="76200" marB="76200" anchor="ctr"/>
                </a:tc>
                <a:tc>
                  <a:txBody>
                    <a:bodyPr/>
                    <a:lstStyle/>
                    <a:p>
                      <a:pPr>
                        <a:lnSpc>
                          <a:spcPts val="1875"/>
                        </a:lnSpc>
                        <a:buNone/>
                      </a:pPr>
                      <a:r>
                        <a:rPr lang="ru-RU" b="0" dirty="0">
                          <a:effectLst/>
                          <a:latin typeface="quote-cjk-patch"/>
                        </a:rPr>
                        <a:t>Корреляция FT = 0.809</a:t>
                      </a:r>
                    </a:p>
                  </a:txBody>
                  <a:tcPr marL="121920" marT="76200" marB="76200" anchor="ctr"/>
                </a:tc>
                <a:extLst>
                  <a:ext uri="{0D108BD9-81ED-4DB2-BD59-A6C34878D82A}">
                    <a16:rowId xmlns:a16="http://schemas.microsoft.com/office/drawing/2014/main" val="1132992023"/>
                  </a:ext>
                </a:extLst>
              </a:tr>
              <a:tr h="370840">
                <a:tc>
                  <a:txBody>
                    <a:bodyPr/>
                    <a:lstStyle/>
                    <a:p>
                      <a:pPr>
                        <a:lnSpc>
                          <a:spcPts val="1875"/>
                        </a:lnSpc>
                        <a:buNone/>
                      </a:pPr>
                      <a:r>
                        <a:rPr lang="ru-RU" b="0">
                          <a:effectLst/>
                          <a:latin typeface="quote-cjk-patch"/>
                        </a:rPr>
                        <a:t>Усложнение архитектуры (d=64)</a:t>
                      </a:r>
                    </a:p>
                  </a:txBody>
                  <a:tcPr marR="121920" marT="76200" marB="76200" anchor="ctr"/>
                </a:tc>
                <a:tc>
                  <a:txBody>
                    <a:bodyPr/>
                    <a:lstStyle/>
                    <a:p>
                      <a:pPr>
                        <a:lnSpc>
                          <a:spcPts val="1875"/>
                        </a:lnSpc>
                        <a:buNone/>
                      </a:pPr>
                      <a:r>
                        <a:rPr lang="ru-RU" b="0" dirty="0">
                          <a:effectLst/>
                          <a:latin typeface="quote-cjk-patch"/>
                        </a:rPr>
                        <a:t>+0.4% корреляции при x2 параметров</a:t>
                      </a:r>
                    </a:p>
                  </a:txBody>
                  <a:tcPr marL="121920" marT="76200" marB="76200" anchor="ctr"/>
                </a:tc>
                <a:extLst>
                  <a:ext uri="{0D108BD9-81ED-4DB2-BD59-A6C34878D82A}">
                    <a16:rowId xmlns:a16="http://schemas.microsoft.com/office/drawing/2014/main" val="3559260053"/>
                  </a:ext>
                </a:extLst>
              </a:tr>
            </a:tbl>
          </a:graphicData>
        </a:graphic>
      </p:graphicFrame>
      <p:graphicFrame>
        <p:nvGraphicFramePr>
          <p:cNvPr id="4" name="Объект 4">
            <a:extLst>
              <a:ext uri="{FF2B5EF4-FFF2-40B4-BE49-F238E27FC236}">
                <a16:creationId xmlns:a16="http://schemas.microsoft.com/office/drawing/2014/main" id="{13F75AB9-2CC1-1BF5-A98D-AE4E22BE417F}"/>
              </a:ext>
            </a:extLst>
          </p:cNvPr>
          <p:cNvGraphicFramePr>
            <a:graphicFrameLocks/>
          </p:cNvGraphicFramePr>
          <p:nvPr>
            <p:extLst>
              <p:ext uri="{D42A27DB-BD31-4B8C-83A1-F6EECF244321}">
                <p14:modId xmlns:p14="http://schemas.microsoft.com/office/powerpoint/2010/main" val="3910771498"/>
              </p:ext>
            </p:extLst>
          </p:nvPr>
        </p:nvGraphicFramePr>
        <p:xfrm>
          <a:off x="551384" y="3289300"/>
          <a:ext cx="7704855" cy="2451100"/>
        </p:xfrm>
        <a:graphic>
          <a:graphicData uri="http://schemas.openxmlformats.org/drawingml/2006/table">
            <a:tbl>
              <a:tblPr firstRow="1" bandRow="1">
                <a:tableStyleId>{5C22544A-7EE6-4342-B048-85BDC9FD1C3A}</a:tableStyleId>
              </a:tblPr>
              <a:tblGrid>
                <a:gridCol w="1141227">
                  <a:extLst>
                    <a:ext uri="{9D8B030D-6E8A-4147-A177-3AD203B41FA5}">
                      <a16:colId xmlns:a16="http://schemas.microsoft.com/office/drawing/2014/main" val="705908223"/>
                    </a:ext>
                  </a:extLst>
                </a:gridCol>
                <a:gridCol w="1800437">
                  <a:extLst>
                    <a:ext uri="{9D8B030D-6E8A-4147-A177-3AD203B41FA5}">
                      <a16:colId xmlns:a16="http://schemas.microsoft.com/office/drawing/2014/main" val="3378367074"/>
                    </a:ext>
                  </a:extLst>
                </a:gridCol>
                <a:gridCol w="1800437">
                  <a:extLst>
                    <a:ext uri="{9D8B030D-6E8A-4147-A177-3AD203B41FA5}">
                      <a16:colId xmlns:a16="http://schemas.microsoft.com/office/drawing/2014/main" val="4112712889"/>
                    </a:ext>
                  </a:extLst>
                </a:gridCol>
                <a:gridCol w="2962754">
                  <a:extLst>
                    <a:ext uri="{9D8B030D-6E8A-4147-A177-3AD203B41FA5}">
                      <a16:colId xmlns:a16="http://schemas.microsoft.com/office/drawing/2014/main" val="96818116"/>
                    </a:ext>
                  </a:extLst>
                </a:gridCol>
              </a:tblGrid>
              <a:tr h="370840">
                <a:tc>
                  <a:txBody>
                    <a:bodyPr/>
                    <a:lstStyle/>
                    <a:p>
                      <a:pPr algn="l">
                        <a:lnSpc>
                          <a:spcPts val="1875"/>
                        </a:lnSpc>
                        <a:buNone/>
                      </a:pPr>
                      <a:r>
                        <a:rPr lang="ru-RU" b="0">
                          <a:effectLst/>
                          <a:latin typeface="quote-cjk-patch"/>
                        </a:rPr>
                        <a:t>Культура</a:t>
                      </a:r>
                    </a:p>
                  </a:txBody>
                  <a:tcPr marR="121920" marT="76200" marB="76200" anchor="ctr"/>
                </a:tc>
                <a:tc>
                  <a:txBody>
                    <a:bodyPr/>
                    <a:lstStyle/>
                    <a:p>
                      <a:pPr algn="l">
                        <a:lnSpc>
                          <a:spcPts val="1875"/>
                        </a:lnSpc>
                        <a:buNone/>
                      </a:pPr>
                      <a:r>
                        <a:rPr lang="ru-RU" b="0" dirty="0">
                          <a:effectLst/>
                          <a:latin typeface="quote-cjk-patch"/>
                        </a:rPr>
                        <a:t>Признак</a:t>
                      </a:r>
                    </a:p>
                  </a:txBody>
                  <a:tcPr marL="121920" marR="121920" marT="76200" marB="76200" anchor="ctr"/>
                </a:tc>
                <a:tc>
                  <a:txBody>
                    <a:bodyPr/>
                    <a:lstStyle/>
                    <a:p>
                      <a:pPr algn="l">
                        <a:lnSpc>
                          <a:spcPts val="1875"/>
                        </a:lnSpc>
                        <a:buNone/>
                      </a:pPr>
                      <a:r>
                        <a:rPr lang="ru-RU" b="0" dirty="0">
                          <a:effectLst/>
                          <a:latin typeface="quote-cjk-patch"/>
                        </a:rPr>
                        <a:t>Базовая модель</a:t>
                      </a:r>
                    </a:p>
                  </a:txBody>
                  <a:tcPr marL="121920" marR="121920" marT="76200" marB="76200" anchor="ctr"/>
                </a:tc>
                <a:tc>
                  <a:txBody>
                    <a:bodyPr/>
                    <a:lstStyle/>
                    <a:p>
                      <a:pPr algn="l">
                        <a:lnSpc>
                          <a:spcPts val="1875"/>
                        </a:lnSpc>
                        <a:buNone/>
                      </a:pPr>
                      <a:r>
                        <a:rPr lang="ru-RU" b="0" dirty="0">
                          <a:effectLst/>
                          <a:latin typeface="quote-cjk-patch"/>
                        </a:rPr>
                        <a:t>Модифицированная</a:t>
                      </a:r>
                      <a:r>
                        <a:rPr lang="en-US" b="0" dirty="0">
                          <a:effectLst/>
                          <a:latin typeface="quote-cjk-patch"/>
                        </a:rPr>
                        <a:t> </a:t>
                      </a:r>
                      <a:r>
                        <a:rPr lang="ru-RU" b="0" dirty="0">
                          <a:effectLst/>
                          <a:latin typeface="quote-cjk-patch"/>
                        </a:rPr>
                        <a:t>модель</a:t>
                      </a:r>
                    </a:p>
                  </a:txBody>
                  <a:tcPr marL="121920" marR="121920" marT="76200" marB="76200" anchor="ctr"/>
                </a:tc>
                <a:extLst>
                  <a:ext uri="{0D108BD9-81ED-4DB2-BD59-A6C34878D82A}">
                    <a16:rowId xmlns:a16="http://schemas.microsoft.com/office/drawing/2014/main" val="2587783707"/>
                  </a:ext>
                </a:extLst>
              </a:tr>
              <a:tr h="370840">
                <a:tc rowSpan="2">
                  <a:txBody>
                    <a:bodyPr/>
                    <a:lstStyle/>
                    <a:p>
                      <a:pPr>
                        <a:lnSpc>
                          <a:spcPts val="1875"/>
                        </a:lnSpc>
                        <a:buNone/>
                      </a:pPr>
                      <a:r>
                        <a:rPr lang="ru-RU" b="0" dirty="0">
                          <a:effectLst/>
                          <a:latin typeface="quote-cjk-patch"/>
                        </a:rPr>
                        <a:t>Нут</a:t>
                      </a:r>
                    </a:p>
                  </a:txBody>
                  <a:tcPr marR="121920" marT="76200" marB="76200" anchor="ctr"/>
                </a:tc>
                <a:tc>
                  <a:txBody>
                    <a:bodyPr/>
                    <a:lstStyle/>
                    <a:p>
                      <a:pPr>
                        <a:lnSpc>
                          <a:spcPts val="1875"/>
                        </a:lnSpc>
                        <a:buNone/>
                      </a:pPr>
                      <a:r>
                        <a:rPr lang="ru-RU" b="0">
                          <a:effectLst/>
                          <a:latin typeface="quote-cjk-patch"/>
                        </a:rPr>
                        <a:t>TSW (масса семян)</a:t>
                      </a:r>
                    </a:p>
                  </a:txBody>
                  <a:tcPr marL="121920" marR="121920" marT="76200" marB="76200" anchor="ctr"/>
                </a:tc>
                <a:tc>
                  <a:txBody>
                    <a:bodyPr/>
                    <a:lstStyle/>
                    <a:p>
                      <a:pPr>
                        <a:lnSpc>
                          <a:spcPts val="1875"/>
                        </a:lnSpc>
                        <a:buNone/>
                      </a:pPr>
                      <a:r>
                        <a:rPr lang="ru-RU" b="0">
                          <a:effectLst/>
                          <a:latin typeface="quote-cjk-patch"/>
                        </a:rPr>
                        <a:t>0.910</a:t>
                      </a:r>
                    </a:p>
                  </a:txBody>
                  <a:tcPr marL="121920" marR="121920" marT="76200" marB="76200" anchor="ctr"/>
                </a:tc>
                <a:tc>
                  <a:txBody>
                    <a:bodyPr/>
                    <a:lstStyle/>
                    <a:p>
                      <a:pPr>
                        <a:lnSpc>
                          <a:spcPts val="1875"/>
                        </a:lnSpc>
                        <a:buNone/>
                      </a:pPr>
                      <a:r>
                        <a:rPr lang="ru-RU" b="0" dirty="0">
                          <a:effectLst/>
                          <a:latin typeface="+mn-lt"/>
                        </a:rPr>
                        <a:t>0.901</a:t>
                      </a:r>
                    </a:p>
                  </a:txBody>
                  <a:tcPr marL="121920" marT="76200" marB="76200" anchor="ctr"/>
                </a:tc>
                <a:extLst>
                  <a:ext uri="{0D108BD9-81ED-4DB2-BD59-A6C34878D82A}">
                    <a16:rowId xmlns:a16="http://schemas.microsoft.com/office/drawing/2014/main" val="3588137444"/>
                  </a:ext>
                </a:extLst>
              </a:tr>
              <a:tr h="370840">
                <a:tc vMerge="1">
                  <a:txBody>
                    <a:bodyPr/>
                    <a:lstStyle/>
                    <a:p>
                      <a:endParaRPr dirty="0"/>
                    </a:p>
                  </a:txBody>
                  <a:tcPr marR="121920" marT="76200" marB="76200" anchor="ctr"/>
                </a:tc>
                <a:tc>
                  <a:txBody>
                    <a:bodyPr/>
                    <a:lstStyle/>
                    <a:p>
                      <a:pPr>
                        <a:lnSpc>
                          <a:spcPts val="1875"/>
                        </a:lnSpc>
                        <a:buNone/>
                      </a:pPr>
                      <a:r>
                        <a:rPr lang="ru-RU" b="0">
                          <a:effectLst/>
                          <a:latin typeface="quote-cjk-patch"/>
                        </a:rPr>
                        <a:t>Pht (высота)</a:t>
                      </a:r>
                    </a:p>
                  </a:txBody>
                  <a:tcPr marL="121920" marR="121920" marT="76200" marB="76200" anchor="ctr"/>
                </a:tc>
                <a:tc>
                  <a:txBody>
                    <a:bodyPr/>
                    <a:lstStyle/>
                    <a:p>
                      <a:pPr>
                        <a:lnSpc>
                          <a:spcPts val="1875"/>
                        </a:lnSpc>
                        <a:buNone/>
                      </a:pPr>
                      <a:r>
                        <a:rPr lang="ru-RU" b="0" dirty="0">
                          <a:effectLst/>
                          <a:latin typeface="quote-cjk-patch"/>
                        </a:rPr>
                        <a:t>0.790</a:t>
                      </a:r>
                    </a:p>
                  </a:txBody>
                  <a:tcPr marL="121920" marR="121920" marT="76200" marB="76200" anchor="ctr"/>
                </a:tc>
                <a:tc>
                  <a:txBody>
                    <a:bodyPr/>
                    <a:lstStyle/>
                    <a:p>
                      <a:pPr>
                        <a:lnSpc>
                          <a:spcPts val="1875"/>
                        </a:lnSpc>
                        <a:buNone/>
                      </a:pPr>
                      <a:r>
                        <a:rPr lang="ru-RU" b="0" dirty="0">
                          <a:effectLst/>
                          <a:latin typeface="quote-cjk-patch"/>
                        </a:rPr>
                        <a:t>0.773</a:t>
                      </a:r>
                    </a:p>
                  </a:txBody>
                  <a:tcPr marL="121920" marT="76200" marB="76200" anchor="ctr"/>
                </a:tc>
                <a:extLst>
                  <a:ext uri="{0D108BD9-81ED-4DB2-BD59-A6C34878D82A}">
                    <a16:rowId xmlns:a16="http://schemas.microsoft.com/office/drawing/2014/main" val="2817191923"/>
                  </a:ext>
                </a:extLst>
              </a:tr>
              <a:tr h="370840">
                <a:tc rowSpan="2">
                  <a:txBody>
                    <a:bodyPr/>
                    <a:lstStyle/>
                    <a:p>
                      <a:pPr>
                        <a:lnSpc>
                          <a:spcPts val="1875"/>
                        </a:lnSpc>
                        <a:buNone/>
                      </a:pPr>
                      <a:r>
                        <a:rPr lang="ru-RU" b="0" dirty="0">
                          <a:effectLst/>
                          <a:latin typeface="quote-cjk-patch"/>
                        </a:rPr>
                        <a:t>Рис</a:t>
                      </a:r>
                    </a:p>
                  </a:txBody>
                  <a:tcPr marR="121920" marT="76200" marB="76200" anchor="ctr"/>
                </a:tc>
                <a:tc>
                  <a:txBody>
                    <a:bodyPr/>
                    <a:lstStyle/>
                    <a:p>
                      <a:pPr>
                        <a:lnSpc>
                          <a:spcPts val="1875"/>
                        </a:lnSpc>
                        <a:buNone/>
                      </a:pPr>
                      <a:r>
                        <a:rPr lang="ru-RU" b="0">
                          <a:effectLst/>
                          <a:latin typeface="quote-cjk-patch"/>
                        </a:rPr>
                        <a:t>Plant height</a:t>
                      </a:r>
                    </a:p>
                  </a:txBody>
                  <a:tcPr marL="121920" marR="121920" marT="76200" marB="76200" anchor="ctr"/>
                </a:tc>
                <a:tc>
                  <a:txBody>
                    <a:bodyPr/>
                    <a:lstStyle/>
                    <a:p>
                      <a:pPr>
                        <a:lnSpc>
                          <a:spcPts val="1875"/>
                        </a:lnSpc>
                        <a:buNone/>
                      </a:pPr>
                      <a:r>
                        <a:rPr lang="ru-RU" b="0" dirty="0">
                          <a:effectLst/>
                          <a:latin typeface="quote-cjk-patch"/>
                        </a:rPr>
                        <a:t>0.847</a:t>
                      </a:r>
                    </a:p>
                  </a:txBody>
                  <a:tcPr marL="121920" marR="121920" marT="76200" marB="76200" anchor="ctr"/>
                </a:tc>
                <a:tc>
                  <a:txBody>
                    <a:bodyPr/>
                    <a:lstStyle/>
                    <a:p>
                      <a:pPr>
                        <a:lnSpc>
                          <a:spcPts val="1875"/>
                        </a:lnSpc>
                        <a:buNone/>
                      </a:pPr>
                      <a:r>
                        <a:rPr lang="ru-RU" b="0" dirty="0">
                          <a:effectLst/>
                          <a:latin typeface="quote-cjk-patch"/>
                        </a:rPr>
                        <a:t>0.830</a:t>
                      </a:r>
                    </a:p>
                  </a:txBody>
                  <a:tcPr marL="121920" marT="76200" marB="76200" anchor="ctr"/>
                </a:tc>
                <a:extLst>
                  <a:ext uri="{0D108BD9-81ED-4DB2-BD59-A6C34878D82A}">
                    <a16:rowId xmlns:a16="http://schemas.microsoft.com/office/drawing/2014/main" val="726233342"/>
                  </a:ext>
                </a:extLst>
              </a:tr>
              <a:tr h="370840">
                <a:tc vMerge="1">
                  <a:txBody>
                    <a:bodyPr/>
                    <a:lstStyle/>
                    <a:p>
                      <a:pPr>
                        <a:lnSpc>
                          <a:spcPts val="1875"/>
                        </a:lnSpc>
                        <a:buNone/>
                      </a:pPr>
                      <a:endParaRPr lang="ru-RU" b="0" dirty="0">
                        <a:effectLst/>
                        <a:latin typeface="quote-cjk-patch"/>
                      </a:endParaRPr>
                    </a:p>
                  </a:txBody>
                  <a:tcPr marR="121920" marT="76200" marB="76200" anchor="ctr"/>
                </a:tc>
                <a:tc>
                  <a:txBody>
                    <a:bodyPr/>
                    <a:lstStyle/>
                    <a:p>
                      <a:pPr>
                        <a:lnSpc>
                          <a:spcPts val="1875"/>
                        </a:lnSpc>
                        <a:buNone/>
                      </a:pPr>
                      <a:r>
                        <a:rPr lang="ru-RU" b="0">
                          <a:effectLst/>
                          <a:latin typeface="quote-cjk-patch"/>
                        </a:rPr>
                        <a:t>Tiller number</a:t>
                      </a:r>
                    </a:p>
                  </a:txBody>
                  <a:tcPr marL="121920" marR="121920" marT="76200" marB="76200" anchor="ctr"/>
                </a:tc>
                <a:tc>
                  <a:txBody>
                    <a:bodyPr/>
                    <a:lstStyle/>
                    <a:p>
                      <a:pPr>
                        <a:lnSpc>
                          <a:spcPts val="1875"/>
                        </a:lnSpc>
                        <a:buNone/>
                      </a:pPr>
                      <a:r>
                        <a:rPr lang="ru-RU" b="0">
                          <a:effectLst/>
                          <a:latin typeface="quote-cjk-patch"/>
                        </a:rPr>
                        <a:t>0.600</a:t>
                      </a:r>
                    </a:p>
                  </a:txBody>
                  <a:tcPr marL="121920" marR="121920" marT="76200" marB="76200" anchor="ctr"/>
                </a:tc>
                <a:tc>
                  <a:txBody>
                    <a:bodyPr/>
                    <a:lstStyle/>
                    <a:p>
                      <a:pPr>
                        <a:lnSpc>
                          <a:spcPts val="1875"/>
                        </a:lnSpc>
                        <a:buNone/>
                      </a:pPr>
                      <a:r>
                        <a:rPr lang="ru-RU" b="0" dirty="0">
                          <a:effectLst/>
                          <a:latin typeface="quote-cjk-patch"/>
                        </a:rPr>
                        <a:t>0.576</a:t>
                      </a:r>
                    </a:p>
                  </a:txBody>
                  <a:tcPr marL="121920" marT="76200" marB="76200" anchor="ctr"/>
                </a:tc>
                <a:extLst>
                  <a:ext uri="{0D108BD9-81ED-4DB2-BD59-A6C34878D82A}">
                    <a16:rowId xmlns:a16="http://schemas.microsoft.com/office/drawing/2014/main" val="3124043222"/>
                  </a:ext>
                </a:extLst>
              </a:tr>
            </a:tbl>
          </a:graphicData>
        </a:graphic>
      </p:graphicFrame>
    </p:spTree>
    <p:extLst>
      <p:ext uri="{BB962C8B-B14F-4D97-AF65-F5344CB8AC3E}">
        <p14:creationId xmlns:p14="http://schemas.microsoft.com/office/powerpoint/2010/main" val="5649009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588072-9626-27B5-0029-CF1AABFCC5DA}"/>
              </a:ext>
            </a:extLst>
          </p:cNvPr>
          <p:cNvSpPr>
            <a:spLocks noGrp="1"/>
          </p:cNvSpPr>
          <p:nvPr>
            <p:ph type="title"/>
          </p:nvPr>
        </p:nvSpPr>
        <p:spPr/>
        <p:txBody>
          <a:bodyPr>
            <a:normAutofit/>
          </a:bodyPr>
          <a:lstStyle/>
          <a:p>
            <a:r>
              <a:rPr lang="ru-RU" b="1" dirty="0"/>
              <a:t>Сложность модели и оптимизация</a:t>
            </a:r>
            <a:endParaRPr lang="ru-RU" dirty="0"/>
          </a:p>
        </p:txBody>
      </p:sp>
      <p:sp>
        <p:nvSpPr>
          <p:cNvPr id="3" name="Номер слайда 2">
            <a:extLst>
              <a:ext uri="{FF2B5EF4-FFF2-40B4-BE49-F238E27FC236}">
                <a16:creationId xmlns:a16="http://schemas.microsoft.com/office/drawing/2014/main" id="{F3251566-1D5E-626B-746F-1EC24ED44856}"/>
              </a:ext>
            </a:extLst>
          </p:cNvPr>
          <p:cNvSpPr>
            <a:spLocks noGrp="1"/>
          </p:cNvSpPr>
          <p:nvPr>
            <p:ph type="sldNum" sz="quarter" idx="12"/>
          </p:nvPr>
        </p:nvSpPr>
        <p:spPr/>
        <p:txBody>
          <a:bodyPr/>
          <a:lstStyle/>
          <a:p>
            <a:fld id="{B19B0651-EE4F-4900-A07F-96A6BFA9D0F0}" type="slidenum">
              <a:rPr lang="ru-RU" smtClean="0"/>
              <a:pPr/>
              <a:t>31</a:t>
            </a:fld>
            <a:endParaRPr lang="ru-RU" dirty="0"/>
          </a:p>
        </p:txBody>
      </p:sp>
      <p:sp>
        <p:nvSpPr>
          <p:cNvPr id="4" name="Объект 3">
            <a:extLst>
              <a:ext uri="{FF2B5EF4-FFF2-40B4-BE49-F238E27FC236}">
                <a16:creationId xmlns:a16="http://schemas.microsoft.com/office/drawing/2014/main" id="{33C3DA4C-FAD7-F542-1B85-EC618C2FE858}"/>
              </a:ext>
            </a:extLst>
          </p:cNvPr>
          <p:cNvSpPr>
            <a:spLocks noGrp="1"/>
          </p:cNvSpPr>
          <p:nvPr>
            <p:ph sz="quarter" idx="1"/>
          </p:nvPr>
        </p:nvSpPr>
        <p:spPr>
          <a:xfrm>
            <a:off x="609600" y="1200574"/>
            <a:ext cx="10972800" cy="4937760"/>
          </a:xfrm>
        </p:spPr>
        <p:txBody>
          <a:bodyPr/>
          <a:lstStyle/>
          <a:p>
            <a:r>
              <a:rPr lang="ru-RU" b="1" dirty="0"/>
              <a:t>Проблема:</a:t>
            </a:r>
            <a:r>
              <a:rPr lang="ru-RU" dirty="0"/>
              <a:t> трансформеры требуют много памяти и времени.</a:t>
            </a:r>
          </a:p>
          <a:p>
            <a:r>
              <a:rPr lang="ru-RU" b="1" dirty="0"/>
              <a:t>Решение:</a:t>
            </a:r>
            <a:r>
              <a:rPr lang="ru-RU" dirty="0"/>
              <a:t> компактная конфигурация</a:t>
            </a:r>
          </a:p>
          <a:p>
            <a:endParaRPr lang="ru-RU" dirty="0"/>
          </a:p>
        </p:txBody>
      </p:sp>
      <p:graphicFrame>
        <p:nvGraphicFramePr>
          <p:cNvPr id="5" name="Таблица 4">
            <a:extLst>
              <a:ext uri="{FF2B5EF4-FFF2-40B4-BE49-F238E27FC236}">
                <a16:creationId xmlns:a16="http://schemas.microsoft.com/office/drawing/2014/main" id="{2F0CAF4F-415E-5662-C16F-5C5E20B49F43}"/>
              </a:ext>
            </a:extLst>
          </p:cNvPr>
          <p:cNvGraphicFramePr>
            <a:graphicFrameLocks noGrp="1"/>
          </p:cNvGraphicFramePr>
          <p:nvPr>
            <p:extLst>
              <p:ext uri="{D42A27DB-BD31-4B8C-83A1-F6EECF244321}">
                <p14:modId xmlns:p14="http://schemas.microsoft.com/office/powerpoint/2010/main" val="4201183695"/>
              </p:ext>
            </p:extLst>
          </p:nvPr>
        </p:nvGraphicFramePr>
        <p:xfrm>
          <a:off x="7261920" y="2204864"/>
          <a:ext cx="4320480" cy="1968500"/>
        </p:xfrm>
        <a:graphic>
          <a:graphicData uri="http://schemas.openxmlformats.org/drawingml/2006/table">
            <a:tbl>
              <a:tblPr firstRow="1" bandRow="1">
                <a:tableStyleId>{5C22544A-7EE6-4342-B048-85BDC9FD1C3A}</a:tableStyleId>
              </a:tblPr>
              <a:tblGrid>
                <a:gridCol w="3096344">
                  <a:extLst>
                    <a:ext uri="{9D8B030D-6E8A-4147-A177-3AD203B41FA5}">
                      <a16:colId xmlns:a16="http://schemas.microsoft.com/office/drawing/2014/main" val="3767300058"/>
                    </a:ext>
                  </a:extLst>
                </a:gridCol>
                <a:gridCol w="1224136">
                  <a:extLst>
                    <a:ext uri="{9D8B030D-6E8A-4147-A177-3AD203B41FA5}">
                      <a16:colId xmlns:a16="http://schemas.microsoft.com/office/drawing/2014/main" val="544421712"/>
                    </a:ext>
                  </a:extLst>
                </a:gridCol>
              </a:tblGrid>
              <a:tr h="370840">
                <a:tc>
                  <a:txBody>
                    <a:bodyPr/>
                    <a:lstStyle/>
                    <a:p>
                      <a:pPr algn="l">
                        <a:lnSpc>
                          <a:spcPts val="1875"/>
                        </a:lnSpc>
                        <a:buNone/>
                      </a:pPr>
                      <a:r>
                        <a:rPr lang="ru-RU" b="1">
                          <a:effectLst/>
                          <a:latin typeface="quote-cjk-patch"/>
                        </a:rPr>
                        <a:t>Параметр</a:t>
                      </a:r>
                    </a:p>
                  </a:txBody>
                  <a:tcPr marR="121920" marT="76200" marB="76200" anchor="ctr"/>
                </a:tc>
                <a:tc>
                  <a:txBody>
                    <a:bodyPr/>
                    <a:lstStyle/>
                    <a:p>
                      <a:pPr algn="l">
                        <a:lnSpc>
                          <a:spcPts val="1875"/>
                        </a:lnSpc>
                        <a:buNone/>
                      </a:pPr>
                      <a:r>
                        <a:rPr lang="ru-RU" b="1" dirty="0">
                          <a:effectLst/>
                          <a:latin typeface="quote-cjk-patch"/>
                        </a:rPr>
                        <a:t>Значение</a:t>
                      </a:r>
                    </a:p>
                  </a:txBody>
                  <a:tcPr marL="121920" marR="121920" marT="76200" marB="76200" anchor="ctr"/>
                </a:tc>
                <a:extLst>
                  <a:ext uri="{0D108BD9-81ED-4DB2-BD59-A6C34878D82A}">
                    <a16:rowId xmlns:a16="http://schemas.microsoft.com/office/drawing/2014/main" val="873570854"/>
                  </a:ext>
                </a:extLst>
              </a:tr>
              <a:tr h="370840">
                <a:tc>
                  <a:txBody>
                    <a:bodyPr/>
                    <a:lstStyle/>
                    <a:p>
                      <a:pPr>
                        <a:lnSpc>
                          <a:spcPts val="1875"/>
                        </a:lnSpc>
                        <a:buNone/>
                      </a:pPr>
                      <a:r>
                        <a:rPr lang="ru-RU" b="0">
                          <a:effectLst/>
                          <a:latin typeface="quote-cjk-patch"/>
                        </a:rPr>
                        <a:t>Размерность эмбеддинга (d)</a:t>
                      </a:r>
                    </a:p>
                  </a:txBody>
                  <a:tcPr marR="121920" marT="76200" marB="76200" anchor="ctr"/>
                </a:tc>
                <a:tc>
                  <a:txBody>
                    <a:bodyPr/>
                    <a:lstStyle/>
                    <a:p>
                      <a:pPr>
                        <a:lnSpc>
                          <a:spcPts val="1875"/>
                        </a:lnSpc>
                        <a:buNone/>
                      </a:pPr>
                      <a:r>
                        <a:rPr lang="ru-RU" b="0" dirty="0">
                          <a:effectLst/>
                          <a:latin typeface="quote-cjk-patch"/>
                        </a:rPr>
                        <a:t>48</a:t>
                      </a:r>
                    </a:p>
                  </a:txBody>
                  <a:tcPr marL="121920" marT="76200" marB="76200" anchor="ctr"/>
                </a:tc>
                <a:extLst>
                  <a:ext uri="{0D108BD9-81ED-4DB2-BD59-A6C34878D82A}">
                    <a16:rowId xmlns:a16="http://schemas.microsoft.com/office/drawing/2014/main" val="3001258398"/>
                  </a:ext>
                </a:extLst>
              </a:tr>
              <a:tr h="370840">
                <a:tc>
                  <a:txBody>
                    <a:bodyPr/>
                    <a:lstStyle/>
                    <a:p>
                      <a:pPr>
                        <a:lnSpc>
                          <a:spcPts val="1875"/>
                        </a:lnSpc>
                        <a:buNone/>
                      </a:pPr>
                      <a:r>
                        <a:rPr lang="ru-RU" b="0">
                          <a:effectLst/>
                          <a:latin typeface="quote-cjk-patch"/>
                        </a:rPr>
                        <a:t>Слоёв трансформера (L)</a:t>
                      </a:r>
                    </a:p>
                  </a:txBody>
                  <a:tcPr marR="121920" marT="76200" marB="76200" anchor="ctr"/>
                </a:tc>
                <a:tc>
                  <a:txBody>
                    <a:bodyPr/>
                    <a:lstStyle/>
                    <a:p>
                      <a:pPr>
                        <a:lnSpc>
                          <a:spcPts val="1875"/>
                        </a:lnSpc>
                        <a:buNone/>
                      </a:pPr>
                      <a:r>
                        <a:rPr lang="ru-RU" b="0">
                          <a:effectLst/>
                          <a:latin typeface="quote-cjk-patch"/>
                        </a:rPr>
                        <a:t>4</a:t>
                      </a:r>
                    </a:p>
                  </a:txBody>
                  <a:tcPr marL="121920" marT="76200" marB="76200" anchor="ctr"/>
                </a:tc>
                <a:extLst>
                  <a:ext uri="{0D108BD9-81ED-4DB2-BD59-A6C34878D82A}">
                    <a16:rowId xmlns:a16="http://schemas.microsoft.com/office/drawing/2014/main" val="908093173"/>
                  </a:ext>
                </a:extLst>
              </a:tr>
              <a:tr h="370840">
                <a:tc>
                  <a:txBody>
                    <a:bodyPr/>
                    <a:lstStyle/>
                    <a:p>
                      <a:pPr>
                        <a:lnSpc>
                          <a:spcPts val="1875"/>
                        </a:lnSpc>
                        <a:buNone/>
                      </a:pPr>
                      <a:r>
                        <a:rPr lang="ru-RU" b="0">
                          <a:effectLst/>
                          <a:latin typeface="quote-cjk-patch"/>
                        </a:rPr>
                        <a:t>Голов внимания (h)</a:t>
                      </a:r>
                    </a:p>
                  </a:txBody>
                  <a:tcPr marR="121920" marT="76200" marB="76200" anchor="ctr"/>
                </a:tc>
                <a:tc>
                  <a:txBody>
                    <a:bodyPr/>
                    <a:lstStyle/>
                    <a:p>
                      <a:pPr>
                        <a:lnSpc>
                          <a:spcPts val="1875"/>
                        </a:lnSpc>
                        <a:buNone/>
                      </a:pPr>
                      <a:r>
                        <a:rPr lang="ru-RU" b="0">
                          <a:effectLst/>
                          <a:latin typeface="quote-cjk-patch"/>
                        </a:rPr>
                        <a:t>4</a:t>
                      </a:r>
                    </a:p>
                  </a:txBody>
                  <a:tcPr marL="121920" marT="76200" marB="76200" anchor="ctr"/>
                </a:tc>
                <a:extLst>
                  <a:ext uri="{0D108BD9-81ED-4DB2-BD59-A6C34878D82A}">
                    <a16:rowId xmlns:a16="http://schemas.microsoft.com/office/drawing/2014/main" val="35703953"/>
                  </a:ext>
                </a:extLst>
              </a:tr>
              <a:tr h="370840">
                <a:tc>
                  <a:txBody>
                    <a:bodyPr/>
                    <a:lstStyle/>
                    <a:p>
                      <a:pPr>
                        <a:lnSpc>
                          <a:spcPts val="1875"/>
                        </a:lnSpc>
                        <a:buNone/>
                      </a:pPr>
                      <a:r>
                        <a:rPr lang="ru-RU" b="0">
                          <a:effectLst/>
                          <a:latin typeface="quote-cjk-patch"/>
                        </a:rPr>
                        <a:t>Размер FFN (d_ff)</a:t>
                      </a:r>
                    </a:p>
                  </a:txBody>
                  <a:tcPr marR="121920" marT="76200" marB="76200" anchor="ctr"/>
                </a:tc>
                <a:tc>
                  <a:txBody>
                    <a:bodyPr/>
                    <a:lstStyle/>
                    <a:p>
                      <a:pPr>
                        <a:lnSpc>
                          <a:spcPts val="1875"/>
                        </a:lnSpc>
                        <a:buNone/>
                      </a:pPr>
                      <a:r>
                        <a:rPr lang="ru-RU" b="0" dirty="0">
                          <a:effectLst/>
                          <a:latin typeface="quote-cjk-patch"/>
                        </a:rPr>
                        <a:t>128</a:t>
                      </a:r>
                    </a:p>
                  </a:txBody>
                  <a:tcPr marL="121920" marT="76200" marB="76200" anchor="ctr"/>
                </a:tc>
                <a:extLst>
                  <a:ext uri="{0D108BD9-81ED-4DB2-BD59-A6C34878D82A}">
                    <a16:rowId xmlns:a16="http://schemas.microsoft.com/office/drawing/2014/main" val="4246948520"/>
                  </a:ext>
                </a:extLst>
              </a:tr>
            </a:tbl>
          </a:graphicData>
        </a:graphic>
      </p:graphicFrame>
      <p:sp>
        <p:nvSpPr>
          <p:cNvPr id="9" name="TextBox 8">
            <a:extLst>
              <a:ext uri="{FF2B5EF4-FFF2-40B4-BE49-F238E27FC236}">
                <a16:creationId xmlns:a16="http://schemas.microsoft.com/office/drawing/2014/main" id="{439632B7-432A-C2E0-54B2-D99606A8BD4C}"/>
              </a:ext>
            </a:extLst>
          </p:cNvPr>
          <p:cNvSpPr txBox="1"/>
          <p:nvPr/>
        </p:nvSpPr>
        <p:spPr>
          <a:xfrm>
            <a:off x="609600" y="2411838"/>
            <a:ext cx="6422504" cy="3139321"/>
          </a:xfrm>
          <a:prstGeom prst="rect">
            <a:avLst/>
          </a:prstGeom>
          <a:noFill/>
        </p:spPr>
        <p:txBody>
          <a:bodyPr wrap="square">
            <a:spAutoFit/>
          </a:bodyPr>
          <a:lstStyle/>
          <a:p>
            <a:r>
              <a:rPr lang="ru-RU" dirty="0"/>
              <a:t>Общее число параметров: ~80 млн</a:t>
            </a:r>
          </a:p>
          <a:p>
            <a:endParaRPr lang="ru-RU" dirty="0"/>
          </a:p>
          <a:p>
            <a:r>
              <a:rPr lang="ru-RU" dirty="0"/>
              <a:t>Распределение:</a:t>
            </a:r>
          </a:p>
          <a:p>
            <a:endParaRPr lang="ru-RU" dirty="0"/>
          </a:p>
          <a:p>
            <a:r>
              <a:rPr lang="ru-RU" dirty="0"/>
              <a:t>Прогнозирование: 26.2M (32%)</a:t>
            </a:r>
          </a:p>
          <a:p>
            <a:endParaRPr lang="ru-RU" dirty="0"/>
          </a:p>
          <a:p>
            <a:r>
              <a:rPr lang="ru-RU" dirty="0"/>
              <a:t>Реконструкция: 54.5M (68%) — отключается на </a:t>
            </a:r>
            <a:r>
              <a:rPr lang="ru-RU" dirty="0" err="1"/>
              <a:t>инференсе</a:t>
            </a:r>
            <a:endParaRPr lang="ru-RU" dirty="0"/>
          </a:p>
          <a:p>
            <a:endParaRPr lang="ru-RU" dirty="0"/>
          </a:p>
          <a:p>
            <a:r>
              <a:rPr lang="ru-RU" dirty="0"/>
              <a:t>Кодирование + трансформер: ~0.2M (0.2%)</a:t>
            </a:r>
          </a:p>
          <a:p>
            <a:endParaRPr lang="ru-RU" dirty="0"/>
          </a:p>
          <a:p>
            <a:r>
              <a:rPr lang="ru-RU" dirty="0"/>
              <a:t>Время обучения (рапс, </a:t>
            </a:r>
            <a:r>
              <a:rPr lang="en-US" dirty="0"/>
              <a:t>2</a:t>
            </a:r>
            <a:r>
              <a:rPr lang="ru-RU" dirty="0"/>
              <a:t>000 генов): ~2–3 часа на GPU</a:t>
            </a:r>
          </a:p>
        </p:txBody>
      </p:sp>
    </p:spTree>
    <p:extLst>
      <p:ext uri="{BB962C8B-B14F-4D97-AF65-F5344CB8AC3E}">
        <p14:creationId xmlns:p14="http://schemas.microsoft.com/office/powerpoint/2010/main" val="36287925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42F823-6BA8-AA73-5F96-1C485C358673}"/>
              </a:ext>
            </a:extLst>
          </p:cNvPr>
          <p:cNvSpPr>
            <a:spLocks noGrp="1"/>
          </p:cNvSpPr>
          <p:nvPr>
            <p:ph type="title"/>
          </p:nvPr>
        </p:nvSpPr>
        <p:spPr/>
        <p:txBody>
          <a:bodyPr/>
          <a:lstStyle/>
          <a:p>
            <a:endParaRPr lang="ru-RU" dirty="0"/>
          </a:p>
        </p:txBody>
      </p:sp>
      <p:sp>
        <p:nvSpPr>
          <p:cNvPr id="3" name="Номер слайда 2">
            <a:extLst>
              <a:ext uri="{FF2B5EF4-FFF2-40B4-BE49-F238E27FC236}">
                <a16:creationId xmlns:a16="http://schemas.microsoft.com/office/drawing/2014/main" id="{769A5832-480F-6AA2-6027-670DDB7E333E}"/>
              </a:ext>
            </a:extLst>
          </p:cNvPr>
          <p:cNvSpPr>
            <a:spLocks noGrp="1"/>
          </p:cNvSpPr>
          <p:nvPr>
            <p:ph type="sldNum" sz="quarter" idx="12"/>
          </p:nvPr>
        </p:nvSpPr>
        <p:spPr/>
        <p:txBody>
          <a:bodyPr/>
          <a:lstStyle/>
          <a:p>
            <a:fld id="{B19B0651-EE4F-4900-A07F-96A6BFA9D0F0}" type="slidenum">
              <a:rPr lang="ru-RU" smtClean="0"/>
              <a:pPr/>
              <a:t>32</a:t>
            </a:fld>
            <a:endParaRPr lang="ru-RU" dirty="0"/>
          </a:p>
        </p:txBody>
      </p:sp>
      <mc:AlternateContent xmlns:mc="http://schemas.openxmlformats.org/markup-compatibility/2006" xmlns:a14="http://schemas.microsoft.com/office/drawing/2010/main">
        <mc:Choice Requires="a14">
          <p:sp>
            <p:nvSpPr>
              <p:cNvPr id="5" name="Объект 6">
                <a:extLst>
                  <a:ext uri="{FF2B5EF4-FFF2-40B4-BE49-F238E27FC236}">
                    <a16:creationId xmlns:a16="http://schemas.microsoft.com/office/drawing/2014/main" id="{0166A36A-73B5-F971-AFC6-9CFFF3BD4A60}"/>
                  </a:ext>
                </a:extLst>
              </p:cNvPr>
              <p:cNvSpPr txBox="1">
                <a:spLocks noGrp="1"/>
              </p:cNvSpPr>
              <p:nvPr>
                <p:ph sz="quarter" idx="1"/>
              </p:nvPr>
            </p:nvSpPr>
            <p:spPr>
              <a:xfrm>
                <a:off x="609600" y="1219200"/>
                <a:ext cx="10972800" cy="4937125"/>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ru-RU" sz="3200" b="1" dirty="0"/>
                  <a:t>Пример</a:t>
                </a:r>
                <a:r>
                  <a:rPr lang="en-US" sz="3200" b="1" dirty="0"/>
                  <a:t>:</a:t>
                </a:r>
              </a:p>
              <a:p>
                <a:r>
                  <a:rPr lang="ru-RU" sz="3200" b="1" dirty="0"/>
                  <a:t>Вход:</a:t>
                </a:r>
                <a:r>
                  <a:rPr lang="ru-RU" sz="3200" dirty="0"/>
                  <a:t> </a:t>
                </a:r>
                <a:r>
                  <a:rPr lang="en-US" sz="3200" dirty="0"/>
                  <a:t> </a:t>
                </a:r>
                <a14:m>
                  <m:oMath xmlns:m="http://schemas.openxmlformats.org/officeDocument/2006/math">
                    <m:r>
                      <a:rPr lang="en-US" sz="3200">
                        <a:latin typeface="Cambria Math" panose="02040503050406030204" pitchFamily="18" charset="0"/>
                      </a:rPr>
                      <m:t>[</m:t>
                    </m:r>
                    <m:r>
                      <a:rPr lang="ru-RU" sz="3200">
                        <a:latin typeface="Cambria Math" panose="02040503050406030204" pitchFamily="18" charset="0"/>
                      </a:rPr>
                      <m:t>0.9</m:t>
                    </m:r>
                    <m:r>
                      <a:rPr lang="en-US" sz="3200">
                        <a:latin typeface="Cambria Math" panose="02040503050406030204" pitchFamily="18" charset="0"/>
                      </a:rPr>
                      <m:t>, 0.45, 0.6]</m:t>
                    </m:r>
                  </m:oMath>
                </a14:m>
                <a:r>
                  <a:rPr lang="ru-RU" sz="3200" dirty="0"/>
                  <a:t>— три SNP</a:t>
                </a:r>
              </a:p>
              <a:p>
                <a:r>
                  <a:rPr lang="ru-RU" sz="3200" b="1" dirty="0"/>
                  <a:t>После проекции:</a:t>
                </a:r>
                <a:br>
                  <a:rPr lang="ru-RU" sz="3200" dirty="0"/>
                </a:br>
                <a:r>
                  <a:rPr lang="ru-RU" sz="3200" dirty="0"/>
                  <a:t>(</a:t>
                </a:r>
                <a14:m>
                  <m:oMath xmlns:m="http://schemas.openxmlformats.org/officeDocument/2006/math">
                    <m:sSub>
                      <m:sSubPr>
                        <m:ctrlPr>
                          <a:rPr lang="ru-RU" sz="3200" i="1">
                            <a:latin typeface="Cambria Math" panose="02040503050406030204" pitchFamily="18" charset="0"/>
                          </a:rPr>
                        </m:ctrlPr>
                      </m:sSubPr>
                      <m:e>
                        <m:r>
                          <a:rPr lang="ru-RU" sz="3200" i="1">
                            <a:latin typeface="Cambria Math" panose="02040503050406030204" pitchFamily="18" charset="0"/>
                          </a:rPr>
                          <m:t>𝑤</m:t>
                        </m:r>
                      </m:e>
                      <m:sub>
                        <m:r>
                          <m:rPr>
                            <m:nor/>
                          </m:rPr>
                          <a:rPr lang="ru-RU" sz="3200" i="1"/>
                          <m:t>snp</m:t>
                        </m:r>
                      </m:sub>
                    </m:sSub>
                    <m:r>
                      <a:rPr lang="ru-RU" sz="3200">
                        <a:latin typeface="Cambria Math" panose="02040503050406030204" pitchFamily="18" charset="0"/>
                      </a:rPr>
                      <m:t>=</m:t>
                    </m:r>
                    <m:r>
                      <a:rPr lang="en-US" sz="3200" b="0" i="1" smtClean="0">
                        <a:latin typeface="Cambria Math" panose="02040503050406030204" pitchFamily="18" charset="0"/>
                      </a:rPr>
                      <m:t>[0.2, 0.5, 0.1]</m:t>
                    </m:r>
                  </m:oMath>
                </a14:m>
                <a:r>
                  <a:rPr lang="ru-RU" sz="3200" dirty="0"/>
                  <a:t>, размерность </a:t>
                </a:r>
                <a14:m>
                  <m:oMath xmlns:m="http://schemas.openxmlformats.org/officeDocument/2006/math">
                    <m:r>
                      <a:rPr lang="ru-RU" sz="3200" i="1">
                        <a:latin typeface="Cambria Math" panose="02040503050406030204" pitchFamily="18" charset="0"/>
                      </a:rPr>
                      <m:t>𝑑</m:t>
                    </m:r>
                    <m:r>
                      <a:rPr lang="ru-RU" sz="3200">
                        <a:latin typeface="Cambria Math" panose="02040503050406030204" pitchFamily="18" charset="0"/>
                      </a:rPr>
                      <m:t>=3</m:t>
                    </m:r>
                  </m:oMath>
                </a14:m>
                <a:r>
                  <a:rPr lang="ru-RU" sz="3200" dirty="0"/>
                  <a:t>)</a:t>
                </a:r>
              </a:p>
              <a:p>
                <a:pPr lvl="1"/>
                <a14:m>
                  <m:oMath xmlns:m="http://schemas.openxmlformats.org/officeDocument/2006/math">
                    <m:sSub>
                      <m:sSubPr>
                        <m:ctrlPr>
                          <a:rPr lang="ru-RU" sz="3200" i="1">
                            <a:latin typeface="Cambria Math" panose="02040503050406030204" pitchFamily="18" charset="0"/>
                          </a:rPr>
                        </m:ctrlPr>
                      </m:sSubPr>
                      <m:e>
                        <m:r>
                          <a:rPr lang="ru-RU" sz="3200" i="1">
                            <a:latin typeface="Cambria Math" panose="02040503050406030204" pitchFamily="18" charset="0"/>
                          </a:rPr>
                          <m:t>h</m:t>
                        </m:r>
                      </m:e>
                      <m:sub>
                        <m:r>
                          <a:rPr lang="ru-RU" sz="3200">
                            <a:latin typeface="Cambria Math" panose="02040503050406030204" pitchFamily="18" charset="0"/>
                          </a:rPr>
                          <m:t>1</m:t>
                        </m:r>
                      </m:sub>
                    </m:sSub>
                    <m:r>
                      <a:rPr lang="ru-RU" sz="3200">
                        <a:latin typeface="Cambria Math" panose="02040503050406030204" pitchFamily="18" charset="0"/>
                      </a:rPr>
                      <m:t>=</m:t>
                    </m:r>
                    <m:r>
                      <a:rPr lang="en-US" sz="3200" b="0" i="1" smtClean="0">
                        <a:latin typeface="Cambria Math" panose="02040503050406030204" pitchFamily="18" charset="0"/>
                      </a:rPr>
                      <m:t>[0.18, 0.45, 0.09]</m:t>
                    </m:r>
                    <m:r>
                      <a:rPr lang="ru-RU" sz="3200">
                        <a:latin typeface="Cambria Math" panose="02040503050406030204" pitchFamily="18" charset="0"/>
                      </a:rPr>
                      <m:t>, </m:t>
                    </m:r>
                  </m:oMath>
                </a14:m>
                <a:endParaRPr lang="ru-RU" sz="3200" dirty="0"/>
              </a:p>
              <a:p>
                <a:pPr lvl="1"/>
                <a14:m>
                  <m:oMath xmlns:m="http://schemas.openxmlformats.org/officeDocument/2006/math">
                    <m:sSub>
                      <m:sSubPr>
                        <m:ctrlPr>
                          <a:rPr lang="ru-RU" sz="3200" i="1">
                            <a:latin typeface="Cambria Math" panose="02040503050406030204" pitchFamily="18" charset="0"/>
                          </a:rPr>
                        </m:ctrlPr>
                      </m:sSubPr>
                      <m:e>
                        <m:r>
                          <a:rPr lang="ru-RU" sz="3200" i="1">
                            <a:latin typeface="Cambria Math" panose="02040503050406030204" pitchFamily="18" charset="0"/>
                          </a:rPr>
                          <m:t>h</m:t>
                        </m:r>
                      </m:e>
                      <m:sub>
                        <m:r>
                          <a:rPr lang="ru-RU" sz="3200">
                            <a:latin typeface="Cambria Math" panose="02040503050406030204" pitchFamily="18" charset="0"/>
                          </a:rPr>
                          <m:t>2</m:t>
                        </m:r>
                      </m:sub>
                    </m:sSub>
                    <m:r>
                      <a:rPr lang="ru-RU" sz="3200" b="0" i="1" smtClean="0">
                        <a:latin typeface="Cambria Math" panose="02040503050406030204" pitchFamily="18" charset="0"/>
                      </a:rPr>
                      <m:t>=</m:t>
                    </m:r>
                    <m:r>
                      <a:rPr lang="en-US" sz="3200" b="0" i="1" smtClean="0">
                        <a:latin typeface="Cambria Math" panose="02040503050406030204" pitchFamily="18" charset="0"/>
                      </a:rPr>
                      <m:t>[0.09, 0.225, 0.045</m:t>
                    </m:r>
                    <m:r>
                      <a:rPr lang="en-US" sz="3200" b="0" i="0" smtClean="0">
                        <a:latin typeface="Cambria Math" panose="02040503050406030204" pitchFamily="18" charset="0"/>
                      </a:rPr>
                      <m:t>]</m:t>
                    </m:r>
                    <m:r>
                      <a:rPr lang="ru-RU" sz="3200">
                        <a:latin typeface="Cambria Math" panose="02040503050406030204" pitchFamily="18" charset="0"/>
                      </a:rPr>
                      <m:t>, </m:t>
                    </m:r>
                  </m:oMath>
                </a14:m>
                <a:endParaRPr lang="ru-RU" sz="3200" dirty="0"/>
              </a:p>
              <a:p>
                <a:pPr lvl="1"/>
                <a14:m>
                  <m:oMath xmlns:m="http://schemas.openxmlformats.org/officeDocument/2006/math">
                    <m:sSub>
                      <m:sSubPr>
                        <m:ctrlPr>
                          <a:rPr lang="ru-RU" sz="3200" i="1">
                            <a:latin typeface="Cambria Math" panose="02040503050406030204" pitchFamily="18" charset="0"/>
                          </a:rPr>
                        </m:ctrlPr>
                      </m:sSubPr>
                      <m:e>
                        <m:r>
                          <a:rPr lang="ru-RU" sz="3200" i="1">
                            <a:latin typeface="Cambria Math" panose="02040503050406030204" pitchFamily="18" charset="0"/>
                          </a:rPr>
                          <m:t>h</m:t>
                        </m:r>
                      </m:e>
                      <m:sub>
                        <m:r>
                          <a:rPr lang="ru-RU" sz="3200">
                            <a:latin typeface="Cambria Math" panose="02040503050406030204" pitchFamily="18" charset="0"/>
                          </a:rPr>
                          <m:t>3</m:t>
                        </m:r>
                      </m:sub>
                    </m:sSub>
                    <m:r>
                      <a:rPr lang="ru-RU" sz="3200">
                        <a:latin typeface="Cambria Math" panose="02040503050406030204" pitchFamily="18" charset="0"/>
                      </a:rPr>
                      <m:t>=</m:t>
                    </m:r>
                    <m:r>
                      <a:rPr lang="en-US" sz="3200" b="0" i="1" smtClean="0">
                        <a:latin typeface="Cambria Math" panose="02040503050406030204" pitchFamily="18" charset="0"/>
                      </a:rPr>
                      <m:t>[0.12, 0.30, 0.06]</m:t>
                    </m:r>
                  </m:oMath>
                </a14:m>
                <a:endParaRPr lang="ru-RU" sz="3200" dirty="0"/>
              </a:p>
              <a:p>
                <a:r>
                  <a:rPr lang="ru-RU" sz="3200" b="1" dirty="0"/>
                  <a:t>После внимания (веса </a:t>
                </a:r>
                <a14:m>
                  <m:oMath xmlns:m="http://schemas.openxmlformats.org/officeDocument/2006/math">
                    <m:r>
                      <a:rPr lang="ru-RU" sz="3200" i="1">
                        <a:latin typeface="Cambria Math" panose="02040503050406030204" pitchFamily="18" charset="0"/>
                      </a:rPr>
                      <m:t>𝛼</m:t>
                    </m:r>
                  </m:oMath>
                </a14:m>
                <a:r>
                  <a:rPr lang="ru-RU" sz="3200" b="1" dirty="0"/>
                  <a:t> получены из </a:t>
                </a:r>
                <a14:m>
                  <m:oMath xmlns:m="http://schemas.openxmlformats.org/officeDocument/2006/math">
                    <m:r>
                      <a:rPr lang="ru-RU" sz="3200" i="1">
                        <a:latin typeface="Cambria Math" panose="02040503050406030204" pitchFamily="18" charset="0"/>
                      </a:rPr>
                      <m:t>𝑎</m:t>
                    </m:r>
                  </m:oMath>
                </a14:m>
                <a:r>
                  <a:rPr lang="ru-RU" sz="3200" b="1" dirty="0"/>
                  <a:t>):</a:t>
                </a:r>
                <a:endParaRPr lang="ru-RU" sz="3200" dirty="0"/>
              </a:p>
              <a:p>
                <a:pPr lvl="1"/>
                <a14:m>
                  <m:oMath xmlns:m="http://schemas.openxmlformats.org/officeDocument/2006/math">
                    <m:sSub>
                      <m:sSubPr>
                        <m:ctrlPr>
                          <a:rPr lang="ru-RU" sz="3200" i="1">
                            <a:latin typeface="Cambria Math" panose="02040503050406030204" pitchFamily="18" charset="0"/>
                          </a:rPr>
                        </m:ctrlPr>
                      </m:sSubPr>
                      <m:e>
                        <m:r>
                          <a:rPr lang="ru-RU" sz="3200" i="1">
                            <a:latin typeface="Cambria Math" panose="02040503050406030204" pitchFamily="18" charset="0"/>
                          </a:rPr>
                          <m:t>𝛼</m:t>
                        </m:r>
                      </m:e>
                      <m:sub>
                        <m:r>
                          <a:rPr lang="ru-RU" sz="3200">
                            <a:latin typeface="Cambria Math" panose="02040503050406030204" pitchFamily="18" charset="0"/>
                          </a:rPr>
                          <m:t>1</m:t>
                        </m:r>
                      </m:sub>
                    </m:sSub>
                    <m:r>
                      <a:rPr lang="ru-RU" sz="3200">
                        <a:latin typeface="Cambria Math" panose="02040503050406030204" pitchFamily="18" charset="0"/>
                      </a:rPr>
                      <m:t>=0.42, </m:t>
                    </m:r>
                    <m:sSub>
                      <m:sSubPr>
                        <m:ctrlPr>
                          <a:rPr lang="ru-RU" sz="3200" i="1">
                            <a:latin typeface="Cambria Math" panose="02040503050406030204" pitchFamily="18" charset="0"/>
                          </a:rPr>
                        </m:ctrlPr>
                      </m:sSubPr>
                      <m:e>
                        <m:r>
                          <a:rPr lang="ru-RU" sz="3200" i="1">
                            <a:latin typeface="Cambria Math" panose="02040503050406030204" pitchFamily="18" charset="0"/>
                          </a:rPr>
                          <m:t>𝛼</m:t>
                        </m:r>
                      </m:e>
                      <m:sub>
                        <m:r>
                          <a:rPr lang="ru-RU" sz="3200">
                            <a:latin typeface="Cambria Math" panose="02040503050406030204" pitchFamily="18" charset="0"/>
                          </a:rPr>
                          <m:t>2</m:t>
                        </m:r>
                      </m:sub>
                    </m:sSub>
                    <m:r>
                      <a:rPr lang="ru-RU" sz="3200">
                        <a:latin typeface="Cambria Math" panose="02040503050406030204" pitchFamily="18" charset="0"/>
                      </a:rPr>
                      <m:t>=0.26, </m:t>
                    </m:r>
                    <m:sSub>
                      <m:sSubPr>
                        <m:ctrlPr>
                          <a:rPr lang="ru-RU" sz="3200" i="1">
                            <a:latin typeface="Cambria Math" panose="02040503050406030204" pitchFamily="18" charset="0"/>
                          </a:rPr>
                        </m:ctrlPr>
                      </m:sSubPr>
                      <m:e>
                        <m:r>
                          <a:rPr lang="ru-RU" sz="3200" i="1">
                            <a:latin typeface="Cambria Math" panose="02040503050406030204" pitchFamily="18" charset="0"/>
                          </a:rPr>
                          <m:t>𝛼</m:t>
                        </m:r>
                      </m:e>
                      <m:sub>
                        <m:r>
                          <a:rPr lang="ru-RU" sz="3200">
                            <a:latin typeface="Cambria Math" panose="02040503050406030204" pitchFamily="18" charset="0"/>
                          </a:rPr>
                          <m:t>3</m:t>
                        </m:r>
                      </m:sub>
                    </m:sSub>
                    <m:r>
                      <a:rPr lang="ru-RU" sz="3200">
                        <a:latin typeface="Cambria Math" panose="02040503050406030204" pitchFamily="18" charset="0"/>
                      </a:rPr>
                      <m:t>=0.32</m:t>
                    </m:r>
                  </m:oMath>
                </a14:m>
                <a:endParaRPr lang="ru-RU" sz="3200" dirty="0"/>
              </a:p>
              <a:p>
                <a:r>
                  <a:rPr lang="ru-RU" sz="3200" b="1" dirty="0" err="1"/>
                  <a:t>Эмбеддинг</a:t>
                </a:r>
                <a:r>
                  <a:rPr lang="ru-RU" sz="3200" b="1" dirty="0"/>
                  <a:t> гена (взвешенная сумма):</a:t>
                </a:r>
                <a:endParaRPr lang="ru-RU" sz="3200" dirty="0"/>
              </a:p>
              <a:p>
                <a:pPr lvl="1"/>
                <a14:m>
                  <m:oMath xmlns:m="http://schemas.openxmlformats.org/officeDocument/2006/math">
                    <m:sSub>
                      <m:sSubPr>
                        <m:ctrlPr>
                          <a:rPr lang="ru-RU" sz="3200" i="1">
                            <a:latin typeface="Cambria Math" panose="02040503050406030204" pitchFamily="18" charset="0"/>
                          </a:rPr>
                        </m:ctrlPr>
                      </m:sSubPr>
                      <m:e>
                        <m:r>
                          <a:rPr lang="ru-RU" sz="3200" i="1">
                            <a:latin typeface="Cambria Math" panose="02040503050406030204" pitchFamily="18" charset="0"/>
                          </a:rPr>
                          <m:t>𝑣</m:t>
                        </m:r>
                      </m:e>
                      <m:sub>
                        <m:r>
                          <m:rPr>
                            <m:nor/>
                          </m:rPr>
                          <a:rPr lang="ru-RU" sz="3200" i="1"/>
                          <m:t>ген</m:t>
                        </m:r>
                      </m:sub>
                    </m:sSub>
                    <m:r>
                      <a:rPr lang="ru-RU" sz="3200">
                        <a:latin typeface="Cambria Math" panose="02040503050406030204" pitchFamily="18" charset="0"/>
                      </a:rPr>
                      <m:t>=0.42⋅</m:t>
                    </m:r>
                    <m:sSub>
                      <m:sSubPr>
                        <m:ctrlPr>
                          <a:rPr lang="ru-RU" sz="3200" i="1">
                            <a:latin typeface="Cambria Math" panose="02040503050406030204" pitchFamily="18" charset="0"/>
                          </a:rPr>
                        </m:ctrlPr>
                      </m:sSubPr>
                      <m:e>
                        <m:r>
                          <a:rPr lang="ru-RU" sz="3200" i="1">
                            <a:latin typeface="Cambria Math" panose="02040503050406030204" pitchFamily="18" charset="0"/>
                          </a:rPr>
                          <m:t>h</m:t>
                        </m:r>
                      </m:e>
                      <m:sub>
                        <m:r>
                          <a:rPr lang="ru-RU" sz="3200">
                            <a:latin typeface="Cambria Math" panose="02040503050406030204" pitchFamily="18" charset="0"/>
                          </a:rPr>
                          <m:t>1</m:t>
                        </m:r>
                      </m:sub>
                    </m:sSub>
                    <m:r>
                      <a:rPr lang="ru-RU" sz="3200">
                        <a:latin typeface="Cambria Math" panose="02040503050406030204" pitchFamily="18" charset="0"/>
                      </a:rPr>
                      <m:t>+0.26⋅</m:t>
                    </m:r>
                    <m:sSub>
                      <m:sSubPr>
                        <m:ctrlPr>
                          <a:rPr lang="ru-RU" sz="3200" i="1">
                            <a:latin typeface="Cambria Math" panose="02040503050406030204" pitchFamily="18" charset="0"/>
                          </a:rPr>
                        </m:ctrlPr>
                      </m:sSubPr>
                      <m:e>
                        <m:r>
                          <a:rPr lang="ru-RU" sz="3200" i="1">
                            <a:latin typeface="Cambria Math" panose="02040503050406030204" pitchFamily="18" charset="0"/>
                          </a:rPr>
                          <m:t>h</m:t>
                        </m:r>
                      </m:e>
                      <m:sub>
                        <m:r>
                          <a:rPr lang="ru-RU" sz="3200">
                            <a:latin typeface="Cambria Math" panose="02040503050406030204" pitchFamily="18" charset="0"/>
                          </a:rPr>
                          <m:t>2</m:t>
                        </m:r>
                      </m:sub>
                    </m:sSub>
                    <m:r>
                      <a:rPr lang="ru-RU" sz="3200">
                        <a:latin typeface="Cambria Math" panose="02040503050406030204" pitchFamily="18" charset="0"/>
                      </a:rPr>
                      <m:t>+0.32⋅</m:t>
                    </m:r>
                    <m:sSub>
                      <m:sSubPr>
                        <m:ctrlPr>
                          <a:rPr lang="ru-RU" sz="3200" i="1">
                            <a:latin typeface="Cambria Math" panose="02040503050406030204" pitchFamily="18" charset="0"/>
                          </a:rPr>
                        </m:ctrlPr>
                      </m:sSubPr>
                      <m:e>
                        <m:r>
                          <a:rPr lang="ru-RU" sz="3200" i="1">
                            <a:latin typeface="Cambria Math" panose="02040503050406030204" pitchFamily="18" charset="0"/>
                          </a:rPr>
                          <m:t>h</m:t>
                        </m:r>
                      </m:e>
                      <m:sub>
                        <m:r>
                          <a:rPr lang="ru-RU" sz="3200">
                            <a:latin typeface="Cambria Math" panose="02040503050406030204" pitchFamily="18" charset="0"/>
                          </a:rPr>
                          <m:t>3</m:t>
                        </m:r>
                      </m:sub>
                    </m:sSub>
                    <m:r>
                      <a:rPr lang="ru-RU" sz="3200">
                        <a:latin typeface="Cambria Math" panose="02040503050406030204" pitchFamily="18" charset="0"/>
                      </a:rPr>
                      <m:t>=</m:t>
                    </m:r>
                    <m:r>
                      <a:rPr lang="en-US" sz="3200" b="0" i="1" smtClean="0">
                        <a:latin typeface="Cambria Math" panose="02040503050406030204" pitchFamily="18" charset="0"/>
                      </a:rPr>
                      <m:t>[0.137, 0.344, 0.069]</m:t>
                    </m:r>
                  </m:oMath>
                </a14:m>
                <a:endParaRPr lang="ru-RU" sz="3200" b="0" dirty="0"/>
              </a:p>
              <a:p>
                <a:endParaRPr lang="ru-RU" dirty="0"/>
              </a:p>
            </p:txBody>
          </p:sp>
        </mc:Choice>
        <mc:Fallback xmlns="">
          <p:sp>
            <p:nvSpPr>
              <p:cNvPr id="5" name="Объект 6">
                <a:extLst>
                  <a:ext uri="{FF2B5EF4-FFF2-40B4-BE49-F238E27FC236}">
                    <a16:creationId xmlns:a16="http://schemas.microsoft.com/office/drawing/2014/main" id="{0166A36A-73B5-F971-AFC6-9CFFF3BD4A60}"/>
                  </a:ext>
                </a:extLst>
              </p:cNvPr>
              <p:cNvSpPr txBox="1">
                <a:spLocks noGrp="1" noRot="1" noChangeAspect="1" noMove="1" noResize="1" noEditPoints="1" noAdjustHandles="1" noChangeArrowheads="1" noChangeShapeType="1" noTextEdit="1"/>
              </p:cNvSpPr>
              <p:nvPr>
                <p:ph sz="quarter" idx="1"/>
              </p:nvPr>
            </p:nvSpPr>
            <p:spPr>
              <a:xfrm>
                <a:off x="609600" y="1219200"/>
                <a:ext cx="10972800" cy="4937125"/>
              </a:xfrm>
              <a:prstGeom prst="rect">
                <a:avLst/>
              </a:prstGeom>
              <a:blipFill>
                <a:blip r:embed="rId2"/>
                <a:stretch>
                  <a:fillRect l="-1056" t="-2963"/>
                </a:stretch>
              </a:blipFill>
            </p:spPr>
            <p:txBody>
              <a:bodyPr/>
              <a:lstStyle/>
              <a:p>
                <a:r>
                  <a:rPr lang="ru-RU">
                    <a:noFill/>
                  </a:rPr>
                  <a:t> </a:t>
                </a:r>
              </a:p>
            </p:txBody>
          </p:sp>
        </mc:Fallback>
      </mc:AlternateContent>
    </p:spTree>
    <p:extLst>
      <p:ext uri="{BB962C8B-B14F-4D97-AF65-F5344CB8AC3E}">
        <p14:creationId xmlns:p14="http://schemas.microsoft.com/office/powerpoint/2010/main" val="12598801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FFF378F4-172D-19FF-932E-2C7F6A5ED63D}"/>
              </a:ext>
            </a:extLst>
          </p:cNvPr>
          <p:cNvSpPr>
            <a:spLocks noGrp="1"/>
          </p:cNvSpPr>
          <p:nvPr>
            <p:ph type="title"/>
          </p:nvPr>
        </p:nvSpPr>
        <p:spPr/>
        <p:txBody>
          <a:bodyPr>
            <a:normAutofit fontScale="90000"/>
          </a:bodyPr>
          <a:lstStyle/>
          <a:p>
            <a:r>
              <a:rPr lang="ru-RU" b="1" dirty="0"/>
              <a:t>Агрегация в </a:t>
            </a:r>
            <a:r>
              <a:rPr lang="ru-RU" b="1" dirty="0" err="1"/>
              <a:t>эмбеддинг</a:t>
            </a:r>
            <a:r>
              <a:rPr lang="ru-RU" b="1" dirty="0"/>
              <a:t> гена</a:t>
            </a:r>
            <a:br>
              <a:rPr lang="ru-RU" b="1" dirty="0"/>
            </a:br>
            <a:endParaRPr lang="ru-RU" b="1" dirty="0"/>
          </a:p>
        </p:txBody>
      </p:sp>
      <p:sp>
        <p:nvSpPr>
          <p:cNvPr id="3" name="Номер слайда 2">
            <a:extLst>
              <a:ext uri="{FF2B5EF4-FFF2-40B4-BE49-F238E27FC236}">
                <a16:creationId xmlns:a16="http://schemas.microsoft.com/office/drawing/2014/main" id="{4DF77571-4C4C-4CDF-2D90-1E4CED4186F5}"/>
              </a:ext>
            </a:extLst>
          </p:cNvPr>
          <p:cNvSpPr>
            <a:spLocks noGrp="1"/>
          </p:cNvSpPr>
          <p:nvPr>
            <p:ph type="sldNum" sz="quarter" idx="12"/>
          </p:nvPr>
        </p:nvSpPr>
        <p:spPr/>
        <p:txBody>
          <a:bodyPr/>
          <a:lstStyle/>
          <a:p>
            <a:fld id="{B19B0651-EE4F-4900-A07F-96A6BFA9D0F0}" type="slidenum">
              <a:rPr lang="ru-RU" smtClean="0"/>
              <a:pPr/>
              <a:t>33</a:t>
            </a:fld>
            <a:endParaRPr lang="ru-RU"/>
          </a:p>
        </p:txBody>
      </p:sp>
      <mc:AlternateContent xmlns:mc="http://schemas.openxmlformats.org/markup-compatibility/2006" xmlns:a14="http://schemas.microsoft.com/office/drawing/2010/main">
        <mc:Choice Requires="a14">
          <p:sp>
            <p:nvSpPr>
              <p:cNvPr id="7" name="Объект 6">
                <a:extLst>
                  <a:ext uri="{FF2B5EF4-FFF2-40B4-BE49-F238E27FC236}">
                    <a16:creationId xmlns:a16="http://schemas.microsoft.com/office/drawing/2014/main" id="{C9488A0F-F898-02FF-1D51-B8DAEDFF4D29}"/>
                  </a:ext>
                </a:extLst>
              </p:cNvPr>
              <p:cNvSpPr>
                <a:spLocks noGrp="1"/>
              </p:cNvSpPr>
              <p:nvPr>
                <p:ph sz="quarter" idx="1"/>
              </p:nvPr>
            </p:nvSpPr>
            <p:spPr>
              <a:xfrm>
                <a:off x="609600" y="1219200"/>
                <a:ext cx="5909688" cy="769640"/>
              </a:xfrm>
            </p:spPr>
            <p:txBody>
              <a:bodyPr>
                <a:normAutofit fontScale="25000" lnSpcReduction="20000"/>
              </a:bodyPr>
              <a:lstStyle/>
              <a:p>
                <a:r>
                  <a:rPr lang="ru-RU" sz="7200" b="1" dirty="0"/>
                  <a:t>Вход:</a:t>
                </a:r>
                <a:r>
                  <a:rPr lang="ru-RU" sz="7200" dirty="0"/>
                  <a:t> вектор SNP для одного гена (разной длины)</a:t>
                </a:r>
              </a:p>
              <a:p>
                <a:r>
                  <a:rPr lang="ru-RU" sz="7200" b="1" dirty="0"/>
                  <a:t>Выход:</a:t>
                </a:r>
                <a:r>
                  <a:rPr lang="ru-RU" sz="7200" dirty="0"/>
                  <a:t> </a:t>
                </a:r>
                <a:r>
                  <a:rPr lang="ru-RU" sz="7200" dirty="0" err="1"/>
                  <a:t>эмбеддинг</a:t>
                </a:r>
                <a:r>
                  <a:rPr lang="ru-RU" sz="7200" dirty="0"/>
                  <a:t> гена (фиксированной длины </a:t>
                </a:r>
                <a14:m>
                  <m:oMath xmlns:m="http://schemas.openxmlformats.org/officeDocument/2006/math">
                    <m:r>
                      <a:rPr lang="ru-RU" sz="7200" i="1">
                        <a:latin typeface="Cambria Math" panose="02040503050406030204" pitchFamily="18" charset="0"/>
                      </a:rPr>
                      <m:t>𝑑</m:t>
                    </m:r>
                  </m:oMath>
                </a14:m>
                <a:r>
                  <a:rPr lang="ru-RU" sz="7200" dirty="0"/>
                  <a:t>)</a:t>
                </a:r>
              </a:p>
              <a:p>
                <a:endParaRPr lang="ru-RU" dirty="0"/>
              </a:p>
            </p:txBody>
          </p:sp>
        </mc:Choice>
        <mc:Fallback xmlns="">
          <p:sp>
            <p:nvSpPr>
              <p:cNvPr id="7" name="Объект 6">
                <a:extLst>
                  <a:ext uri="{FF2B5EF4-FFF2-40B4-BE49-F238E27FC236}">
                    <a16:creationId xmlns:a16="http://schemas.microsoft.com/office/drawing/2014/main" id="{C9488A0F-F898-02FF-1D51-B8DAEDFF4D29}"/>
                  </a:ext>
                </a:extLst>
              </p:cNvPr>
              <p:cNvSpPr>
                <a:spLocks noGrp="1" noRot="1" noChangeAspect="1" noMove="1" noResize="1" noEditPoints="1" noAdjustHandles="1" noChangeArrowheads="1" noChangeShapeType="1" noTextEdit="1"/>
              </p:cNvSpPr>
              <p:nvPr>
                <p:ph sz="quarter" idx="1"/>
              </p:nvPr>
            </p:nvSpPr>
            <p:spPr>
              <a:xfrm>
                <a:off x="609600" y="1219200"/>
                <a:ext cx="5909688" cy="769640"/>
              </a:xfrm>
              <a:blipFill>
                <a:blip r:embed="rId3"/>
                <a:stretch>
                  <a:fillRect l="-103" t="-11905"/>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1" name="Объект 10">
                <a:extLst>
                  <a:ext uri="{FF2B5EF4-FFF2-40B4-BE49-F238E27FC236}">
                    <a16:creationId xmlns:a16="http://schemas.microsoft.com/office/drawing/2014/main" id="{8A390B23-55FC-2FA2-55FF-FA502BCDE1F8}"/>
                  </a:ext>
                </a:extLst>
              </p:cNvPr>
              <p:cNvSpPr>
                <a:spLocks noGrp="1"/>
              </p:cNvSpPr>
              <p:nvPr>
                <p:ph sz="quarter" idx="2"/>
              </p:nvPr>
            </p:nvSpPr>
            <p:spPr>
              <a:xfrm>
                <a:off x="6519288" y="1254280"/>
                <a:ext cx="5388864" cy="4937760"/>
              </a:xfrm>
            </p:spPr>
            <p:txBody>
              <a:bodyPr>
                <a:normAutofit fontScale="25000" lnSpcReduction="20000"/>
              </a:bodyPr>
              <a:lstStyle/>
              <a:p>
                <a:r>
                  <a:rPr lang="ru-RU" sz="7200" b="1" dirty="0"/>
                  <a:t>Шаг 1. Проекция каждого SNP в вектор</a:t>
                </a:r>
                <a:endParaRPr lang="ru-RU" sz="7200" dirty="0"/>
              </a:p>
              <a:p>
                <a:pPr lvl="1"/>
                <a14:m>
                  <m:oMath xmlns:m="http://schemas.openxmlformats.org/officeDocument/2006/math">
                    <m:sSub>
                      <m:sSubPr>
                        <m:ctrlPr>
                          <a:rPr lang="ru-RU" sz="7200" i="1">
                            <a:latin typeface="Cambria Math" panose="02040503050406030204" pitchFamily="18" charset="0"/>
                          </a:rPr>
                        </m:ctrlPr>
                      </m:sSubPr>
                      <m:e>
                        <m:r>
                          <a:rPr lang="ru-RU" sz="7200" i="1">
                            <a:latin typeface="Cambria Math" panose="02040503050406030204" pitchFamily="18" charset="0"/>
                          </a:rPr>
                          <m:t>h</m:t>
                        </m:r>
                      </m:e>
                      <m:sub>
                        <m:r>
                          <a:rPr lang="ru-RU" sz="7200" i="1">
                            <a:latin typeface="Cambria Math" panose="02040503050406030204" pitchFamily="18" charset="0"/>
                          </a:rPr>
                          <m:t>𝑠</m:t>
                        </m:r>
                      </m:sub>
                    </m:sSub>
                    <m:r>
                      <a:rPr lang="ru-RU" sz="7200">
                        <a:latin typeface="Cambria Math" panose="02040503050406030204" pitchFamily="18" charset="0"/>
                      </a:rPr>
                      <m:t>=</m:t>
                    </m:r>
                    <m:sSub>
                      <m:sSubPr>
                        <m:ctrlPr>
                          <a:rPr lang="ru-RU" sz="7200" i="1">
                            <a:latin typeface="Cambria Math" panose="02040503050406030204" pitchFamily="18" charset="0"/>
                          </a:rPr>
                        </m:ctrlPr>
                      </m:sSubPr>
                      <m:e>
                        <m:r>
                          <a:rPr lang="ru-RU" sz="7200" i="1">
                            <a:latin typeface="Cambria Math" panose="02040503050406030204" pitchFamily="18" charset="0"/>
                          </a:rPr>
                          <m:t>𝑥</m:t>
                        </m:r>
                      </m:e>
                      <m:sub>
                        <m:r>
                          <a:rPr lang="ru-RU" sz="7200" i="1">
                            <a:latin typeface="Cambria Math" panose="02040503050406030204" pitchFamily="18" charset="0"/>
                          </a:rPr>
                          <m:t>𝑠</m:t>
                        </m:r>
                      </m:sub>
                    </m:sSub>
                    <m:r>
                      <a:rPr lang="ru-RU" sz="7200">
                        <a:latin typeface="Cambria Math" panose="02040503050406030204" pitchFamily="18" charset="0"/>
                      </a:rPr>
                      <m:t>⋅</m:t>
                    </m:r>
                    <m:sSub>
                      <m:sSubPr>
                        <m:ctrlPr>
                          <a:rPr lang="ru-RU" sz="7200" i="1">
                            <a:latin typeface="Cambria Math" panose="02040503050406030204" pitchFamily="18" charset="0"/>
                          </a:rPr>
                        </m:ctrlPr>
                      </m:sSubPr>
                      <m:e>
                        <m:r>
                          <a:rPr lang="ru-RU" sz="7200" i="1">
                            <a:latin typeface="Cambria Math" panose="02040503050406030204" pitchFamily="18" charset="0"/>
                          </a:rPr>
                          <m:t>𝑤</m:t>
                        </m:r>
                      </m:e>
                      <m:sub>
                        <m:r>
                          <m:rPr>
                            <m:nor/>
                          </m:rPr>
                          <a:rPr lang="ru-RU" sz="7200" i="1"/>
                          <m:t>snp</m:t>
                        </m:r>
                      </m:sub>
                    </m:sSub>
                    <m:r>
                      <a:rPr lang="ru-RU" sz="7200">
                        <a:latin typeface="Cambria Math" panose="02040503050406030204" pitchFamily="18" charset="0"/>
                      </a:rPr>
                      <m:t>, </m:t>
                    </m:r>
                    <m:sSub>
                      <m:sSubPr>
                        <m:ctrlPr>
                          <a:rPr lang="ru-RU" sz="7200" i="1">
                            <a:latin typeface="Cambria Math" panose="02040503050406030204" pitchFamily="18" charset="0"/>
                          </a:rPr>
                        </m:ctrlPr>
                      </m:sSubPr>
                      <m:e>
                        <m:r>
                          <a:rPr lang="ru-RU" sz="7200" i="1">
                            <a:latin typeface="Cambria Math" panose="02040503050406030204" pitchFamily="18" charset="0"/>
                          </a:rPr>
                          <m:t>𝑤</m:t>
                        </m:r>
                      </m:e>
                      <m:sub>
                        <m:r>
                          <m:rPr>
                            <m:nor/>
                          </m:rPr>
                          <a:rPr lang="ru-RU" sz="7200" i="1"/>
                          <m:t>snp</m:t>
                        </m:r>
                      </m:sub>
                    </m:sSub>
                    <m:r>
                      <a:rPr lang="ru-RU" sz="7200">
                        <a:latin typeface="Cambria Math" panose="02040503050406030204" pitchFamily="18" charset="0"/>
                      </a:rPr>
                      <m:t>∈</m:t>
                    </m:r>
                    <m:sSup>
                      <m:sSupPr>
                        <m:ctrlPr>
                          <a:rPr lang="ru-RU" sz="7200" i="1">
                            <a:latin typeface="Cambria Math" panose="02040503050406030204" pitchFamily="18" charset="0"/>
                          </a:rPr>
                        </m:ctrlPr>
                      </m:sSupPr>
                      <m:e>
                        <m:r>
                          <a:rPr lang="ru-RU" sz="7200">
                            <a:latin typeface="Cambria Math" panose="02040503050406030204" pitchFamily="18" charset="0"/>
                          </a:rPr>
                          <m:t>ℝ</m:t>
                        </m:r>
                      </m:e>
                      <m:sup>
                        <m:r>
                          <a:rPr lang="ru-RU" sz="7200" i="1">
                            <a:latin typeface="Cambria Math" panose="02040503050406030204" pitchFamily="18" charset="0"/>
                          </a:rPr>
                          <m:t>𝑑</m:t>
                        </m:r>
                      </m:sup>
                    </m:sSup>
                  </m:oMath>
                </a14:m>
                <a:endParaRPr lang="ru-RU" sz="7200" dirty="0"/>
              </a:p>
              <a:p>
                <a:pPr lvl="1"/>
                <a14:m>
                  <m:oMath xmlns:m="http://schemas.openxmlformats.org/officeDocument/2006/math">
                    <m:sSub>
                      <m:sSubPr>
                        <m:ctrlPr>
                          <a:rPr lang="ru-RU" sz="7200" i="1">
                            <a:latin typeface="Cambria Math" panose="02040503050406030204" pitchFamily="18" charset="0"/>
                          </a:rPr>
                        </m:ctrlPr>
                      </m:sSubPr>
                      <m:e>
                        <m:r>
                          <a:rPr lang="ru-RU" sz="7200" i="1">
                            <a:latin typeface="Cambria Math" panose="02040503050406030204" pitchFamily="18" charset="0"/>
                          </a:rPr>
                          <m:t>𝑥</m:t>
                        </m:r>
                      </m:e>
                      <m:sub>
                        <m:r>
                          <a:rPr lang="ru-RU" sz="7200" i="1">
                            <a:latin typeface="Cambria Math" panose="02040503050406030204" pitchFamily="18" charset="0"/>
                          </a:rPr>
                          <m:t>𝑠</m:t>
                        </m:r>
                      </m:sub>
                    </m:sSub>
                  </m:oMath>
                </a14:m>
                <a:r>
                  <a:rPr lang="ru-RU" sz="7200" dirty="0"/>
                  <a:t> — значение SNP (число)</a:t>
                </a:r>
              </a:p>
              <a:p>
                <a:pPr lvl="1"/>
                <a14:m>
                  <m:oMath xmlns:m="http://schemas.openxmlformats.org/officeDocument/2006/math">
                    <m:sSub>
                      <m:sSubPr>
                        <m:ctrlPr>
                          <a:rPr lang="ru-RU" sz="7200" i="1">
                            <a:latin typeface="Cambria Math" panose="02040503050406030204" pitchFamily="18" charset="0"/>
                          </a:rPr>
                        </m:ctrlPr>
                      </m:sSubPr>
                      <m:e>
                        <m:r>
                          <a:rPr lang="ru-RU" sz="7200" i="1">
                            <a:latin typeface="Cambria Math" panose="02040503050406030204" pitchFamily="18" charset="0"/>
                          </a:rPr>
                          <m:t>𝑤</m:t>
                        </m:r>
                      </m:e>
                      <m:sub>
                        <m:r>
                          <m:rPr>
                            <m:nor/>
                          </m:rPr>
                          <a:rPr lang="ru-RU" sz="7200" i="1"/>
                          <m:t>snp</m:t>
                        </m:r>
                      </m:sub>
                    </m:sSub>
                  </m:oMath>
                </a14:m>
                <a:r>
                  <a:rPr lang="ru-RU" sz="7200" dirty="0"/>
                  <a:t> — обучаемый вектор (общий для всех SNP)</a:t>
                </a:r>
              </a:p>
              <a:p>
                <a:r>
                  <a:rPr lang="ru-RU" sz="7200" b="1" dirty="0"/>
                  <a:t>Шаг 2. Вычисление важности каждого SNP</a:t>
                </a:r>
                <a:endParaRPr lang="ru-RU" sz="7200" dirty="0"/>
              </a:p>
              <a:p>
                <a:pPr lvl="1"/>
                <a14:m>
                  <m:oMath xmlns:m="http://schemas.openxmlformats.org/officeDocument/2006/math">
                    <m:sSub>
                      <m:sSubPr>
                        <m:ctrlPr>
                          <a:rPr lang="ru-RU" sz="7200" i="1">
                            <a:latin typeface="Cambria Math" panose="02040503050406030204" pitchFamily="18" charset="0"/>
                          </a:rPr>
                        </m:ctrlPr>
                      </m:sSubPr>
                      <m:e>
                        <m:r>
                          <a:rPr lang="ru-RU" sz="7200" i="1">
                            <a:latin typeface="Cambria Math" panose="02040503050406030204" pitchFamily="18" charset="0"/>
                          </a:rPr>
                          <m:t>𝑒</m:t>
                        </m:r>
                      </m:e>
                      <m:sub>
                        <m:r>
                          <a:rPr lang="ru-RU" sz="7200" i="1">
                            <a:latin typeface="Cambria Math" panose="02040503050406030204" pitchFamily="18" charset="0"/>
                          </a:rPr>
                          <m:t>𝑠</m:t>
                        </m:r>
                      </m:sub>
                    </m:sSub>
                    <m:r>
                      <a:rPr lang="ru-RU" sz="7200">
                        <a:latin typeface="Cambria Math" panose="02040503050406030204" pitchFamily="18" charset="0"/>
                      </a:rPr>
                      <m:t>=</m:t>
                    </m:r>
                    <m:sSup>
                      <m:sSupPr>
                        <m:ctrlPr>
                          <a:rPr lang="ru-RU" sz="7200" i="1">
                            <a:latin typeface="Cambria Math" panose="02040503050406030204" pitchFamily="18" charset="0"/>
                          </a:rPr>
                        </m:ctrlPr>
                      </m:sSupPr>
                      <m:e>
                        <m:r>
                          <a:rPr lang="ru-RU" sz="7200" i="1">
                            <a:latin typeface="Cambria Math" panose="02040503050406030204" pitchFamily="18" charset="0"/>
                          </a:rPr>
                          <m:t>𝑎</m:t>
                        </m:r>
                      </m:e>
                      <m:sup>
                        <m:r>
                          <a:rPr lang="ru-RU" sz="7200">
                            <a:latin typeface="Cambria Math" panose="02040503050406030204" pitchFamily="18" charset="0"/>
                          </a:rPr>
                          <m:t>⊤</m:t>
                        </m:r>
                      </m:sup>
                    </m:sSup>
                    <m:sSub>
                      <m:sSubPr>
                        <m:ctrlPr>
                          <a:rPr lang="ru-RU" sz="7200" i="1">
                            <a:latin typeface="Cambria Math" panose="02040503050406030204" pitchFamily="18" charset="0"/>
                          </a:rPr>
                        </m:ctrlPr>
                      </m:sSubPr>
                      <m:e>
                        <m:r>
                          <a:rPr lang="ru-RU" sz="7200" i="1">
                            <a:latin typeface="Cambria Math" panose="02040503050406030204" pitchFamily="18" charset="0"/>
                          </a:rPr>
                          <m:t>h</m:t>
                        </m:r>
                      </m:e>
                      <m:sub>
                        <m:r>
                          <a:rPr lang="ru-RU" sz="7200" i="1">
                            <a:latin typeface="Cambria Math" panose="02040503050406030204" pitchFamily="18" charset="0"/>
                          </a:rPr>
                          <m:t>𝑠</m:t>
                        </m:r>
                      </m:sub>
                    </m:sSub>
                    <m:r>
                      <a:rPr lang="ru-RU" sz="7200">
                        <a:latin typeface="Cambria Math" panose="02040503050406030204" pitchFamily="18" charset="0"/>
                      </a:rPr>
                      <m:t>, </m:t>
                    </m:r>
                    <m:r>
                      <a:rPr lang="ru-RU" sz="7200" i="1">
                        <a:latin typeface="Cambria Math" panose="02040503050406030204" pitchFamily="18" charset="0"/>
                      </a:rPr>
                      <m:t>𝑎</m:t>
                    </m:r>
                    <m:r>
                      <a:rPr lang="ru-RU" sz="7200">
                        <a:latin typeface="Cambria Math" panose="02040503050406030204" pitchFamily="18" charset="0"/>
                      </a:rPr>
                      <m:t>∈</m:t>
                    </m:r>
                    <m:sSup>
                      <m:sSupPr>
                        <m:ctrlPr>
                          <a:rPr lang="ru-RU" sz="7200" i="1">
                            <a:latin typeface="Cambria Math" panose="02040503050406030204" pitchFamily="18" charset="0"/>
                          </a:rPr>
                        </m:ctrlPr>
                      </m:sSupPr>
                      <m:e>
                        <m:r>
                          <a:rPr lang="ru-RU" sz="7200">
                            <a:latin typeface="Cambria Math" panose="02040503050406030204" pitchFamily="18" charset="0"/>
                          </a:rPr>
                          <m:t>ℝ</m:t>
                        </m:r>
                      </m:e>
                      <m:sup>
                        <m:r>
                          <a:rPr lang="ru-RU" sz="7200" i="1">
                            <a:latin typeface="Cambria Math" panose="02040503050406030204" pitchFamily="18" charset="0"/>
                          </a:rPr>
                          <m:t>𝑑</m:t>
                        </m:r>
                      </m:sup>
                    </m:sSup>
                  </m:oMath>
                </a14:m>
                <a:endParaRPr lang="ru-RU" sz="7200" dirty="0"/>
              </a:p>
              <a:p>
                <a:pPr lvl="1"/>
                <a14:m>
                  <m:oMath xmlns:m="http://schemas.openxmlformats.org/officeDocument/2006/math">
                    <m:r>
                      <a:rPr lang="ru-RU" sz="7200" i="1">
                        <a:latin typeface="Cambria Math" panose="02040503050406030204" pitchFamily="18" charset="0"/>
                      </a:rPr>
                      <m:t>𝑎</m:t>
                    </m:r>
                  </m:oMath>
                </a14:m>
                <a:r>
                  <a:rPr lang="ru-RU" sz="7200" dirty="0"/>
                  <a:t> — обучаемый вектор внимания</a:t>
                </a:r>
              </a:p>
              <a:p>
                <a:pPr lvl="1"/>
                <a14:m>
                  <m:oMath xmlns:m="http://schemas.openxmlformats.org/officeDocument/2006/math">
                    <m:sSub>
                      <m:sSubPr>
                        <m:ctrlPr>
                          <a:rPr lang="ru-RU" sz="7200" i="1">
                            <a:latin typeface="Cambria Math" panose="02040503050406030204" pitchFamily="18" charset="0"/>
                          </a:rPr>
                        </m:ctrlPr>
                      </m:sSubPr>
                      <m:e>
                        <m:r>
                          <a:rPr lang="ru-RU" sz="7200" i="1">
                            <a:latin typeface="Cambria Math" panose="02040503050406030204" pitchFamily="18" charset="0"/>
                          </a:rPr>
                          <m:t>𝑒</m:t>
                        </m:r>
                      </m:e>
                      <m:sub>
                        <m:r>
                          <a:rPr lang="ru-RU" sz="7200" i="1">
                            <a:latin typeface="Cambria Math" panose="02040503050406030204" pitchFamily="18" charset="0"/>
                          </a:rPr>
                          <m:t>𝑠</m:t>
                        </m:r>
                      </m:sub>
                    </m:sSub>
                  </m:oMath>
                </a14:m>
                <a:r>
                  <a:rPr lang="ru-RU" sz="7200" dirty="0"/>
                  <a:t> — сырая оценка важности</a:t>
                </a:r>
              </a:p>
              <a:p>
                <a:r>
                  <a:rPr lang="ru-RU" sz="7200" b="1" dirty="0"/>
                  <a:t>Шаг 3. Нормировка (</a:t>
                </a:r>
                <a:r>
                  <a:rPr lang="ru-RU" sz="7200" b="1" dirty="0" err="1"/>
                  <a:t>softmax</a:t>
                </a:r>
                <a:r>
                  <a:rPr lang="ru-RU" sz="7200" b="1" dirty="0"/>
                  <a:t>)</a:t>
                </a:r>
                <a:endParaRPr lang="ru-RU" sz="7200" dirty="0"/>
              </a:p>
              <a:p>
                <a:pPr lvl="1"/>
                <a14:m>
                  <m:oMath xmlns:m="http://schemas.openxmlformats.org/officeDocument/2006/math">
                    <m:sSub>
                      <m:sSubPr>
                        <m:ctrlPr>
                          <a:rPr lang="ru-RU" sz="7200" i="1">
                            <a:latin typeface="Cambria Math" panose="02040503050406030204" pitchFamily="18" charset="0"/>
                          </a:rPr>
                        </m:ctrlPr>
                      </m:sSubPr>
                      <m:e>
                        <m:r>
                          <a:rPr lang="ru-RU" sz="7200" i="1">
                            <a:latin typeface="Cambria Math" panose="02040503050406030204" pitchFamily="18" charset="0"/>
                          </a:rPr>
                          <m:t>𝛼</m:t>
                        </m:r>
                      </m:e>
                      <m:sub>
                        <m:r>
                          <a:rPr lang="ru-RU" sz="7200" i="1">
                            <a:latin typeface="Cambria Math" panose="02040503050406030204" pitchFamily="18" charset="0"/>
                          </a:rPr>
                          <m:t>𝑠</m:t>
                        </m:r>
                      </m:sub>
                    </m:sSub>
                    <m:r>
                      <a:rPr lang="ru-RU" sz="7200">
                        <a:latin typeface="Cambria Math" panose="02040503050406030204" pitchFamily="18" charset="0"/>
                      </a:rPr>
                      <m:t>=</m:t>
                    </m:r>
                    <m:f>
                      <m:fPr>
                        <m:ctrlPr>
                          <a:rPr lang="ru-RU" sz="7200" i="1">
                            <a:latin typeface="Cambria Math" panose="02040503050406030204" pitchFamily="18" charset="0"/>
                          </a:rPr>
                        </m:ctrlPr>
                      </m:fPr>
                      <m:num>
                        <m:r>
                          <m:rPr>
                            <m:sty m:val="p"/>
                          </m:rPr>
                          <a:rPr lang="ru-RU" sz="7200">
                            <a:latin typeface="Cambria Math" panose="02040503050406030204" pitchFamily="18" charset="0"/>
                          </a:rPr>
                          <m:t>exp</m:t>
                        </m:r>
                        <m:r>
                          <a:rPr lang="ru-RU" sz="7200">
                            <a:latin typeface="Cambria Math" panose="02040503050406030204" pitchFamily="18" charset="0"/>
                          </a:rPr>
                          <m:t>⁡</m:t>
                        </m:r>
                        <m:d>
                          <m:dPr>
                            <m:ctrlPr>
                              <a:rPr lang="ru-RU" sz="7200" i="1">
                                <a:latin typeface="Cambria Math" panose="02040503050406030204" pitchFamily="18" charset="0"/>
                              </a:rPr>
                            </m:ctrlPr>
                          </m:dPr>
                          <m:e>
                            <m:sSub>
                              <m:sSubPr>
                                <m:ctrlPr>
                                  <a:rPr lang="ru-RU" sz="7200" i="1">
                                    <a:latin typeface="Cambria Math" panose="02040503050406030204" pitchFamily="18" charset="0"/>
                                  </a:rPr>
                                </m:ctrlPr>
                              </m:sSubPr>
                              <m:e>
                                <m:r>
                                  <a:rPr lang="ru-RU" sz="7200" i="1">
                                    <a:latin typeface="Cambria Math" panose="02040503050406030204" pitchFamily="18" charset="0"/>
                                  </a:rPr>
                                  <m:t>𝑒</m:t>
                                </m:r>
                              </m:e>
                              <m:sub>
                                <m:r>
                                  <a:rPr lang="ru-RU" sz="7200" i="1">
                                    <a:latin typeface="Cambria Math" panose="02040503050406030204" pitchFamily="18" charset="0"/>
                                  </a:rPr>
                                  <m:t>𝑠</m:t>
                                </m:r>
                              </m:sub>
                            </m:sSub>
                          </m:e>
                        </m:d>
                      </m:num>
                      <m:den>
                        <m:nary>
                          <m:naryPr>
                            <m:chr m:val="∑"/>
                            <m:grow m:val="on"/>
                            <m:supHide m:val="on"/>
                            <m:ctrlPr>
                              <a:rPr lang="ru-RU" sz="7200" i="1">
                                <a:latin typeface="Cambria Math" panose="02040503050406030204" pitchFamily="18" charset="0"/>
                              </a:rPr>
                            </m:ctrlPr>
                          </m:naryPr>
                          <m:sub>
                            <m:r>
                              <a:rPr lang="ru-RU" sz="7200" i="1">
                                <a:latin typeface="Cambria Math" panose="02040503050406030204" pitchFamily="18" charset="0"/>
                              </a:rPr>
                              <m:t>𝑘</m:t>
                            </m:r>
                            <m:r>
                              <a:rPr lang="ru-RU" sz="7200">
                                <a:latin typeface="Cambria Math" panose="02040503050406030204" pitchFamily="18" charset="0"/>
                              </a:rPr>
                              <m:t>∈</m:t>
                            </m:r>
                            <m:r>
                              <m:rPr>
                                <m:nor/>
                              </m:rPr>
                              <a:rPr lang="ru-RU" sz="7200" i="1"/>
                              <m:t>gen</m:t>
                            </m:r>
                          </m:sub>
                          <m:sup/>
                          <m:e>
                            <m:r>
                              <m:rPr>
                                <m:sty m:val="p"/>
                              </m:rPr>
                              <a:rPr lang="ru-RU" sz="7200">
                                <a:latin typeface="Cambria Math" panose="02040503050406030204" pitchFamily="18" charset="0"/>
                              </a:rPr>
                              <m:t>exp</m:t>
                            </m:r>
                          </m:e>
                        </m:nary>
                        <m:r>
                          <a:rPr lang="ru-RU" sz="7200">
                            <a:latin typeface="Cambria Math" panose="02040503050406030204" pitchFamily="18" charset="0"/>
                          </a:rPr>
                          <m:t>⁡</m:t>
                        </m:r>
                        <m:d>
                          <m:dPr>
                            <m:ctrlPr>
                              <a:rPr lang="ru-RU" sz="7200" i="1">
                                <a:latin typeface="Cambria Math" panose="02040503050406030204" pitchFamily="18" charset="0"/>
                              </a:rPr>
                            </m:ctrlPr>
                          </m:dPr>
                          <m:e>
                            <m:sSub>
                              <m:sSubPr>
                                <m:ctrlPr>
                                  <a:rPr lang="ru-RU" sz="7200" i="1">
                                    <a:latin typeface="Cambria Math" panose="02040503050406030204" pitchFamily="18" charset="0"/>
                                  </a:rPr>
                                </m:ctrlPr>
                              </m:sSubPr>
                              <m:e>
                                <m:r>
                                  <a:rPr lang="ru-RU" sz="7200" i="1">
                                    <a:latin typeface="Cambria Math" panose="02040503050406030204" pitchFamily="18" charset="0"/>
                                  </a:rPr>
                                  <m:t>𝑒</m:t>
                                </m:r>
                              </m:e>
                              <m:sub>
                                <m:r>
                                  <a:rPr lang="ru-RU" sz="7200" i="1">
                                    <a:latin typeface="Cambria Math" panose="02040503050406030204" pitchFamily="18" charset="0"/>
                                  </a:rPr>
                                  <m:t>𝑘</m:t>
                                </m:r>
                              </m:sub>
                            </m:sSub>
                          </m:e>
                        </m:d>
                      </m:den>
                    </m:f>
                  </m:oMath>
                </a14:m>
                <a:endParaRPr lang="ru-RU" sz="7200" dirty="0"/>
              </a:p>
              <a:p>
                <a:pPr lvl="1"/>
                <a14:m>
                  <m:oMath xmlns:m="http://schemas.openxmlformats.org/officeDocument/2006/math">
                    <m:sSub>
                      <m:sSubPr>
                        <m:ctrlPr>
                          <a:rPr lang="ru-RU" sz="7200" i="1">
                            <a:latin typeface="Cambria Math" panose="02040503050406030204" pitchFamily="18" charset="0"/>
                          </a:rPr>
                        </m:ctrlPr>
                      </m:sSubPr>
                      <m:e>
                        <m:r>
                          <a:rPr lang="ru-RU" sz="7200" i="1">
                            <a:latin typeface="Cambria Math" panose="02040503050406030204" pitchFamily="18" charset="0"/>
                          </a:rPr>
                          <m:t>𝛼</m:t>
                        </m:r>
                      </m:e>
                      <m:sub>
                        <m:r>
                          <a:rPr lang="ru-RU" sz="7200" i="1">
                            <a:latin typeface="Cambria Math" panose="02040503050406030204" pitchFamily="18" charset="0"/>
                          </a:rPr>
                          <m:t>𝑠</m:t>
                        </m:r>
                      </m:sub>
                    </m:sSub>
                  </m:oMath>
                </a14:m>
                <a:r>
                  <a:rPr lang="ru-RU" sz="7200" dirty="0"/>
                  <a:t> — итоговый вес SNP (сумма весов по гену = 1)</a:t>
                </a:r>
              </a:p>
              <a:p>
                <a:r>
                  <a:rPr lang="ru-RU" sz="7200" b="1" dirty="0"/>
                  <a:t>Шаг 4. Взвешенная сумма</a:t>
                </a:r>
                <a:endParaRPr lang="ru-RU" sz="7200" dirty="0"/>
              </a:p>
              <a:p>
                <a:pPr lvl="1"/>
                <a14:m>
                  <m:oMath xmlns:m="http://schemas.openxmlformats.org/officeDocument/2006/math">
                    <m:sSub>
                      <m:sSubPr>
                        <m:ctrlPr>
                          <a:rPr lang="ru-RU" sz="7200" i="1">
                            <a:latin typeface="Cambria Math" panose="02040503050406030204" pitchFamily="18" charset="0"/>
                          </a:rPr>
                        </m:ctrlPr>
                      </m:sSubPr>
                      <m:e>
                        <m:r>
                          <a:rPr lang="ru-RU" sz="7200" i="1">
                            <a:latin typeface="Cambria Math" panose="02040503050406030204" pitchFamily="18" charset="0"/>
                          </a:rPr>
                          <m:t>𝑣</m:t>
                        </m:r>
                      </m:e>
                      <m:sub>
                        <m:r>
                          <m:rPr>
                            <m:nor/>
                          </m:rPr>
                          <a:rPr lang="ru-RU" sz="7200" i="1"/>
                          <m:t>ген</m:t>
                        </m:r>
                      </m:sub>
                    </m:sSub>
                    <m:r>
                      <a:rPr lang="ru-RU" sz="7200">
                        <a:latin typeface="Cambria Math" panose="02040503050406030204" pitchFamily="18" charset="0"/>
                      </a:rPr>
                      <m:t>=</m:t>
                    </m:r>
                    <m:nary>
                      <m:naryPr>
                        <m:chr m:val="∑"/>
                        <m:grow m:val="on"/>
                        <m:supHide m:val="on"/>
                        <m:ctrlPr>
                          <a:rPr lang="ru-RU" sz="7200" i="1">
                            <a:latin typeface="Cambria Math" panose="02040503050406030204" pitchFamily="18" charset="0"/>
                          </a:rPr>
                        </m:ctrlPr>
                      </m:naryPr>
                      <m:sub>
                        <m:r>
                          <a:rPr lang="ru-RU" sz="7200" i="1">
                            <a:latin typeface="Cambria Math" panose="02040503050406030204" pitchFamily="18" charset="0"/>
                          </a:rPr>
                          <m:t>𝑠</m:t>
                        </m:r>
                        <m:r>
                          <a:rPr lang="ru-RU" sz="7200">
                            <a:latin typeface="Cambria Math" panose="02040503050406030204" pitchFamily="18" charset="0"/>
                          </a:rPr>
                          <m:t>∈</m:t>
                        </m:r>
                        <m:r>
                          <m:rPr>
                            <m:nor/>
                          </m:rPr>
                          <a:rPr lang="ru-RU" sz="7200" i="1"/>
                          <m:t>ген</m:t>
                        </m:r>
                      </m:sub>
                      <m:sup/>
                      <m:e>
                        <m:sSub>
                          <m:sSubPr>
                            <m:ctrlPr>
                              <a:rPr lang="ru-RU" sz="7200" i="1">
                                <a:latin typeface="Cambria Math" panose="02040503050406030204" pitchFamily="18" charset="0"/>
                              </a:rPr>
                            </m:ctrlPr>
                          </m:sSubPr>
                          <m:e>
                            <m:r>
                              <a:rPr lang="ru-RU" sz="7200" i="1">
                                <a:latin typeface="Cambria Math" panose="02040503050406030204" pitchFamily="18" charset="0"/>
                              </a:rPr>
                              <m:t>𝛼</m:t>
                            </m:r>
                          </m:e>
                          <m:sub>
                            <m:r>
                              <a:rPr lang="ru-RU" sz="7200" i="1">
                                <a:latin typeface="Cambria Math" panose="02040503050406030204" pitchFamily="18" charset="0"/>
                              </a:rPr>
                              <m:t>𝑠</m:t>
                            </m:r>
                          </m:sub>
                        </m:sSub>
                      </m:e>
                    </m:nary>
                    <m:r>
                      <a:rPr lang="ru-RU" sz="7200">
                        <a:latin typeface="Cambria Math" panose="02040503050406030204" pitchFamily="18" charset="0"/>
                      </a:rPr>
                      <m:t>⋅</m:t>
                    </m:r>
                    <m:sSub>
                      <m:sSubPr>
                        <m:ctrlPr>
                          <a:rPr lang="ru-RU" sz="7200" i="1">
                            <a:latin typeface="Cambria Math" panose="02040503050406030204" pitchFamily="18" charset="0"/>
                          </a:rPr>
                        </m:ctrlPr>
                      </m:sSubPr>
                      <m:e>
                        <m:r>
                          <a:rPr lang="ru-RU" sz="7200" i="1">
                            <a:latin typeface="Cambria Math" panose="02040503050406030204" pitchFamily="18" charset="0"/>
                          </a:rPr>
                          <m:t>h</m:t>
                        </m:r>
                      </m:e>
                      <m:sub>
                        <m:r>
                          <a:rPr lang="ru-RU" sz="7200" i="1">
                            <a:latin typeface="Cambria Math" panose="02040503050406030204" pitchFamily="18" charset="0"/>
                          </a:rPr>
                          <m:t>𝑠</m:t>
                        </m:r>
                      </m:sub>
                    </m:sSub>
                  </m:oMath>
                </a14:m>
                <a:endParaRPr lang="ru-RU" sz="7200" dirty="0"/>
              </a:p>
              <a:p>
                <a:pPr lvl="1"/>
                <a14:m>
                  <m:oMath xmlns:m="http://schemas.openxmlformats.org/officeDocument/2006/math">
                    <m:sSub>
                      <m:sSubPr>
                        <m:ctrlPr>
                          <a:rPr lang="ru-RU" sz="7200" i="1">
                            <a:latin typeface="Cambria Math" panose="02040503050406030204" pitchFamily="18" charset="0"/>
                          </a:rPr>
                        </m:ctrlPr>
                      </m:sSubPr>
                      <m:e>
                        <m:r>
                          <a:rPr lang="ru-RU" sz="7200" i="1">
                            <a:latin typeface="Cambria Math" panose="02040503050406030204" pitchFamily="18" charset="0"/>
                          </a:rPr>
                          <m:t>𝑣</m:t>
                        </m:r>
                      </m:e>
                      <m:sub>
                        <m:r>
                          <m:rPr>
                            <m:nor/>
                          </m:rPr>
                          <a:rPr lang="ru-RU" sz="7200" i="1"/>
                          <m:t>ген</m:t>
                        </m:r>
                      </m:sub>
                    </m:sSub>
                  </m:oMath>
                </a14:m>
                <a:r>
                  <a:rPr lang="ru-RU" sz="7200" dirty="0"/>
                  <a:t> — </a:t>
                </a:r>
                <a:r>
                  <a:rPr lang="ru-RU" sz="7200" dirty="0" err="1"/>
                  <a:t>эмбеддинг</a:t>
                </a:r>
                <a:r>
                  <a:rPr lang="ru-RU" sz="7200" dirty="0"/>
                  <a:t> гена (вектор длины </a:t>
                </a:r>
                <a14:m>
                  <m:oMath xmlns:m="http://schemas.openxmlformats.org/officeDocument/2006/math">
                    <m:r>
                      <a:rPr lang="ru-RU" sz="7200" i="1">
                        <a:latin typeface="Cambria Math" panose="02040503050406030204" pitchFamily="18" charset="0"/>
                      </a:rPr>
                      <m:t>𝑑</m:t>
                    </m:r>
                  </m:oMath>
                </a14:m>
                <a:r>
                  <a:rPr lang="ru-RU" sz="7200" dirty="0"/>
                  <a:t>)</a:t>
                </a:r>
              </a:p>
              <a:p>
                <a:endParaRPr lang="ru-RU" dirty="0"/>
              </a:p>
            </p:txBody>
          </p:sp>
        </mc:Choice>
        <mc:Fallback xmlns="">
          <p:sp>
            <p:nvSpPr>
              <p:cNvPr id="11" name="Объект 10">
                <a:extLst>
                  <a:ext uri="{FF2B5EF4-FFF2-40B4-BE49-F238E27FC236}">
                    <a16:creationId xmlns:a16="http://schemas.microsoft.com/office/drawing/2014/main" id="{8A390B23-55FC-2FA2-55FF-FA502BCDE1F8}"/>
                  </a:ext>
                </a:extLst>
              </p:cNvPr>
              <p:cNvSpPr>
                <a:spLocks noGrp="1" noRot="1" noChangeAspect="1" noMove="1" noResize="1" noEditPoints="1" noAdjustHandles="1" noChangeArrowheads="1" noChangeShapeType="1" noTextEdit="1"/>
              </p:cNvSpPr>
              <p:nvPr>
                <p:ph sz="quarter" idx="2"/>
              </p:nvPr>
            </p:nvSpPr>
            <p:spPr>
              <a:xfrm>
                <a:off x="6519288" y="1254280"/>
                <a:ext cx="5388864" cy="4937760"/>
              </a:xfrm>
              <a:blipFill>
                <a:blip r:embed="rId4"/>
                <a:stretch>
                  <a:fillRect l="-113" t="-1975" r="-1244" b="-10123"/>
                </a:stretch>
              </a:blipFill>
            </p:spPr>
            <p:txBody>
              <a:bodyPr/>
              <a:lstStyle/>
              <a:p>
                <a:r>
                  <a:rPr lang="ru-RU">
                    <a:noFill/>
                  </a:rPr>
                  <a:t> </a:t>
                </a:r>
              </a:p>
            </p:txBody>
          </p:sp>
        </mc:Fallback>
      </mc:AlternateContent>
      <p:sp>
        <p:nvSpPr>
          <p:cNvPr id="18" name="Объект 10">
            <a:extLst>
              <a:ext uri="{FF2B5EF4-FFF2-40B4-BE49-F238E27FC236}">
                <a16:creationId xmlns:a16="http://schemas.microsoft.com/office/drawing/2014/main" id="{867322C1-5EB3-E21A-9C02-C5055548FF92}"/>
              </a:ext>
            </a:extLst>
          </p:cNvPr>
          <p:cNvSpPr txBox="1">
            <a:spLocks/>
          </p:cNvSpPr>
          <p:nvPr/>
        </p:nvSpPr>
        <p:spPr>
          <a:xfrm>
            <a:off x="816864" y="2276872"/>
            <a:ext cx="5388864" cy="4581128"/>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endParaRPr lang="ru-RU" dirty="0"/>
          </a:p>
        </p:txBody>
      </p:sp>
      <mc:AlternateContent xmlns:mc="http://schemas.openxmlformats.org/markup-compatibility/2006" xmlns:a14="http://schemas.microsoft.com/office/drawing/2010/main">
        <mc:Choice Requires="a14">
          <p:sp>
            <p:nvSpPr>
              <p:cNvPr id="19" name="Объект 6">
                <a:extLst>
                  <a:ext uri="{FF2B5EF4-FFF2-40B4-BE49-F238E27FC236}">
                    <a16:creationId xmlns:a16="http://schemas.microsoft.com/office/drawing/2014/main" id="{3B862B04-B541-B679-CE4B-47ABF662DD4D}"/>
                  </a:ext>
                </a:extLst>
              </p:cNvPr>
              <p:cNvSpPr txBox="1">
                <a:spLocks/>
              </p:cNvSpPr>
              <p:nvPr/>
            </p:nvSpPr>
            <p:spPr>
              <a:xfrm>
                <a:off x="609600" y="2094562"/>
                <a:ext cx="5501131" cy="3973756"/>
              </a:xfrm>
              <a:prstGeom prst="rect">
                <a:avLst/>
              </a:prstGeom>
            </p:spPr>
            <p:txBody>
              <a:bodyPr vert="horz">
                <a:normAutofit fontScale="5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ru-RU" sz="3200" b="1" dirty="0"/>
                  <a:t>Пример</a:t>
                </a:r>
                <a:r>
                  <a:rPr lang="en-US" sz="3200" b="1" dirty="0"/>
                  <a:t>:</a:t>
                </a:r>
              </a:p>
              <a:p>
                <a:r>
                  <a:rPr lang="ru-RU" sz="3200" b="1" dirty="0"/>
                  <a:t>Вход:</a:t>
                </a:r>
                <a:r>
                  <a:rPr lang="ru-RU" sz="3200" dirty="0"/>
                  <a:t> </a:t>
                </a:r>
                <a:r>
                  <a:rPr lang="en-US" sz="3200" dirty="0"/>
                  <a:t> </a:t>
                </a:r>
                <a14:m>
                  <m:oMath xmlns:m="http://schemas.openxmlformats.org/officeDocument/2006/math">
                    <m:r>
                      <a:rPr lang="en-US" sz="3200">
                        <a:latin typeface="Cambria Math" panose="02040503050406030204" pitchFamily="18" charset="0"/>
                      </a:rPr>
                      <m:t>[</m:t>
                    </m:r>
                    <m:r>
                      <a:rPr lang="ru-RU" sz="3200">
                        <a:latin typeface="Cambria Math" panose="02040503050406030204" pitchFamily="18" charset="0"/>
                      </a:rPr>
                      <m:t>0.9</m:t>
                    </m:r>
                    <m:r>
                      <a:rPr lang="en-US" sz="3200">
                        <a:latin typeface="Cambria Math" panose="02040503050406030204" pitchFamily="18" charset="0"/>
                      </a:rPr>
                      <m:t>, 0.45, 0.6]</m:t>
                    </m:r>
                  </m:oMath>
                </a14:m>
                <a:r>
                  <a:rPr lang="ru-RU" sz="3200" dirty="0"/>
                  <a:t>— три SNP</a:t>
                </a:r>
              </a:p>
              <a:p>
                <a:r>
                  <a:rPr lang="ru-RU" sz="3200" b="1" dirty="0"/>
                  <a:t>После проекции:</a:t>
                </a:r>
                <a:br>
                  <a:rPr lang="ru-RU" sz="3200" dirty="0"/>
                </a:br>
                <a:r>
                  <a:rPr lang="ru-RU" sz="3200" dirty="0"/>
                  <a:t>(</a:t>
                </a:r>
                <a14:m>
                  <m:oMath xmlns:m="http://schemas.openxmlformats.org/officeDocument/2006/math">
                    <m:sSub>
                      <m:sSubPr>
                        <m:ctrlPr>
                          <a:rPr lang="ru-RU" sz="3200" i="1">
                            <a:latin typeface="Cambria Math" panose="02040503050406030204" pitchFamily="18" charset="0"/>
                          </a:rPr>
                        </m:ctrlPr>
                      </m:sSubPr>
                      <m:e>
                        <m:r>
                          <a:rPr lang="ru-RU" sz="3200" i="1">
                            <a:latin typeface="Cambria Math" panose="02040503050406030204" pitchFamily="18" charset="0"/>
                          </a:rPr>
                          <m:t>𝑤</m:t>
                        </m:r>
                      </m:e>
                      <m:sub>
                        <m:r>
                          <m:rPr>
                            <m:nor/>
                          </m:rPr>
                          <a:rPr lang="ru-RU" sz="3200" i="1"/>
                          <m:t>snp</m:t>
                        </m:r>
                      </m:sub>
                    </m:sSub>
                    <m:r>
                      <a:rPr lang="ru-RU" sz="3200">
                        <a:latin typeface="Cambria Math" panose="02040503050406030204" pitchFamily="18" charset="0"/>
                      </a:rPr>
                      <m:t>=</m:t>
                    </m:r>
                    <m:r>
                      <a:rPr lang="en-US" sz="3200" b="0" i="1" smtClean="0">
                        <a:latin typeface="Cambria Math" panose="02040503050406030204" pitchFamily="18" charset="0"/>
                      </a:rPr>
                      <m:t>[0.2, 0.5, 0.1]</m:t>
                    </m:r>
                  </m:oMath>
                </a14:m>
                <a:r>
                  <a:rPr lang="ru-RU" sz="3200" dirty="0"/>
                  <a:t>, размерность </a:t>
                </a:r>
                <a14:m>
                  <m:oMath xmlns:m="http://schemas.openxmlformats.org/officeDocument/2006/math">
                    <m:r>
                      <a:rPr lang="ru-RU" sz="3200" i="1">
                        <a:latin typeface="Cambria Math" panose="02040503050406030204" pitchFamily="18" charset="0"/>
                      </a:rPr>
                      <m:t>𝑑</m:t>
                    </m:r>
                    <m:r>
                      <a:rPr lang="ru-RU" sz="3200">
                        <a:latin typeface="Cambria Math" panose="02040503050406030204" pitchFamily="18" charset="0"/>
                      </a:rPr>
                      <m:t>=3</m:t>
                    </m:r>
                  </m:oMath>
                </a14:m>
                <a:r>
                  <a:rPr lang="ru-RU" sz="3200" dirty="0"/>
                  <a:t>)</a:t>
                </a:r>
              </a:p>
              <a:p>
                <a:pPr lvl="1"/>
                <a14:m>
                  <m:oMath xmlns:m="http://schemas.openxmlformats.org/officeDocument/2006/math">
                    <m:sSub>
                      <m:sSubPr>
                        <m:ctrlPr>
                          <a:rPr lang="ru-RU" sz="3200" i="1">
                            <a:latin typeface="Cambria Math" panose="02040503050406030204" pitchFamily="18" charset="0"/>
                          </a:rPr>
                        </m:ctrlPr>
                      </m:sSubPr>
                      <m:e>
                        <m:r>
                          <a:rPr lang="ru-RU" sz="3200" i="1">
                            <a:latin typeface="Cambria Math" panose="02040503050406030204" pitchFamily="18" charset="0"/>
                          </a:rPr>
                          <m:t>h</m:t>
                        </m:r>
                      </m:e>
                      <m:sub>
                        <m:r>
                          <a:rPr lang="ru-RU" sz="3200">
                            <a:latin typeface="Cambria Math" panose="02040503050406030204" pitchFamily="18" charset="0"/>
                          </a:rPr>
                          <m:t>1</m:t>
                        </m:r>
                      </m:sub>
                    </m:sSub>
                    <m:r>
                      <a:rPr lang="ru-RU" sz="3200">
                        <a:latin typeface="Cambria Math" panose="02040503050406030204" pitchFamily="18" charset="0"/>
                      </a:rPr>
                      <m:t>=</m:t>
                    </m:r>
                    <m:r>
                      <a:rPr lang="en-US" sz="3200" b="0" i="1" smtClean="0">
                        <a:latin typeface="Cambria Math" panose="02040503050406030204" pitchFamily="18" charset="0"/>
                      </a:rPr>
                      <m:t>[0.18, 0.45, 0.09]</m:t>
                    </m:r>
                    <m:r>
                      <a:rPr lang="ru-RU" sz="3200">
                        <a:latin typeface="Cambria Math" panose="02040503050406030204" pitchFamily="18" charset="0"/>
                      </a:rPr>
                      <m:t>, </m:t>
                    </m:r>
                  </m:oMath>
                </a14:m>
                <a:endParaRPr lang="ru-RU" sz="3200" dirty="0"/>
              </a:p>
              <a:p>
                <a:pPr lvl="1"/>
                <a14:m>
                  <m:oMath xmlns:m="http://schemas.openxmlformats.org/officeDocument/2006/math">
                    <m:sSub>
                      <m:sSubPr>
                        <m:ctrlPr>
                          <a:rPr lang="ru-RU" sz="3200" i="1">
                            <a:latin typeface="Cambria Math" panose="02040503050406030204" pitchFamily="18" charset="0"/>
                          </a:rPr>
                        </m:ctrlPr>
                      </m:sSubPr>
                      <m:e>
                        <m:r>
                          <a:rPr lang="ru-RU" sz="3200" i="1">
                            <a:latin typeface="Cambria Math" panose="02040503050406030204" pitchFamily="18" charset="0"/>
                          </a:rPr>
                          <m:t>h</m:t>
                        </m:r>
                      </m:e>
                      <m:sub>
                        <m:r>
                          <a:rPr lang="ru-RU" sz="3200">
                            <a:latin typeface="Cambria Math" panose="02040503050406030204" pitchFamily="18" charset="0"/>
                          </a:rPr>
                          <m:t>2</m:t>
                        </m:r>
                      </m:sub>
                    </m:sSub>
                    <m:r>
                      <a:rPr lang="ru-RU" sz="3200" b="0" i="1" smtClean="0">
                        <a:latin typeface="Cambria Math" panose="02040503050406030204" pitchFamily="18" charset="0"/>
                      </a:rPr>
                      <m:t>=</m:t>
                    </m:r>
                    <m:r>
                      <a:rPr lang="en-US" sz="3200" b="0" i="1" smtClean="0">
                        <a:latin typeface="Cambria Math" panose="02040503050406030204" pitchFamily="18" charset="0"/>
                      </a:rPr>
                      <m:t>[0.09, 0.225, 0.045</m:t>
                    </m:r>
                    <m:r>
                      <a:rPr lang="en-US" sz="3200" b="0" i="0" smtClean="0">
                        <a:latin typeface="Cambria Math" panose="02040503050406030204" pitchFamily="18" charset="0"/>
                      </a:rPr>
                      <m:t>]</m:t>
                    </m:r>
                    <m:r>
                      <a:rPr lang="ru-RU" sz="3200">
                        <a:latin typeface="Cambria Math" panose="02040503050406030204" pitchFamily="18" charset="0"/>
                      </a:rPr>
                      <m:t>, </m:t>
                    </m:r>
                  </m:oMath>
                </a14:m>
                <a:endParaRPr lang="ru-RU" sz="3200" dirty="0"/>
              </a:p>
              <a:p>
                <a:pPr lvl="1"/>
                <a14:m>
                  <m:oMath xmlns:m="http://schemas.openxmlformats.org/officeDocument/2006/math">
                    <m:sSub>
                      <m:sSubPr>
                        <m:ctrlPr>
                          <a:rPr lang="ru-RU" sz="3200" i="1">
                            <a:latin typeface="Cambria Math" panose="02040503050406030204" pitchFamily="18" charset="0"/>
                          </a:rPr>
                        </m:ctrlPr>
                      </m:sSubPr>
                      <m:e>
                        <m:r>
                          <a:rPr lang="ru-RU" sz="3200" i="1">
                            <a:latin typeface="Cambria Math" panose="02040503050406030204" pitchFamily="18" charset="0"/>
                          </a:rPr>
                          <m:t>h</m:t>
                        </m:r>
                      </m:e>
                      <m:sub>
                        <m:r>
                          <a:rPr lang="ru-RU" sz="3200">
                            <a:latin typeface="Cambria Math" panose="02040503050406030204" pitchFamily="18" charset="0"/>
                          </a:rPr>
                          <m:t>3</m:t>
                        </m:r>
                      </m:sub>
                    </m:sSub>
                    <m:r>
                      <a:rPr lang="ru-RU" sz="3200">
                        <a:latin typeface="Cambria Math" panose="02040503050406030204" pitchFamily="18" charset="0"/>
                      </a:rPr>
                      <m:t>=</m:t>
                    </m:r>
                    <m:r>
                      <a:rPr lang="en-US" sz="3200" b="0" i="1" smtClean="0">
                        <a:latin typeface="Cambria Math" panose="02040503050406030204" pitchFamily="18" charset="0"/>
                      </a:rPr>
                      <m:t>[0.12, 0.30, 0.06]</m:t>
                    </m:r>
                  </m:oMath>
                </a14:m>
                <a:endParaRPr lang="ru-RU" sz="3200" dirty="0"/>
              </a:p>
              <a:p>
                <a:r>
                  <a:rPr lang="ru-RU" sz="3200" b="1" dirty="0"/>
                  <a:t>После внимания (веса </a:t>
                </a:r>
                <a14:m>
                  <m:oMath xmlns:m="http://schemas.openxmlformats.org/officeDocument/2006/math">
                    <m:r>
                      <a:rPr lang="ru-RU" sz="3200" i="1">
                        <a:latin typeface="Cambria Math" panose="02040503050406030204" pitchFamily="18" charset="0"/>
                      </a:rPr>
                      <m:t>𝛼</m:t>
                    </m:r>
                  </m:oMath>
                </a14:m>
                <a:r>
                  <a:rPr lang="ru-RU" sz="3200" b="1" dirty="0"/>
                  <a:t> получены из </a:t>
                </a:r>
                <a14:m>
                  <m:oMath xmlns:m="http://schemas.openxmlformats.org/officeDocument/2006/math">
                    <m:r>
                      <a:rPr lang="ru-RU" sz="3200" i="1">
                        <a:latin typeface="Cambria Math" panose="02040503050406030204" pitchFamily="18" charset="0"/>
                      </a:rPr>
                      <m:t>𝑎</m:t>
                    </m:r>
                  </m:oMath>
                </a14:m>
                <a:r>
                  <a:rPr lang="ru-RU" sz="3200" b="1" dirty="0"/>
                  <a:t>):</a:t>
                </a:r>
                <a:endParaRPr lang="ru-RU" sz="3200" dirty="0"/>
              </a:p>
              <a:p>
                <a:pPr lvl="1"/>
                <a14:m>
                  <m:oMath xmlns:m="http://schemas.openxmlformats.org/officeDocument/2006/math">
                    <m:sSub>
                      <m:sSubPr>
                        <m:ctrlPr>
                          <a:rPr lang="ru-RU" sz="3200" i="1">
                            <a:latin typeface="Cambria Math" panose="02040503050406030204" pitchFamily="18" charset="0"/>
                          </a:rPr>
                        </m:ctrlPr>
                      </m:sSubPr>
                      <m:e>
                        <m:r>
                          <a:rPr lang="ru-RU" sz="3200" i="1">
                            <a:latin typeface="Cambria Math" panose="02040503050406030204" pitchFamily="18" charset="0"/>
                          </a:rPr>
                          <m:t>𝛼</m:t>
                        </m:r>
                      </m:e>
                      <m:sub>
                        <m:r>
                          <a:rPr lang="ru-RU" sz="3200">
                            <a:latin typeface="Cambria Math" panose="02040503050406030204" pitchFamily="18" charset="0"/>
                          </a:rPr>
                          <m:t>1</m:t>
                        </m:r>
                      </m:sub>
                    </m:sSub>
                    <m:r>
                      <a:rPr lang="ru-RU" sz="3200">
                        <a:latin typeface="Cambria Math" panose="02040503050406030204" pitchFamily="18" charset="0"/>
                      </a:rPr>
                      <m:t>=0.42, </m:t>
                    </m:r>
                    <m:sSub>
                      <m:sSubPr>
                        <m:ctrlPr>
                          <a:rPr lang="ru-RU" sz="3200" i="1">
                            <a:latin typeface="Cambria Math" panose="02040503050406030204" pitchFamily="18" charset="0"/>
                          </a:rPr>
                        </m:ctrlPr>
                      </m:sSubPr>
                      <m:e>
                        <m:r>
                          <a:rPr lang="ru-RU" sz="3200" i="1">
                            <a:latin typeface="Cambria Math" panose="02040503050406030204" pitchFamily="18" charset="0"/>
                          </a:rPr>
                          <m:t>𝛼</m:t>
                        </m:r>
                      </m:e>
                      <m:sub>
                        <m:r>
                          <a:rPr lang="ru-RU" sz="3200">
                            <a:latin typeface="Cambria Math" panose="02040503050406030204" pitchFamily="18" charset="0"/>
                          </a:rPr>
                          <m:t>2</m:t>
                        </m:r>
                      </m:sub>
                    </m:sSub>
                    <m:r>
                      <a:rPr lang="ru-RU" sz="3200">
                        <a:latin typeface="Cambria Math" panose="02040503050406030204" pitchFamily="18" charset="0"/>
                      </a:rPr>
                      <m:t>=0.26, </m:t>
                    </m:r>
                    <m:sSub>
                      <m:sSubPr>
                        <m:ctrlPr>
                          <a:rPr lang="ru-RU" sz="3200" i="1">
                            <a:latin typeface="Cambria Math" panose="02040503050406030204" pitchFamily="18" charset="0"/>
                          </a:rPr>
                        </m:ctrlPr>
                      </m:sSubPr>
                      <m:e>
                        <m:r>
                          <a:rPr lang="ru-RU" sz="3200" i="1">
                            <a:latin typeface="Cambria Math" panose="02040503050406030204" pitchFamily="18" charset="0"/>
                          </a:rPr>
                          <m:t>𝛼</m:t>
                        </m:r>
                      </m:e>
                      <m:sub>
                        <m:r>
                          <a:rPr lang="ru-RU" sz="3200">
                            <a:latin typeface="Cambria Math" panose="02040503050406030204" pitchFamily="18" charset="0"/>
                          </a:rPr>
                          <m:t>3</m:t>
                        </m:r>
                      </m:sub>
                    </m:sSub>
                    <m:r>
                      <a:rPr lang="ru-RU" sz="3200">
                        <a:latin typeface="Cambria Math" panose="02040503050406030204" pitchFamily="18" charset="0"/>
                      </a:rPr>
                      <m:t>=0.32</m:t>
                    </m:r>
                  </m:oMath>
                </a14:m>
                <a:endParaRPr lang="ru-RU" sz="3200" dirty="0"/>
              </a:p>
              <a:p>
                <a:r>
                  <a:rPr lang="ru-RU" sz="3200" b="1" dirty="0" err="1"/>
                  <a:t>Эмбеддинг</a:t>
                </a:r>
                <a:r>
                  <a:rPr lang="ru-RU" sz="3200" b="1" dirty="0"/>
                  <a:t> гена (взвешенная сумма):</a:t>
                </a:r>
                <a:endParaRPr lang="ru-RU" sz="3200" dirty="0"/>
              </a:p>
              <a:p>
                <a:pPr lvl="1"/>
                <a14:m>
                  <m:oMath xmlns:m="http://schemas.openxmlformats.org/officeDocument/2006/math">
                    <m:sSub>
                      <m:sSubPr>
                        <m:ctrlPr>
                          <a:rPr lang="ru-RU" sz="3200" i="1">
                            <a:latin typeface="Cambria Math" panose="02040503050406030204" pitchFamily="18" charset="0"/>
                          </a:rPr>
                        </m:ctrlPr>
                      </m:sSubPr>
                      <m:e>
                        <m:r>
                          <a:rPr lang="ru-RU" sz="3200" i="1">
                            <a:latin typeface="Cambria Math" panose="02040503050406030204" pitchFamily="18" charset="0"/>
                          </a:rPr>
                          <m:t>𝑣</m:t>
                        </m:r>
                      </m:e>
                      <m:sub>
                        <m:r>
                          <m:rPr>
                            <m:nor/>
                          </m:rPr>
                          <a:rPr lang="ru-RU" sz="3200" i="1"/>
                          <m:t>ген</m:t>
                        </m:r>
                      </m:sub>
                    </m:sSub>
                    <m:r>
                      <a:rPr lang="ru-RU" sz="3200">
                        <a:latin typeface="Cambria Math" panose="02040503050406030204" pitchFamily="18" charset="0"/>
                      </a:rPr>
                      <m:t>=0.42⋅</m:t>
                    </m:r>
                    <m:sSub>
                      <m:sSubPr>
                        <m:ctrlPr>
                          <a:rPr lang="ru-RU" sz="3200" i="1">
                            <a:latin typeface="Cambria Math" panose="02040503050406030204" pitchFamily="18" charset="0"/>
                          </a:rPr>
                        </m:ctrlPr>
                      </m:sSubPr>
                      <m:e>
                        <m:r>
                          <a:rPr lang="ru-RU" sz="3200" i="1">
                            <a:latin typeface="Cambria Math" panose="02040503050406030204" pitchFamily="18" charset="0"/>
                          </a:rPr>
                          <m:t>h</m:t>
                        </m:r>
                      </m:e>
                      <m:sub>
                        <m:r>
                          <a:rPr lang="ru-RU" sz="3200">
                            <a:latin typeface="Cambria Math" panose="02040503050406030204" pitchFamily="18" charset="0"/>
                          </a:rPr>
                          <m:t>1</m:t>
                        </m:r>
                      </m:sub>
                    </m:sSub>
                    <m:r>
                      <a:rPr lang="ru-RU" sz="3200">
                        <a:latin typeface="Cambria Math" panose="02040503050406030204" pitchFamily="18" charset="0"/>
                      </a:rPr>
                      <m:t>+0.26⋅</m:t>
                    </m:r>
                    <m:sSub>
                      <m:sSubPr>
                        <m:ctrlPr>
                          <a:rPr lang="ru-RU" sz="3200" i="1">
                            <a:latin typeface="Cambria Math" panose="02040503050406030204" pitchFamily="18" charset="0"/>
                          </a:rPr>
                        </m:ctrlPr>
                      </m:sSubPr>
                      <m:e>
                        <m:r>
                          <a:rPr lang="ru-RU" sz="3200" i="1">
                            <a:latin typeface="Cambria Math" panose="02040503050406030204" pitchFamily="18" charset="0"/>
                          </a:rPr>
                          <m:t>h</m:t>
                        </m:r>
                      </m:e>
                      <m:sub>
                        <m:r>
                          <a:rPr lang="ru-RU" sz="3200">
                            <a:latin typeface="Cambria Math" panose="02040503050406030204" pitchFamily="18" charset="0"/>
                          </a:rPr>
                          <m:t>2</m:t>
                        </m:r>
                      </m:sub>
                    </m:sSub>
                    <m:r>
                      <a:rPr lang="ru-RU" sz="3200">
                        <a:latin typeface="Cambria Math" panose="02040503050406030204" pitchFamily="18" charset="0"/>
                      </a:rPr>
                      <m:t>+0.32⋅</m:t>
                    </m:r>
                    <m:sSub>
                      <m:sSubPr>
                        <m:ctrlPr>
                          <a:rPr lang="ru-RU" sz="3200" i="1">
                            <a:latin typeface="Cambria Math" panose="02040503050406030204" pitchFamily="18" charset="0"/>
                          </a:rPr>
                        </m:ctrlPr>
                      </m:sSubPr>
                      <m:e>
                        <m:r>
                          <a:rPr lang="ru-RU" sz="3200" i="1">
                            <a:latin typeface="Cambria Math" panose="02040503050406030204" pitchFamily="18" charset="0"/>
                          </a:rPr>
                          <m:t>h</m:t>
                        </m:r>
                      </m:e>
                      <m:sub>
                        <m:r>
                          <a:rPr lang="ru-RU" sz="3200">
                            <a:latin typeface="Cambria Math" panose="02040503050406030204" pitchFamily="18" charset="0"/>
                          </a:rPr>
                          <m:t>3</m:t>
                        </m:r>
                      </m:sub>
                    </m:sSub>
                    <m:r>
                      <a:rPr lang="ru-RU" sz="3200">
                        <a:latin typeface="Cambria Math" panose="02040503050406030204" pitchFamily="18" charset="0"/>
                      </a:rPr>
                      <m:t>=</m:t>
                    </m:r>
                    <m:r>
                      <a:rPr lang="en-US" sz="3200" b="0" i="1" smtClean="0">
                        <a:latin typeface="Cambria Math" panose="02040503050406030204" pitchFamily="18" charset="0"/>
                      </a:rPr>
                      <m:t>[0.137, 0.344, 0.069]</m:t>
                    </m:r>
                  </m:oMath>
                </a14:m>
                <a:endParaRPr lang="ru-RU" sz="3200" b="0" dirty="0"/>
              </a:p>
              <a:p>
                <a:endParaRPr lang="ru-RU" dirty="0"/>
              </a:p>
            </p:txBody>
          </p:sp>
        </mc:Choice>
        <mc:Fallback xmlns="">
          <p:sp>
            <p:nvSpPr>
              <p:cNvPr id="19" name="Объект 6">
                <a:extLst>
                  <a:ext uri="{FF2B5EF4-FFF2-40B4-BE49-F238E27FC236}">
                    <a16:creationId xmlns:a16="http://schemas.microsoft.com/office/drawing/2014/main" id="{3B862B04-B541-B679-CE4B-47ABF662DD4D}"/>
                  </a:ext>
                </a:extLst>
              </p:cNvPr>
              <p:cNvSpPr txBox="1">
                <a:spLocks noRot="1" noChangeAspect="1" noMove="1" noResize="1" noEditPoints="1" noAdjustHandles="1" noChangeArrowheads="1" noChangeShapeType="1" noTextEdit="1"/>
              </p:cNvSpPr>
              <p:nvPr/>
            </p:nvSpPr>
            <p:spPr>
              <a:xfrm>
                <a:off x="609600" y="2094562"/>
                <a:ext cx="5501131" cy="3973756"/>
              </a:xfrm>
              <a:prstGeom prst="rect">
                <a:avLst/>
              </a:prstGeom>
              <a:blipFill>
                <a:blip r:embed="rId5"/>
                <a:stretch>
                  <a:fillRect l="-887" t="-2458"/>
                </a:stretch>
              </a:blipFill>
            </p:spPr>
            <p:txBody>
              <a:bodyPr/>
              <a:lstStyle/>
              <a:p>
                <a:r>
                  <a:rPr lang="ru-RU">
                    <a:noFill/>
                  </a:rPr>
                  <a:t> </a:t>
                </a:r>
              </a:p>
            </p:txBody>
          </p:sp>
        </mc:Fallback>
      </mc:AlternateContent>
    </p:spTree>
    <p:extLst>
      <p:ext uri="{BB962C8B-B14F-4D97-AF65-F5344CB8AC3E}">
        <p14:creationId xmlns:p14="http://schemas.microsoft.com/office/powerpoint/2010/main" val="78293863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Начальная">
  <a:themeElements>
    <a:clrScheme name="Начальная">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Стандартная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Начальная">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155544</TotalTime>
  <Words>5238</Words>
  <Application>Microsoft Office PowerPoint</Application>
  <PresentationFormat>Широкоэкранный</PresentationFormat>
  <Paragraphs>692</Paragraphs>
  <Slides>33</Slides>
  <Notes>18</Notes>
  <HiddenSlides>0</HiddenSlides>
  <MMClips>0</MMClips>
  <ScaleCrop>false</ScaleCrop>
  <HeadingPairs>
    <vt:vector size="6" baseType="variant">
      <vt:variant>
        <vt:lpstr>Использованные шрифты</vt:lpstr>
      </vt:variant>
      <vt:variant>
        <vt:i4>8</vt:i4>
      </vt:variant>
      <vt:variant>
        <vt:lpstr>Тема</vt:lpstr>
      </vt:variant>
      <vt:variant>
        <vt:i4>1</vt:i4>
      </vt:variant>
      <vt:variant>
        <vt:lpstr>Заголовки слайдов</vt:lpstr>
      </vt:variant>
      <vt:variant>
        <vt:i4>33</vt:i4>
      </vt:variant>
    </vt:vector>
  </HeadingPairs>
  <TitlesOfParts>
    <vt:vector size="42" baseType="lpstr">
      <vt:lpstr>Arial</vt:lpstr>
      <vt:lpstr>Bookman Old Style</vt:lpstr>
      <vt:lpstr>Calibri</vt:lpstr>
      <vt:lpstr>Cambria</vt:lpstr>
      <vt:lpstr>Cambria Math</vt:lpstr>
      <vt:lpstr>quote-cjk-patch</vt:lpstr>
      <vt:lpstr>Wingdings</vt:lpstr>
      <vt:lpstr>Wingdings 3</vt:lpstr>
      <vt:lpstr>Начальная</vt:lpstr>
      <vt:lpstr>Выполнил студент группы 5040102/40201: Чибышев Т.А. Руководитель: к. б. н., доцент Козлов К.Н.</vt:lpstr>
      <vt:lpstr>Базовые понятия генетики </vt:lpstr>
      <vt:lpstr>Актуальность и проблема </vt:lpstr>
      <vt:lpstr>Обзор существующих решений </vt:lpstr>
      <vt:lpstr>Цели и задачи </vt:lpstr>
      <vt:lpstr>Описание данных </vt:lpstr>
      <vt:lpstr>Этапы исследования </vt:lpstr>
      <vt:lpstr>Постановка задачи </vt:lpstr>
      <vt:lpstr>Модификации </vt:lpstr>
      <vt:lpstr>Архитектура модели </vt:lpstr>
      <vt:lpstr>Диаграмма компонентов спроектированной модели </vt:lpstr>
      <vt:lpstr>Блок генетического кодирования </vt:lpstr>
      <vt:lpstr>Пример </vt:lpstr>
      <vt:lpstr>Блок реконструкции </vt:lpstr>
      <vt:lpstr>Блок трансформера и предсказания </vt:lpstr>
      <vt:lpstr>Результаты оптимизации гиперпараметров </vt:lpstr>
      <vt:lpstr>Результаты модифицированной модели на нуте и рисе </vt:lpstr>
      <vt:lpstr>Стратегии отбора генов </vt:lpstr>
      <vt:lpstr>Сравнение стратегий отбора генов </vt:lpstr>
      <vt:lpstr>Результаты на рапсе </vt:lpstr>
      <vt:lpstr>Выявление взаимодействий генов с помощью значений Шепли</vt:lpstr>
      <vt:lpstr>Результаты выделения генов для риса </vt:lpstr>
      <vt:lpstr>Результаты выделения генов для рапса </vt:lpstr>
      <vt:lpstr>Выводы </vt:lpstr>
      <vt:lpstr>Гистограммы распределения фенотипических признаков рапса</vt:lpstr>
      <vt:lpstr>HuberLoss (Smooth L1 Loss)</vt:lpstr>
      <vt:lpstr>Аугментация</vt:lpstr>
      <vt:lpstr>Динамика функции потерь базовой модели</vt:lpstr>
      <vt:lpstr>Динамика функции потерь модифицированной модели на нуте</vt:lpstr>
      <vt:lpstr>Дополнительные результаты</vt:lpstr>
      <vt:lpstr>Сложность модели и оптимизация</vt:lpstr>
      <vt:lpstr>Презентация PowerPoint</vt:lpstr>
      <vt:lpstr>Агрегация в эмбеддинг гена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Report</dc:title>
  <dc:creator>vyacheslav.chukanov</dc:creator>
  <cp:lastModifiedBy>Chibyshev Timofey</cp:lastModifiedBy>
  <cp:revision>1304</cp:revision>
  <cp:lastPrinted>2026-06-08T00:50:21Z</cp:lastPrinted>
  <dcterms:created xsi:type="dcterms:W3CDTF">2012-06-29T11:30:28Z</dcterms:created>
  <dcterms:modified xsi:type="dcterms:W3CDTF">2026-06-08T05:26:57Z</dcterms:modified>
</cp:coreProperties>
</file>